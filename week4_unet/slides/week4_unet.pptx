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2103120"/>
            <a:ext cx="10637215" cy="365760"/>
          </a:xfrm>
          <a:prstGeom prst="rect">
            <a:avLst/>
          </a:prstGeom>
          <a:noFill/>
        </p:spPr>
        <p:txBody>
          <a:bodyPr wrap="square">
            <a:spAutoFit/>
          </a:bodyPr>
          <a:lstStyle/>
          <a:p>
            <a:pPr algn="l">
              <a:lnSpc>
                <a:spcPct val="100000"/>
              </a:lnSpc>
              <a:spcAft>
                <a:spcPts val="600"/>
              </a:spcAft>
            </a:pPr>
            <a:r>
              <a:rPr sz="1500" b="1">
                <a:solidFill>
                  <a:srgbClr val="C2551E"/>
                </a:solidFill>
                <a:latin typeface="Helvetica Neue"/>
              </a:rPr>
              <a:t>WEEK 4  ·  SEGMENTATION</a:t>
            </a:r>
          </a:p>
        </p:txBody>
      </p:sp>
      <p:sp>
        <p:nvSpPr>
          <p:cNvPr id="3" name="TextBox 2"/>
          <p:cNvSpPr txBox="1"/>
          <p:nvPr/>
        </p:nvSpPr>
        <p:spPr>
          <a:xfrm>
            <a:off x="777240" y="2514600"/>
            <a:ext cx="10637215" cy="1280160"/>
          </a:xfrm>
          <a:prstGeom prst="rect">
            <a:avLst/>
          </a:prstGeom>
          <a:noFill/>
        </p:spPr>
        <p:txBody>
          <a:bodyPr wrap="square">
            <a:spAutoFit/>
          </a:bodyPr>
          <a:lstStyle/>
          <a:p>
            <a:pPr algn="l">
              <a:lnSpc>
                <a:spcPct val="100000"/>
              </a:lnSpc>
              <a:spcAft>
                <a:spcPts val="600"/>
              </a:spcAft>
            </a:pPr>
            <a:r>
              <a:rPr sz="5400" b="1">
                <a:solidFill>
                  <a:srgbClr val="1F4E79"/>
                </a:solidFill>
                <a:latin typeface="Helvetica Neue"/>
              </a:rPr>
              <a:t>One label per pixel</a:t>
            </a:r>
          </a:p>
        </p:txBody>
      </p:sp>
      <p:sp>
        <p:nvSpPr>
          <p:cNvPr id="4" name="TextBox 3"/>
          <p:cNvSpPr txBox="1"/>
          <p:nvPr/>
        </p:nvSpPr>
        <p:spPr>
          <a:xfrm>
            <a:off x="777240" y="3749039"/>
            <a:ext cx="9326880" cy="1463040"/>
          </a:xfrm>
          <a:prstGeom prst="rect">
            <a:avLst/>
          </a:prstGeom>
          <a:noFill/>
        </p:spPr>
        <p:txBody>
          <a:bodyPr wrap="square">
            <a:spAutoFit/>
          </a:bodyPr>
          <a:lstStyle/>
          <a:p>
            <a:pPr algn="l">
              <a:lnSpc>
                <a:spcPct val="125000"/>
              </a:lnSpc>
              <a:spcAft>
                <a:spcPts val="600"/>
              </a:spcAft>
            </a:pPr>
            <a:r>
              <a:rPr sz="2100" b="0">
                <a:solidFill>
                  <a:srgbClr val="1C222B"/>
                </a:solidFill>
                <a:latin typeface="Helvetica Neue"/>
              </a:rPr>
              <a:t>From a classifier to a U-Net, one change at a time.</a:t>
            </a:r>
          </a:p>
          <a:p>
            <a:pPr algn="l">
              <a:lnSpc>
                <a:spcPct val="125000"/>
              </a:lnSpc>
              <a:spcAft>
                <a:spcPts val="600"/>
              </a:spcAft>
            </a:pPr>
            <a:r>
              <a:rPr sz="1700" b="0">
                <a:solidFill>
                  <a:srgbClr val="6B7582"/>
                </a:solidFill>
                <a:latin typeface="Helvetica Neue"/>
              </a:rPr>
              <a:t>Oxford-IIIT Pet at 96x96. Every number measured on the same 1000 test images.</a:t>
            </a:r>
          </a:p>
        </p:txBody>
      </p:sp>
      <p:sp>
        <p:nvSpPr>
          <p:cNvPr id="5" name="Rectangle 4"/>
          <p:cNvSpPr/>
          <p:nvPr/>
        </p:nvSpPr>
        <p:spPr>
          <a:xfrm>
            <a:off x="777240" y="5394960"/>
            <a:ext cx="2743200"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THE TASK</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Week 3 predicted one label. This week predicts 9,216.</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10637215" cy="4572000"/>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Same photo in. A different shape out.</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week 3   image  -&gt;  1 label            (which of 10 classes)</a:t>
            </a:r>
          </a:p>
          <a:p>
            <a:pPr algn="l">
              <a:lnSpc>
                <a:spcPct val="115000"/>
              </a:lnSpc>
              <a:spcAft>
                <a:spcPts val="600"/>
              </a:spcAft>
            </a:pPr>
            <a:r>
              <a:rPr sz="1500" b="0">
                <a:solidFill>
                  <a:srgbClr val="1C222B"/>
                </a:solidFill>
                <a:latin typeface="Menlo"/>
              </a:rPr>
              <a:t>  week 4   image  -&gt;  96 x 96 labels     (9,216 of them, one per pixel)</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Every pixel gets its own answer: 0 = pet, 1 = background, 2 = border. The labels ship with the dataset as a trimap — a human painted them.</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That one change to the output shape forces everything else in this session. Nothing here is a new kind of network; it is the same convolutions, the same loss, and the same training loop from Week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THE TASK</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data: a photo, and a label for every one of its pixels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sk.png"/>
          <p:cNvPicPr>
            <a:picLocks noChangeAspect="1"/>
          </p:cNvPicPr>
          <p:nvPr/>
        </p:nvPicPr>
        <p:blipFill>
          <a:blip r:embed="rId2"/>
          <a:stretch>
            <a:fillRect/>
          </a:stretch>
        </p:blipFill>
        <p:spPr>
          <a:xfrm>
            <a:off x="808606" y="1783080"/>
            <a:ext cx="10574483" cy="35661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Background is 58% of all pixels and the border ring is only 12%. Hold on to those two numbers — they decide which metric we are allowed to 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THE WHOLE SESSION ON ONE SLIDE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Four models, one test set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ars.png"/>
          <p:cNvPicPr>
            <a:picLocks noChangeAspect="1"/>
          </p:cNvPicPr>
          <p:nvPr/>
        </p:nvPicPr>
        <p:blipFill>
          <a:blip r:embed="rId2"/>
          <a:stretch>
            <a:fillRect/>
          </a:stretch>
        </p:blipFill>
        <p:spPr>
          <a:xfrm>
            <a:off x="1060517" y="1783080"/>
            <a:ext cx="10070661" cy="3749039"/>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Each bar is the model of one part. The blue bar is the headline number; the orange bar is the border class, where the argument of this session actually lives.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THE WHOLE SESSION ON ONE SLIDE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same four models, as numbers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3403908"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model</a:t>
            </a:r>
          </a:p>
        </p:txBody>
      </p:sp>
      <p:sp>
        <p:nvSpPr>
          <p:cNvPr id="6" name="TextBox 5"/>
          <p:cNvSpPr txBox="1"/>
          <p:nvPr/>
        </p:nvSpPr>
        <p:spPr>
          <a:xfrm>
            <a:off x="4181148" y="1874519"/>
            <a:ext cx="1560124"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params</a:t>
            </a:r>
          </a:p>
        </p:txBody>
      </p:sp>
      <p:sp>
        <p:nvSpPr>
          <p:cNvPr id="7" name="TextBox 6"/>
          <p:cNvSpPr txBox="1"/>
          <p:nvPr/>
        </p:nvSpPr>
        <p:spPr>
          <a:xfrm>
            <a:off x="5741272"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acc</a:t>
            </a:r>
          </a:p>
        </p:txBody>
      </p:sp>
      <p:sp>
        <p:nvSpPr>
          <p:cNvPr id="8" name="TextBox 7"/>
          <p:cNvSpPr txBox="1"/>
          <p:nvPr/>
        </p:nvSpPr>
        <p:spPr>
          <a:xfrm>
            <a:off x="6875908"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mIoU</a:t>
            </a:r>
          </a:p>
        </p:txBody>
      </p:sp>
      <p:sp>
        <p:nvSpPr>
          <p:cNvPr id="9" name="TextBox 8"/>
          <p:cNvSpPr txBox="1"/>
          <p:nvPr/>
        </p:nvSpPr>
        <p:spPr>
          <a:xfrm>
            <a:off x="8010544"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pet</a:t>
            </a:r>
          </a:p>
        </p:txBody>
      </p:sp>
      <p:sp>
        <p:nvSpPr>
          <p:cNvPr id="10" name="TextBox 9"/>
          <p:cNvSpPr txBox="1"/>
          <p:nvPr/>
        </p:nvSpPr>
        <p:spPr>
          <a:xfrm>
            <a:off x="9145180"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bg</a:t>
            </a:r>
          </a:p>
        </p:txBody>
      </p:sp>
      <p:sp>
        <p:nvSpPr>
          <p:cNvPr id="11" name="TextBox 10"/>
          <p:cNvSpPr txBox="1"/>
          <p:nvPr/>
        </p:nvSpPr>
        <p:spPr>
          <a:xfrm>
            <a:off x="10279816"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border</a:t>
            </a:r>
          </a:p>
        </p:txBody>
      </p:sp>
      <p:sp>
        <p:nvSpPr>
          <p:cNvPr id="12" name="Rectangle 11"/>
          <p:cNvSpPr/>
          <p:nvPr/>
        </p:nvSpPr>
        <p:spPr>
          <a:xfrm>
            <a:off x="777240" y="2285999"/>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395726"/>
            <a:ext cx="3403908"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part1 FCN</a:t>
            </a:r>
          </a:p>
        </p:txBody>
      </p:sp>
      <p:sp>
        <p:nvSpPr>
          <p:cNvPr id="14" name="TextBox 13"/>
          <p:cNvSpPr txBox="1"/>
          <p:nvPr/>
        </p:nvSpPr>
        <p:spPr>
          <a:xfrm>
            <a:off x="4181148" y="2395726"/>
            <a:ext cx="1560124"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94,083</a:t>
            </a:r>
          </a:p>
        </p:txBody>
      </p:sp>
      <p:sp>
        <p:nvSpPr>
          <p:cNvPr id="15" name="TextBox 14"/>
          <p:cNvSpPr txBox="1"/>
          <p:nvPr/>
        </p:nvSpPr>
        <p:spPr>
          <a:xfrm>
            <a:off x="5741272"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0.746</a:t>
            </a:r>
          </a:p>
        </p:txBody>
      </p:sp>
      <p:sp>
        <p:nvSpPr>
          <p:cNvPr id="16" name="TextBox 15"/>
          <p:cNvSpPr txBox="1"/>
          <p:nvPr/>
        </p:nvSpPr>
        <p:spPr>
          <a:xfrm>
            <a:off x="6875908" y="2395726"/>
            <a:ext cx="113463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0.463</a:t>
            </a:r>
          </a:p>
        </p:txBody>
      </p:sp>
      <p:sp>
        <p:nvSpPr>
          <p:cNvPr id="17" name="TextBox 16"/>
          <p:cNvSpPr txBox="1"/>
          <p:nvPr/>
        </p:nvSpPr>
        <p:spPr>
          <a:xfrm>
            <a:off x="8010544"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0.490</a:t>
            </a:r>
          </a:p>
        </p:txBody>
      </p:sp>
      <p:sp>
        <p:nvSpPr>
          <p:cNvPr id="18" name="TextBox 17"/>
          <p:cNvSpPr txBox="1"/>
          <p:nvPr/>
        </p:nvSpPr>
        <p:spPr>
          <a:xfrm>
            <a:off x="9145180"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0.720</a:t>
            </a:r>
          </a:p>
        </p:txBody>
      </p:sp>
      <p:sp>
        <p:nvSpPr>
          <p:cNvPr id="19" name="TextBox 18"/>
          <p:cNvSpPr txBox="1"/>
          <p:nvPr/>
        </p:nvSpPr>
        <p:spPr>
          <a:xfrm>
            <a:off x="10279816"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0.179</a:t>
            </a:r>
          </a:p>
        </p:txBody>
      </p:sp>
      <p:sp>
        <p:nvSpPr>
          <p:cNvPr id="20" name="TextBox 19"/>
          <p:cNvSpPr txBox="1"/>
          <p:nvPr/>
        </p:nvSpPr>
        <p:spPr>
          <a:xfrm>
            <a:off x="777240" y="2816350"/>
            <a:ext cx="3403908"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encoder-decoder</a:t>
            </a:r>
          </a:p>
        </p:txBody>
      </p:sp>
      <p:sp>
        <p:nvSpPr>
          <p:cNvPr id="21" name="TextBox 20"/>
          <p:cNvSpPr txBox="1"/>
          <p:nvPr/>
        </p:nvSpPr>
        <p:spPr>
          <a:xfrm>
            <a:off x="4181148" y="2816350"/>
            <a:ext cx="1560124"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1,734,947</a:t>
            </a:r>
          </a:p>
        </p:txBody>
      </p:sp>
      <p:sp>
        <p:nvSpPr>
          <p:cNvPr id="22" name="TextBox 21"/>
          <p:cNvSpPr txBox="1"/>
          <p:nvPr/>
        </p:nvSpPr>
        <p:spPr>
          <a:xfrm>
            <a:off x="5741272"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0.878</a:t>
            </a:r>
          </a:p>
        </p:txBody>
      </p:sp>
      <p:sp>
        <p:nvSpPr>
          <p:cNvPr id="23" name="TextBox 22"/>
          <p:cNvSpPr txBox="1"/>
          <p:nvPr/>
        </p:nvSpPr>
        <p:spPr>
          <a:xfrm>
            <a:off x="6875908" y="2816350"/>
            <a:ext cx="113463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0.688</a:t>
            </a:r>
          </a:p>
        </p:txBody>
      </p:sp>
      <p:sp>
        <p:nvSpPr>
          <p:cNvPr id="24" name="TextBox 23"/>
          <p:cNvSpPr txBox="1"/>
          <p:nvPr/>
        </p:nvSpPr>
        <p:spPr>
          <a:xfrm>
            <a:off x="8010544"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0.774</a:t>
            </a:r>
          </a:p>
        </p:txBody>
      </p:sp>
      <p:sp>
        <p:nvSpPr>
          <p:cNvPr id="25" name="TextBox 24"/>
          <p:cNvSpPr txBox="1"/>
          <p:nvPr/>
        </p:nvSpPr>
        <p:spPr>
          <a:xfrm>
            <a:off x="9145180"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0.872</a:t>
            </a:r>
          </a:p>
        </p:txBody>
      </p:sp>
      <p:sp>
        <p:nvSpPr>
          <p:cNvPr id="26" name="TextBox 25"/>
          <p:cNvSpPr txBox="1"/>
          <p:nvPr/>
        </p:nvSpPr>
        <p:spPr>
          <a:xfrm>
            <a:off x="10279816"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0.417</a:t>
            </a:r>
          </a:p>
        </p:txBody>
      </p:sp>
      <p:sp>
        <p:nvSpPr>
          <p:cNvPr id="27" name="TextBox 26"/>
          <p:cNvSpPr txBox="1"/>
          <p:nvPr/>
        </p:nvSpPr>
        <p:spPr>
          <a:xfrm>
            <a:off x="777240" y="3236974"/>
            <a:ext cx="3403908"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U-Net, skips OFF</a:t>
            </a:r>
          </a:p>
        </p:txBody>
      </p:sp>
      <p:sp>
        <p:nvSpPr>
          <p:cNvPr id="28" name="TextBox 27"/>
          <p:cNvSpPr txBox="1"/>
          <p:nvPr/>
        </p:nvSpPr>
        <p:spPr>
          <a:xfrm>
            <a:off x="4181148" y="3236974"/>
            <a:ext cx="1560124"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1,928,483</a:t>
            </a:r>
          </a:p>
        </p:txBody>
      </p:sp>
      <p:sp>
        <p:nvSpPr>
          <p:cNvPr id="29" name="TextBox 28"/>
          <p:cNvSpPr txBox="1"/>
          <p:nvPr/>
        </p:nvSpPr>
        <p:spPr>
          <a:xfrm>
            <a:off x="5741272"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0.870</a:t>
            </a:r>
          </a:p>
        </p:txBody>
      </p:sp>
      <p:sp>
        <p:nvSpPr>
          <p:cNvPr id="30" name="TextBox 29"/>
          <p:cNvSpPr txBox="1"/>
          <p:nvPr/>
        </p:nvSpPr>
        <p:spPr>
          <a:xfrm>
            <a:off x="6875908" y="3236974"/>
            <a:ext cx="113463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0.674</a:t>
            </a:r>
          </a:p>
        </p:txBody>
      </p:sp>
      <p:sp>
        <p:nvSpPr>
          <p:cNvPr id="31" name="TextBox 30"/>
          <p:cNvSpPr txBox="1"/>
          <p:nvPr/>
        </p:nvSpPr>
        <p:spPr>
          <a:xfrm>
            <a:off x="8010544"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0.761</a:t>
            </a:r>
          </a:p>
        </p:txBody>
      </p:sp>
      <p:sp>
        <p:nvSpPr>
          <p:cNvPr id="32" name="TextBox 31"/>
          <p:cNvSpPr txBox="1"/>
          <p:nvPr/>
        </p:nvSpPr>
        <p:spPr>
          <a:xfrm>
            <a:off x="9145180"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0.859</a:t>
            </a:r>
          </a:p>
        </p:txBody>
      </p:sp>
      <p:sp>
        <p:nvSpPr>
          <p:cNvPr id="33" name="TextBox 32"/>
          <p:cNvSpPr txBox="1"/>
          <p:nvPr/>
        </p:nvSpPr>
        <p:spPr>
          <a:xfrm>
            <a:off x="10279816"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0.400</a:t>
            </a:r>
          </a:p>
        </p:txBody>
      </p:sp>
      <p:sp>
        <p:nvSpPr>
          <p:cNvPr id="34" name="TextBox 33"/>
          <p:cNvSpPr txBox="1"/>
          <p:nvPr/>
        </p:nvSpPr>
        <p:spPr>
          <a:xfrm>
            <a:off x="777240" y="3657598"/>
            <a:ext cx="3403908"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U-Net, skips ON</a:t>
            </a:r>
          </a:p>
        </p:txBody>
      </p:sp>
      <p:sp>
        <p:nvSpPr>
          <p:cNvPr id="35" name="TextBox 34"/>
          <p:cNvSpPr txBox="1"/>
          <p:nvPr/>
        </p:nvSpPr>
        <p:spPr>
          <a:xfrm>
            <a:off x="4181148" y="3657598"/>
            <a:ext cx="1560124"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1,928,483</a:t>
            </a:r>
          </a:p>
        </p:txBody>
      </p:sp>
      <p:sp>
        <p:nvSpPr>
          <p:cNvPr id="36" name="TextBox 35"/>
          <p:cNvSpPr txBox="1"/>
          <p:nvPr/>
        </p:nvSpPr>
        <p:spPr>
          <a:xfrm>
            <a:off x="5741272" y="3657598"/>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0.887</a:t>
            </a:r>
          </a:p>
        </p:txBody>
      </p:sp>
      <p:sp>
        <p:nvSpPr>
          <p:cNvPr id="37" name="TextBox 36"/>
          <p:cNvSpPr txBox="1"/>
          <p:nvPr/>
        </p:nvSpPr>
        <p:spPr>
          <a:xfrm>
            <a:off x="6875908" y="3657598"/>
            <a:ext cx="113463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0.707</a:t>
            </a:r>
          </a:p>
        </p:txBody>
      </p:sp>
      <p:sp>
        <p:nvSpPr>
          <p:cNvPr id="38" name="TextBox 37"/>
          <p:cNvSpPr txBox="1"/>
          <p:nvPr/>
        </p:nvSpPr>
        <p:spPr>
          <a:xfrm>
            <a:off x="8010544" y="3657598"/>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0.787</a:t>
            </a:r>
          </a:p>
        </p:txBody>
      </p:sp>
      <p:sp>
        <p:nvSpPr>
          <p:cNvPr id="39" name="TextBox 38"/>
          <p:cNvSpPr txBox="1"/>
          <p:nvPr/>
        </p:nvSpPr>
        <p:spPr>
          <a:xfrm>
            <a:off x="9145180" y="3657598"/>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0.881</a:t>
            </a:r>
          </a:p>
        </p:txBody>
      </p:sp>
      <p:sp>
        <p:nvSpPr>
          <p:cNvPr id="40" name="TextBox 39"/>
          <p:cNvSpPr txBox="1"/>
          <p:nvPr/>
        </p:nvSpPr>
        <p:spPr>
          <a:xfrm>
            <a:off x="10279816" y="3657598"/>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0.455</a:t>
            </a:r>
          </a:p>
        </p:txBody>
      </p:sp>
      <p:sp>
        <p:nvSpPr>
          <p:cNvPr id="41" name="TextBox 40"/>
          <p:cNvSpPr txBox="1"/>
          <p:nvPr/>
        </p:nvSpPr>
        <p:spPr>
          <a:xfrm>
            <a:off x="777240" y="5806440"/>
            <a:ext cx="10637215" cy="640080"/>
          </a:xfrm>
          <a:prstGeom prst="rect">
            <a:avLst/>
          </a:prstGeom>
          <a:noFill/>
        </p:spPr>
        <p:txBody>
          <a:bodyPr wrap="square">
            <a:spAutoFit/>
          </a:bodyPr>
          <a:lstStyle/>
          <a:p>
            <a:pPr algn="l">
              <a:lnSpc>
                <a:spcPct val="115000"/>
              </a:lnSpc>
              <a:spcAft>
                <a:spcPts val="600"/>
              </a:spcAft>
            </a:pPr>
            <a:r>
              <a:rPr sz="1400" b="0">
                <a:solidFill>
                  <a:srgbClr val="6B7582"/>
                </a:solidFill>
                <a:latin typeface="Helvetica Neue"/>
              </a:rPr>
              <a:t>All four trained for 15 epochs at lr 1e-3 on all 3,680 labelled images, and scored here on 1000 held-out test images. The rest of the deck unpacks one row at a time: the problem, the idea, the maths, then the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2377440"/>
            <a:ext cx="10637215" cy="365760"/>
          </a:xfrm>
          <a:prstGeom prst="rect">
            <a:avLst/>
          </a:prstGeom>
          <a:noFill/>
        </p:spPr>
        <p:txBody>
          <a:bodyPr wrap="square">
            <a:spAutoFit/>
          </a:bodyPr>
          <a:lstStyle/>
          <a:p>
            <a:pPr algn="l">
              <a:lnSpc>
                <a:spcPct val="100000"/>
              </a:lnSpc>
              <a:spcAft>
                <a:spcPts val="600"/>
              </a:spcAft>
            </a:pPr>
            <a:r>
              <a:rPr sz="1400" b="1">
                <a:solidFill>
                  <a:srgbClr val="C2551E"/>
                </a:solidFill>
                <a:latin typeface="Helvetica Neue"/>
              </a:rPr>
              <a:t>PART 1</a:t>
            </a:r>
          </a:p>
        </p:txBody>
      </p:sp>
      <p:sp>
        <p:nvSpPr>
          <p:cNvPr id="3" name="TextBox 2"/>
          <p:cNvSpPr txBox="1"/>
          <p:nvPr/>
        </p:nvSpPr>
        <p:spPr>
          <a:xfrm>
            <a:off x="777240" y="2743200"/>
            <a:ext cx="10637215" cy="1097280"/>
          </a:xfrm>
          <a:prstGeom prst="rect">
            <a:avLst/>
          </a:prstGeom>
          <a:noFill/>
        </p:spPr>
        <p:txBody>
          <a:bodyPr wrap="square">
            <a:spAutoFit/>
          </a:bodyPr>
          <a:lstStyle/>
          <a:p>
            <a:pPr algn="l">
              <a:lnSpc>
                <a:spcPct val="100000"/>
              </a:lnSpc>
              <a:spcAft>
                <a:spcPts val="600"/>
              </a:spcAft>
            </a:pPr>
            <a:r>
              <a:rPr sz="4000" b="1">
                <a:solidFill>
                  <a:srgbClr val="1F4E79"/>
                </a:solidFill>
                <a:latin typeface="Helvetica Neue"/>
              </a:rPr>
              <a:t>A classifier is almost a segmenter</a:t>
            </a:r>
          </a:p>
        </p:txBody>
      </p:sp>
      <p:sp>
        <p:nvSpPr>
          <p:cNvPr id="4" name="Rectangle 3"/>
          <p:cNvSpPr/>
          <p:nvPr/>
        </p:nvSpPr>
        <p:spPr>
          <a:xfrm>
            <a:off x="777240" y="3931920"/>
            <a:ext cx="2743200"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206240"/>
            <a:ext cx="8961120" cy="1097280"/>
          </a:xfrm>
          <a:prstGeom prst="rect">
            <a:avLst/>
          </a:prstGeom>
          <a:noFill/>
        </p:spPr>
        <p:txBody>
          <a:bodyPr wrap="square">
            <a:spAutoFit/>
          </a:bodyPr>
          <a:lstStyle/>
          <a:p>
            <a:pPr algn="l">
              <a:lnSpc>
                <a:spcPct val="120000"/>
              </a:lnSpc>
              <a:spcAft>
                <a:spcPts val="600"/>
              </a:spcAft>
            </a:pPr>
            <a:r>
              <a:rPr sz="1800" b="0">
                <a:solidFill>
                  <a:srgbClr val="6B7582"/>
                </a:solidFill>
                <a:latin typeface="Helvetica Neue"/>
              </a:rPr>
              <a:t>The problem: a classifier's head throws away WHERE. Delete it, and what is left already does the job.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PROBLEM</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What exactly is incompatible?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10637215" cy="4645152"/>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Week 3's CNN ended: Conv stack -&gt; Flatten -&gt; Linear(1024-&gt;128) -&gt; Linear(128-&gt;10).</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Flatten is the layer that is wrong for this task, and it is wrong in a specific way: after it, 'ear-shaped thing' and 'ear-shaped thing in the top-left corner' are the same 1,024 numbers in a different order. The position is still in there, but only as an arbitrary index — and the Linear that follows has no reason to treat neighbouring indices as neighbouring pixels.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It also fixes the input size forever: Linear(1024 -&gt; 128) needs exactly 1,024 numbers, so the network only accepts 32x32 images.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900" b="1">
                <a:solidFill>
                  <a:srgbClr val="1C222B"/>
                </a:solidFill>
                <a:latin typeface="Helvetica Neue"/>
              </a:rPr>
              <a:t>&gt;&gt; Everything else a classifier does — convolutions, pooling, BatchNorm, the loss — is already what a segmenter wants.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IDEA</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Four lines of diff, and it is a segmentation model</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292608"/>
          </a:xfrm>
          <a:prstGeom prst="rect">
            <a:avLst/>
          </a:prstGeom>
          <a:noFill/>
        </p:spPr>
        <p:txBody>
          <a:bodyPr wrap="square">
            <a:spAutoFit/>
          </a:bodyPr>
          <a:lstStyle/>
          <a:p>
            <a:pPr algn="l">
              <a:lnSpc>
                <a:spcPct val="100000"/>
              </a:lnSpc>
              <a:spcAft>
                <a:spcPts val="600"/>
              </a:spcAft>
            </a:pPr>
            <a:r>
              <a:rPr sz="1350" b="1">
                <a:solidFill>
                  <a:srgbClr val="6B7582"/>
                </a:solidFill>
                <a:latin typeface="Menlo"/>
              </a:rPr>
              <a:t>week 3 part 6 classifier   -&gt;   part1_classifier_to_segmenter.py</a:t>
            </a:r>
          </a:p>
        </p:txBody>
      </p:sp>
      <p:sp>
        <p:nvSpPr>
          <p:cNvPr id="6" name="TextBox 5"/>
          <p:cNvSpPr txBox="1"/>
          <p:nvPr/>
        </p:nvSpPr>
        <p:spPr>
          <a:xfrm>
            <a:off x="777240" y="2121408"/>
            <a:ext cx="10637215" cy="4114800"/>
          </a:xfrm>
          <a:prstGeom prst="rect">
            <a:avLst/>
          </a:prstGeom>
          <a:noFill/>
        </p:spPr>
        <p:txBody>
          <a:bodyPr wrap="square">
            <a:spAutoFit/>
          </a:bodyPr>
          <a:lstStyle/>
          <a:p>
            <a:pPr algn="l">
              <a:lnSpc>
                <a:spcPct val="108000"/>
              </a:lnSpc>
              <a:spcAft>
                <a:spcPts val="600"/>
              </a:spcAft>
            </a:pPr>
            <a:r>
              <a:rPr sz="1450" b="0">
                <a:solidFill>
                  <a:srgbClr val="1C222B"/>
                </a:solidFill>
                <a:latin typeface="Menlo"/>
              </a:rPr>
              <a:t>  Conv -&gt; BN -&gt; ReLU -&gt; MaxPool      Conv -&gt; BN -&gt; ReLU -&gt; MaxPool    x3</a:t>
            </a:r>
          </a:p>
          <a:p>
            <a:pPr algn="l">
              <a:lnSpc>
                <a:spcPct val="108000"/>
              </a:lnSpc>
              <a:spcAft>
                <a:spcPts val="600"/>
              </a:spcAft>
            </a:pPr>
            <a:r>
              <a:rPr sz="1450" b="1">
                <a:solidFill>
                  <a:srgbClr val="C2551E"/>
                </a:solidFill>
                <a:latin typeface="Menlo"/>
              </a:rPr>
              <a:t>  Flatten                           (deleted)</a:t>
            </a:r>
          </a:p>
          <a:p>
            <a:pPr algn="l">
              <a:lnSpc>
                <a:spcPct val="108000"/>
              </a:lnSpc>
              <a:spcAft>
                <a:spcPts val="600"/>
              </a:spcAft>
            </a:pPr>
            <a:r>
              <a:rPr sz="1450" b="1">
                <a:solidFill>
                  <a:srgbClr val="C2551E"/>
                </a:solidFill>
                <a:latin typeface="Menlo"/>
              </a:rPr>
              <a:t>  Linear(1024 -&gt; 128) -&gt; ReLU       (deleted)</a:t>
            </a:r>
          </a:p>
          <a:p>
            <a:pPr algn="l">
              <a:lnSpc>
                <a:spcPct val="108000"/>
              </a:lnSpc>
              <a:spcAft>
                <a:spcPts val="600"/>
              </a:spcAft>
            </a:pPr>
            <a:r>
              <a:rPr sz="1450" b="1">
                <a:solidFill>
                  <a:srgbClr val="C2551E"/>
                </a:solidFill>
                <a:latin typeface="Menlo"/>
              </a:rPr>
              <a:t>  Linear(128 -&gt; 10)                 Conv1x1(128 -&gt; 3)</a:t>
            </a:r>
          </a:p>
          <a:p>
            <a:pPr algn="l">
              <a:lnSpc>
                <a:spcPct val="108000"/>
              </a:lnSpc>
              <a:spcAft>
                <a:spcPts val="600"/>
              </a:spcAft>
            </a:pPr>
            <a:r>
              <a:rPr sz="1450" b="1">
                <a:solidFill>
                  <a:srgbClr val="C2551E"/>
                </a:solidFill>
                <a:latin typeface="Menlo"/>
              </a:rPr>
              <a:t>  (nothing)                         Upsample(x8)</a:t>
            </a:r>
          </a:p>
          <a:p>
            <a:pPr algn="l">
              <a:lnSpc>
                <a:spcPct val="108000"/>
              </a:lnSpc>
              <a:spcAft>
                <a:spcPts val="600"/>
              </a:spcAft>
            </a:pPr>
            <a:r>
              <a:rPr sz="1450" b="0">
                <a:solidFill>
                  <a:srgbClr val="1C222B"/>
                </a:solidFill>
                <a:latin typeface="Menlo"/>
              </a:rPr>
              <a:t>  CrossEntropyLoss on (N, 10)       CrossEntropyLoss on (N, 3, H, W)</a:t>
            </a:r>
          </a:p>
        </p:txBody>
      </p:sp>
      <p:sp>
        <p:nvSpPr>
          <p:cNvPr id="7" name="TextBox 6"/>
          <p:cNvSpPr txBox="1"/>
          <p:nvPr/>
        </p:nvSpPr>
        <p:spPr>
          <a:xfrm>
            <a:off x="777240" y="5925312"/>
            <a:ext cx="10637215" cy="640080"/>
          </a:xfrm>
          <a:prstGeom prst="rect">
            <a:avLst/>
          </a:prstGeom>
          <a:noFill/>
        </p:spPr>
        <p:txBody>
          <a:bodyPr wrap="square">
            <a:spAutoFit/>
          </a:bodyPr>
          <a:lstStyle/>
          <a:p>
            <a:pPr algn="l">
              <a:lnSpc>
                <a:spcPct val="115000"/>
              </a:lnSpc>
              <a:spcAft>
                <a:spcPts val="600"/>
              </a:spcAft>
            </a:pPr>
            <a:r>
              <a:rPr sz="1450" b="0">
                <a:solidFill>
                  <a:srgbClr val="6B7582"/>
                </a:solidFill>
                <a:latin typeface="Helvetica Neue"/>
              </a:rPr>
              <a:t>The trunk is untouched. Even the loss is untouched — nn.CrossEntropyLoss already accepts (N, C, H, W) logits against (N, H, W) integer targets. This is the 'fully convolutional' idea, and in 2015 it was a paper.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IDEA</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And what is that Upsample line, exactly?</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psample.png"/>
          <p:cNvPicPr>
            <a:picLocks noChangeAspect="1"/>
          </p:cNvPicPr>
          <p:nvPr/>
        </p:nvPicPr>
        <p:blipFill>
          <a:blip r:embed="rId2"/>
          <a:stretch>
            <a:fillRect/>
          </a:stretch>
        </p:blipFill>
        <p:spPr>
          <a:xfrm>
            <a:off x="2693311" y="1783080"/>
            <a:ext cx="6805072" cy="35661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One channel of the real network's output, before and after its last layer. Upsample resizes: every one of the 9,216 numbers on the right is a weighted average of the 144 on the left. Bigger, smoother, and not one bit more detailed.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shapes, from a real forward pass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_fcn.png"/>
          <p:cNvPicPr>
            <a:picLocks noChangeAspect="1"/>
          </p:cNvPicPr>
          <p:nvPr/>
        </p:nvPicPr>
        <p:blipFill>
          <a:blip r:embed="rId2"/>
          <a:stretch>
            <a:fillRect/>
          </a:stretch>
        </p:blipFill>
        <p:spPr>
          <a:xfrm>
            <a:off x="1862005" y="1783080"/>
            <a:ext cx="8467684" cy="37947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Box height is spatial size, box width is channel count. Three poolings take 96 down to 12; the 1x1 conv labels that 12x12 grid; Upsample stretches it 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 1x1 convolution IS the Linear head, applied everywhere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637215" cy="457200"/>
          </a:xfrm>
          <a:prstGeom prst="rect">
            <a:avLst/>
          </a:prstGeom>
          <a:noFill/>
        </p:spPr>
        <p:txBody>
          <a:bodyPr wrap="square">
            <a:spAutoFit/>
          </a:bodyPr>
          <a:lstStyle/>
          <a:p>
            <a:pPr algn="l">
              <a:lnSpc>
                <a:spcPct val="115000"/>
              </a:lnSpc>
              <a:spcAft>
                <a:spcPts val="600"/>
              </a:spcAft>
            </a:pPr>
            <a:r>
              <a:rPr sz="1800" b="1">
                <a:solidFill>
                  <a:srgbClr val="1C222B"/>
                </a:solidFill>
                <a:latin typeface="Helvetica Neue"/>
              </a:rPr>
              <a:t>A Linear layer maps one vector to another. A 1x1 convolution does exactly that, once per spatial position, with the SAME weights at every position:</a:t>
            </a:r>
          </a:p>
        </p:txBody>
      </p:sp>
      <p:pic>
        <p:nvPicPr>
          <p:cNvPr id="6" name="Picture 5" descr="eq1.png"/>
          <p:cNvPicPr>
            <a:picLocks noChangeAspect="1"/>
          </p:cNvPicPr>
          <p:nvPr/>
        </p:nvPicPr>
        <p:blipFill>
          <a:blip r:embed="rId2"/>
          <a:stretch>
            <a:fillRect/>
          </a:stretch>
        </p:blipFill>
        <p:spPr>
          <a:xfrm>
            <a:off x="1143000" y="2455164"/>
            <a:ext cx="9171432" cy="463296"/>
          </a:xfrm>
          <a:prstGeom prst="rect">
            <a:avLst/>
          </a:prstGeom>
        </p:spPr>
      </p:pic>
      <p:sp>
        <p:nvSpPr>
          <p:cNvPr id="7" name="TextBox 6"/>
          <p:cNvSpPr txBox="1"/>
          <p:nvPr/>
        </p:nvSpPr>
        <p:spPr>
          <a:xfrm>
            <a:off x="777240" y="3156204"/>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So it costs 128 x 3 + 3 = 387 parameters, against the 131,200 in the Linear layer it replaced — and unlike that layer, it does not care how many positions there are.</a:t>
            </a:r>
          </a:p>
        </p:txBody>
      </p:sp>
      <p:sp>
        <p:nvSpPr>
          <p:cNvPr id="8" name="TextBox 7"/>
          <p:cNvSpPr txBox="1"/>
          <p:nvPr/>
        </p:nvSpPr>
        <p:spPr>
          <a:xfrm>
            <a:off x="777240" y="3872230"/>
            <a:ext cx="10637215" cy="457200"/>
          </a:xfrm>
          <a:prstGeom prst="rect">
            <a:avLst/>
          </a:prstGeom>
          <a:noFill/>
        </p:spPr>
        <p:txBody>
          <a:bodyPr wrap="square">
            <a:spAutoFit/>
          </a:bodyPr>
          <a:lstStyle/>
          <a:p>
            <a:pPr algn="l">
              <a:lnSpc>
                <a:spcPct val="115000"/>
              </a:lnSpc>
              <a:spcAft>
                <a:spcPts val="600"/>
              </a:spcAft>
            </a:pPr>
            <a:r>
              <a:rPr sz="1800" b="1">
                <a:solidFill>
                  <a:srgbClr val="1C222B"/>
                </a:solidFill>
                <a:latin typeface="Helvetica Neue"/>
              </a:rPr>
              <a:t>The loss needs no change either. Cross-entropy is applied at each pixel independently and averaged:</a:t>
            </a:r>
          </a:p>
        </p:txBody>
      </p:sp>
      <p:pic>
        <p:nvPicPr>
          <p:cNvPr id="9" name="Picture 8" descr="eq2.png"/>
          <p:cNvPicPr>
            <a:picLocks noChangeAspect="1"/>
          </p:cNvPicPr>
          <p:nvPr/>
        </p:nvPicPr>
        <p:blipFill>
          <a:blip r:embed="rId3"/>
          <a:stretch>
            <a:fillRect/>
          </a:stretch>
        </p:blipFill>
        <p:spPr>
          <a:xfrm>
            <a:off x="1143000" y="4544314"/>
            <a:ext cx="4267200" cy="819912"/>
          </a:xfrm>
          <a:prstGeom prst="rect">
            <a:avLst/>
          </a:prstGeom>
        </p:spPr>
      </p:pic>
      <p:sp>
        <p:nvSpPr>
          <p:cNvPr id="10" name="TextBox 9"/>
          <p:cNvSpPr txBox="1"/>
          <p:nvPr/>
        </p:nvSpPr>
        <p:spPr>
          <a:xfrm>
            <a:off x="777240" y="5601970"/>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Week 2's formula, inside a sum over pixels. Segmentation is classification run 9,216 times per image — with the whole picture available as context.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METRIC</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Pixel accuracy is a trap, so we retire it here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10637215" cy="4572000"/>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58% of the pixels are background. A model that predicts 'background' everywhere and never looks at the image scores 0.579 pixel accuracy.</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Worse, the border class — the thin ring where every interesting error lives — is 12% of the pixels. A model can ignore it completely and lose almost nothing on accuracy.</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always 'background'     acc 0.579     mIoU 0.193</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Intersection over union scores each class on its own, so a class the model never predicts scores zero no matter how rare it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Intersection over union</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ou_sch.png"/>
          <p:cNvPicPr>
            <a:picLocks noChangeAspect="1"/>
          </p:cNvPicPr>
          <p:nvPr/>
        </p:nvPicPr>
        <p:blipFill>
          <a:blip r:embed="rId2"/>
          <a:stretch>
            <a:fillRect/>
          </a:stretch>
        </p:blipFill>
        <p:spPr>
          <a:xfrm>
            <a:off x="2152417" y="1591056"/>
            <a:ext cx="7886861" cy="2788920"/>
          </a:xfrm>
          <a:prstGeom prst="rect">
            <a:avLst/>
          </a:prstGeom>
        </p:spPr>
      </p:pic>
      <p:pic>
        <p:nvPicPr>
          <p:cNvPr id="6" name="Picture 5" descr="eq3.png"/>
          <p:cNvPicPr>
            <a:picLocks noChangeAspect="1"/>
          </p:cNvPicPr>
          <p:nvPr/>
        </p:nvPicPr>
        <p:blipFill>
          <a:blip r:embed="rId3"/>
          <a:stretch>
            <a:fillRect/>
          </a:stretch>
        </p:blipFill>
        <p:spPr>
          <a:xfrm>
            <a:off x="3378555" y="4572000"/>
            <a:ext cx="5434584" cy="670560"/>
          </a:xfrm>
          <a:prstGeom prst="rect">
            <a:avLst/>
          </a:prstGeom>
        </p:spPr>
      </p:pic>
      <p:sp>
        <p:nvSpPr>
          <p:cNvPr id="7" name="TextBox 6"/>
          <p:cNvSpPr txBox="1"/>
          <p:nvPr/>
        </p:nvSpPr>
        <p:spPr>
          <a:xfrm>
            <a:off x="777240" y="5760720"/>
            <a:ext cx="10637215" cy="731520"/>
          </a:xfrm>
          <a:prstGeom prst="rect">
            <a:avLst/>
          </a:prstGeom>
          <a:noFill/>
        </p:spPr>
        <p:txBody>
          <a:bodyPr wrap="square">
            <a:spAutoFit/>
          </a:bodyPr>
          <a:lstStyle/>
          <a:p>
            <a:pPr algn="l">
              <a:lnSpc>
                <a:spcPct val="115000"/>
              </a:lnSpc>
              <a:spcAft>
                <a:spcPts val="600"/>
              </a:spcAft>
            </a:pPr>
            <a:r>
              <a:rPr sz="1550" b="0">
                <a:solidFill>
                  <a:srgbClr val="6B7582"/>
                </a:solidFill>
                <a:latin typeface="Helvetica Neue"/>
              </a:rPr>
              <a:t>c is a CLASS INDEX. There is no single IoU: there is one per class, and the whole calculation is run once with 'pet' held up as the positive class, once with 'background', once with 'border'.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Three classes, three IoUs, and then the mean</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ou_real.png"/>
          <p:cNvPicPr>
            <a:picLocks noChangeAspect="1"/>
          </p:cNvPicPr>
          <p:nvPr/>
        </p:nvPicPr>
        <p:blipFill>
          <a:blip r:embed="rId2"/>
          <a:stretch>
            <a:fillRect/>
          </a:stretch>
        </p:blipFill>
        <p:spPr>
          <a:xfrm>
            <a:off x="2736112" y="1572768"/>
            <a:ext cx="6719471" cy="2971800"/>
          </a:xfrm>
          <a:prstGeom prst="rect">
            <a:avLst/>
          </a:prstGeom>
        </p:spPr>
      </p:pic>
      <p:pic>
        <p:nvPicPr>
          <p:cNvPr id="6" name="Picture 5" descr="eq4.png"/>
          <p:cNvPicPr>
            <a:picLocks noChangeAspect="1"/>
          </p:cNvPicPr>
          <p:nvPr/>
        </p:nvPicPr>
        <p:blipFill>
          <a:blip r:embed="rId3"/>
          <a:stretch>
            <a:fillRect/>
          </a:stretch>
        </p:blipFill>
        <p:spPr>
          <a:xfrm>
            <a:off x="2122779" y="4754880"/>
            <a:ext cx="7946136" cy="868680"/>
          </a:xfrm>
          <a:prstGeom prst="rect">
            <a:avLst/>
          </a:prstGeom>
        </p:spPr>
      </p:pic>
      <p:sp>
        <p:nvSpPr>
          <p:cNvPr id="7" name="TextBox 6"/>
          <p:cNvSpPr txBox="1"/>
          <p:nvPr/>
        </p:nvSpPr>
        <p:spPr>
          <a:xfrm>
            <a:off x="777240" y="5705856"/>
            <a:ext cx="10637215" cy="822960"/>
          </a:xfrm>
          <a:prstGeom prst="rect">
            <a:avLst/>
          </a:prstGeom>
          <a:noFill/>
        </p:spPr>
        <p:txBody>
          <a:bodyPr wrap="square">
            <a:spAutoFit/>
          </a:bodyPr>
          <a:lstStyle/>
          <a:p>
            <a:pPr algn="l">
              <a:lnSpc>
                <a:spcPct val="115000"/>
              </a:lnSpc>
              <a:spcAft>
                <a:spcPts val="600"/>
              </a:spcAft>
            </a:pPr>
            <a:r>
              <a:rPr sz="1550" b="0">
                <a:solidFill>
                  <a:srgbClr val="6B7582"/>
                </a:solidFill>
                <a:latin typeface="Helvetica Neue"/>
              </a:rPr>
              <a:t>Unweighted, so the 12% class counts as much as the 58% one -- which is the whole reason we changed metric. Read the border panel: the same prediction that looks excellent on 'background' is mediocre there. Computed from ONE confusion matrix over the whole test set, never by averaging per-batch IoUs.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mIoU 0.193 -&gt; 0.463 for 94,083 parameters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d1.png"/>
          <p:cNvPicPr>
            <a:picLocks noChangeAspect="1"/>
          </p:cNvPicPr>
          <p:nvPr/>
        </p:nvPicPr>
        <p:blipFill>
          <a:blip r:embed="rId2"/>
          <a:stretch>
            <a:fillRect/>
          </a:stretch>
        </p:blipFill>
        <p:spPr>
          <a:xfrm>
            <a:off x="2346561" y="1783080"/>
            <a:ext cx="7498572" cy="32004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It finds the animal. Read the number against the 0.193 floor, not against pixel accuracy: +0.270 mIoU from deleting two layers.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1 · THE LIMIT</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Now look at the pictures, not the number</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10637215" cy="4645152"/>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Ear tips round off. Thin legs fade out. Holes open in the middle of an animal. Nothing in the output is finer than about 8 pixels.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The reason is the one thing we did not replace. Three poolings take 96x96 down to 12x12, and that is where the decision is made — one vote per 8x8 block of photo. Upsample has no parameters: it can make the map bigger, it cannot make it more detailed.</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And we cannot simply pool less. Pooling is what gives this model its context: at 12x12 a 3x3 kernel covers a quarter of the photo, which is how it knows it is looking at an animal at all rather than at a brown patch.</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900" b="1">
                <a:solidFill>
                  <a:srgbClr val="1C222B"/>
                </a:solidFill>
                <a:latin typeface="Helvetica Neue"/>
              </a:rPr>
              <a:t>&gt;&gt; Context and resolution pull in opposite directions. The rest of the session is one idea for having both.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2377440"/>
            <a:ext cx="10637215" cy="365760"/>
          </a:xfrm>
          <a:prstGeom prst="rect">
            <a:avLst/>
          </a:prstGeom>
          <a:noFill/>
        </p:spPr>
        <p:txBody>
          <a:bodyPr wrap="square">
            <a:spAutoFit/>
          </a:bodyPr>
          <a:lstStyle/>
          <a:p>
            <a:pPr algn="l">
              <a:lnSpc>
                <a:spcPct val="100000"/>
              </a:lnSpc>
              <a:spcAft>
                <a:spcPts val="600"/>
              </a:spcAft>
            </a:pPr>
            <a:r>
              <a:rPr sz="1400" b="1">
                <a:solidFill>
                  <a:srgbClr val="C2551E"/>
                </a:solidFill>
                <a:latin typeface="Helvetica Neue"/>
              </a:rPr>
              <a:t>PART 2</a:t>
            </a:r>
          </a:p>
        </p:txBody>
      </p:sp>
      <p:sp>
        <p:nvSpPr>
          <p:cNvPr id="3" name="TextBox 2"/>
          <p:cNvSpPr txBox="1"/>
          <p:nvPr/>
        </p:nvSpPr>
        <p:spPr>
          <a:xfrm>
            <a:off x="777240" y="2743200"/>
            <a:ext cx="10637215" cy="1097280"/>
          </a:xfrm>
          <a:prstGeom prst="rect">
            <a:avLst/>
          </a:prstGeom>
          <a:noFill/>
        </p:spPr>
        <p:txBody>
          <a:bodyPr wrap="square">
            <a:spAutoFit/>
          </a:bodyPr>
          <a:lstStyle/>
          <a:p>
            <a:pPr algn="l">
              <a:lnSpc>
                <a:spcPct val="100000"/>
              </a:lnSpc>
              <a:spcAft>
                <a:spcPts val="600"/>
              </a:spcAft>
            </a:pPr>
            <a:r>
              <a:rPr sz="4000" b="1">
                <a:solidFill>
                  <a:srgbClr val="1F4E79"/>
                </a:solidFill>
                <a:latin typeface="Helvetica Neue"/>
              </a:rPr>
              <a:t>Learn the way back up</a:t>
            </a:r>
          </a:p>
        </p:txBody>
      </p:sp>
      <p:sp>
        <p:nvSpPr>
          <p:cNvPr id="4" name="Rectangle 3"/>
          <p:cNvSpPr/>
          <p:nvPr/>
        </p:nvSpPr>
        <p:spPr>
          <a:xfrm>
            <a:off x="777240" y="3931920"/>
            <a:ext cx="2743200"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206240"/>
            <a:ext cx="8961120" cy="1097280"/>
          </a:xfrm>
          <a:prstGeom prst="rect">
            <a:avLst/>
          </a:prstGeom>
          <a:noFill/>
        </p:spPr>
        <p:txBody>
          <a:bodyPr wrap="square">
            <a:spAutoFit/>
          </a:bodyPr>
          <a:lstStyle/>
          <a:p>
            <a:pPr algn="l">
              <a:lnSpc>
                <a:spcPct val="120000"/>
              </a:lnSpc>
              <a:spcAft>
                <a:spcPts val="600"/>
              </a:spcAft>
            </a:pPr>
            <a:r>
              <a:rPr sz="1800" b="0">
                <a:solidFill>
                  <a:srgbClr val="6B7582"/>
                </a:solidFill>
                <a:latin typeface="Helvetica Neue"/>
              </a:rPr>
              <a:t>The problem: Upsample stretches, it does not sharpen. Build a decoder instead — on the easiest possible target, no labels at 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IDEA</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Make the way up learned, and train it without labels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10637215" cy="4645152"/>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Replace the fixed stretch with convolutions that have weights, and train them on a task where the answer is free: the photo is its own target.</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encoder   3 x 96 x 96   -&gt;   256 x 12 x 12      (three poolings, as in part 1)</a:t>
            </a:r>
          </a:p>
          <a:p>
            <a:pPr algn="l">
              <a:lnSpc>
                <a:spcPct val="115000"/>
              </a:lnSpc>
              <a:spcAft>
                <a:spcPts val="600"/>
              </a:spcAft>
            </a:pPr>
            <a:r>
              <a:rPr sz="1500" b="0">
                <a:solidFill>
                  <a:srgbClr val="1C222B"/>
                </a:solidFill>
                <a:latin typeface="Menlo"/>
              </a:rPr>
              <a:t>  decoder   256 x 12 x 12 -&gt;   3 x 96 x 96        (three upsamplings, new)</a:t>
            </a:r>
          </a:p>
          <a:p>
            <a:pPr algn="l">
              <a:lnSpc>
                <a:spcPct val="115000"/>
              </a:lnSpc>
              <a:spcAft>
                <a:spcPts val="600"/>
              </a:spcAft>
            </a:pPr>
            <a:r>
              <a:rPr sz="1500" b="0">
                <a:solidFill>
                  <a:srgbClr val="1C222B"/>
                </a:solidFill>
                <a:latin typeface="Menlo"/>
              </a:rPr>
              <a:t>  loss      MSELoss(reconstruction, original)</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That is an autoencoder, and we are here for exactly two reasons: it is the shortest path to understanding the decoder half, and its failure mode is the whole argument of part 4.</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The training loop does not change — Week 1 Part 3's four steps, with loss_fn(model(x), y) where y happens to be x. This is the first time in the course that no label file is involved anywhere.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half you already have, and the half that is new</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gg_ae.png"/>
          <p:cNvPicPr>
            <a:picLocks noChangeAspect="1"/>
          </p:cNvPicPr>
          <p:nvPr/>
        </p:nvPicPr>
        <p:blipFill>
          <a:blip r:embed="rId2"/>
          <a:stretch>
            <a:fillRect/>
          </a:stretch>
        </p:blipFill>
        <p:spPr>
          <a:xfrm>
            <a:off x="1709645" y="1783080"/>
            <a:ext cx="8772405" cy="37947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A VGG-style classifier and an encoder-decoder, drawn at the same scale. Box height is spatial size, box width is channel count. The encoders are the same network; a classifier then collapses the grid into one vector, and an encoder-decoder builds it back 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Symmetric: every pooling on the left has an upsampling on the right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_ae.png"/>
          <p:cNvPicPr>
            <a:picLocks noChangeAspect="1"/>
          </p:cNvPicPr>
          <p:nvPr/>
        </p:nvPicPr>
        <p:blipFill>
          <a:blip r:embed="rId2"/>
          <a:stretch>
            <a:fillRect/>
          </a:stretch>
        </p:blipFill>
        <p:spPr>
          <a:xfrm>
            <a:off x="1343134" y="1783080"/>
            <a:ext cx="9505427" cy="384048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Shapes from a real forward pass. Remember this picture — part 4 changes three lines of it and nothing else.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ConvTranspose2d: what it actually computes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vt_example.png"/>
          <p:cNvPicPr>
            <a:picLocks noChangeAspect="1"/>
          </p:cNvPicPr>
          <p:nvPr/>
        </p:nvPicPr>
        <p:blipFill>
          <a:blip r:embed="rId2"/>
          <a:stretch>
            <a:fillRect/>
          </a:stretch>
        </p:blipFill>
        <p:spPr>
          <a:xfrm>
            <a:off x="1499761" y="1664208"/>
            <a:ext cx="9192172" cy="3977639"/>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A 2x2 input, a 3x3 kernel. Every input value scales the WHOLE kernel and stamps it at that value's own offset; where the stamps overlap, they add. Run it backwards in your head and you have ordinary convolution -- which is exactly where the name comes from.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What a learned upsampler buys over a fixed one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19072"/>
            <a:ext cx="10637215" cy="4681728"/>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Compare that against Part 1's Upsample(x8), which had no kernel at all.</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IT HAS WEIGHTS      interpolation can only average the numbers</a:t>
            </a:r>
          </a:p>
          <a:p>
            <a:pPr algn="l">
              <a:lnSpc>
                <a:spcPct val="115000"/>
              </a:lnSpc>
              <a:spcAft>
                <a:spcPts val="600"/>
              </a:spcAft>
            </a:pPr>
            <a:r>
              <a:rPr sz="1500" b="0">
                <a:solidFill>
                  <a:srgbClr val="1C222B"/>
                </a:solidFill>
                <a:latin typeface="Menlo"/>
              </a:rPr>
              <a:t>                      already there. A learned kernel can be trained</a:t>
            </a:r>
          </a:p>
          <a:p>
            <a:pPr algn="l">
              <a:lnSpc>
                <a:spcPct val="115000"/>
              </a:lnSpc>
              <a:spcAft>
                <a:spcPts val="600"/>
              </a:spcAft>
            </a:pPr>
            <a:r>
              <a:rPr sz="1500" b="0">
                <a:solidFill>
                  <a:srgbClr val="1C222B"/>
                </a:solidFill>
                <a:latin typeface="Menlo"/>
              </a:rPr>
              <a:t>                      to sharpen, to fill in, to invert the blur.</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ONE KERNEL PER      a different patch for every (in, out) channel</a:t>
            </a:r>
          </a:p>
          <a:p>
            <a:pPr algn="l">
              <a:lnSpc>
                <a:spcPct val="115000"/>
              </a:lnSpc>
              <a:spcAft>
                <a:spcPts val="600"/>
              </a:spcAft>
            </a:pPr>
            <a:r>
              <a:rPr sz="1500" b="0">
                <a:solidFill>
                  <a:srgbClr val="1C222B"/>
                </a:solidFill>
                <a:latin typeface="Menlo"/>
              </a:rPr>
              <a:t>  CHANNEL PAIR        pair: a crisp edge for one feature, a smooth</a:t>
            </a:r>
          </a:p>
          <a:p>
            <a:pPr algn="l">
              <a:lnSpc>
                <a:spcPct val="115000"/>
              </a:lnSpc>
              <a:spcAft>
                <a:spcPts val="600"/>
              </a:spcAft>
            </a:pPr>
            <a:r>
              <a:rPr sz="1500" b="0">
                <a:solidFill>
                  <a:srgbClr val="1C222B"/>
                </a:solidFill>
                <a:latin typeface="Menlo"/>
              </a:rPr>
              <a:t>                      wash for another, decided by training.</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ONE OPERATION       it resizes and recombines features in a single</a:t>
            </a:r>
          </a:p>
          <a:p>
            <a:pPr algn="l">
              <a:lnSpc>
                <a:spcPct val="115000"/>
              </a:lnSpc>
              <a:spcAft>
                <a:spcPts val="600"/>
              </a:spcAft>
            </a:pPr>
            <a:r>
              <a:rPr sz="1500" b="0">
                <a:solidFill>
                  <a:srgbClr val="1C222B"/>
                </a:solidFill>
                <a:latin typeface="Menlo"/>
              </a:rPr>
              <a:t>                      step -- the resize route needs a conv after it</a:t>
            </a:r>
          </a:p>
          <a:p>
            <a:pPr algn="l">
              <a:lnSpc>
                <a:spcPct val="115000"/>
              </a:lnSpc>
              <a:spcAft>
                <a:spcPts val="600"/>
              </a:spcAft>
            </a:pPr>
            <a:r>
              <a:rPr sz="1500" b="0">
                <a:solidFill>
                  <a:srgbClr val="1C222B"/>
                </a:solidFill>
                <a:latin typeface="Menlo"/>
              </a:rPr>
              <a:t>                      anyway to do anything useful.</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And the catch, which the next slide measures: overlapping stamps mean some output pixels collect more terms than their neighbours whenever the stride does not divide the kernel size.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Set every weight to 1, and count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nvt.png"/>
          <p:cNvPicPr>
            <a:picLocks noChangeAspect="1"/>
          </p:cNvPicPr>
          <p:nvPr/>
        </p:nvPicPr>
        <p:blipFill>
          <a:blip r:embed="rId2"/>
          <a:stretch>
            <a:fillRect/>
          </a:stretch>
        </p:blipFill>
        <p:spPr>
          <a:xfrm>
            <a:off x="1456823" y="1783080"/>
            <a:ext cx="9278048" cy="36576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Feed an image of ones through each upsampler with all weights set to 1: every output pixel then reports how many input cells reached it. The rule is simple — the stamps tile evenly only when the stride divides the kernel size. k=3 with s=2 does not, and there is the checkerboard, visible in the architecture itself before any training has happened.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PSNR: the same MSE, on a log scale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q5.png"/>
          <p:cNvPicPr>
            <a:picLocks noChangeAspect="1"/>
          </p:cNvPicPr>
          <p:nvPr/>
        </p:nvPicPr>
        <p:blipFill>
          <a:blip r:embed="rId2"/>
          <a:stretch>
            <a:fillRect/>
          </a:stretch>
        </p:blipFill>
        <p:spPr>
          <a:xfrm>
            <a:off x="2709519" y="1645920"/>
            <a:ext cx="6772656" cy="509016"/>
          </a:xfrm>
          <a:prstGeom prst="rect">
            <a:avLst/>
          </a:prstGeom>
        </p:spPr>
      </p:pic>
      <p:sp>
        <p:nvSpPr>
          <p:cNvPr id="6" name="TextBox 5"/>
          <p:cNvSpPr txBox="1"/>
          <p:nvPr/>
        </p:nvSpPr>
        <p:spPr>
          <a:xfrm>
            <a:off x="777240" y="2487168"/>
            <a:ext cx="10637215" cy="822960"/>
          </a:xfrm>
          <a:prstGeom prst="rect">
            <a:avLst/>
          </a:prstGeom>
          <a:noFill/>
        </p:spPr>
        <p:txBody>
          <a:bodyPr wrap="square">
            <a:spAutoFit/>
          </a:bodyPr>
          <a:lstStyle/>
          <a:p>
            <a:pPr algn="l">
              <a:lnSpc>
                <a:spcPct val="115000"/>
              </a:lnSpc>
              <a:spcAft>
                <a:spcPts val="600"/>
              </a:spcAft>
            </a:pPr>
            <a:r>
              <a:rPr sz="1550" b="0">
                <a:solidFill>
                  <a:srgbClr val="1C222B"/>
                </a:solidFill>
                <a:latin typeface="Helvetica Neue"/>
              </a:rPr>
              <a:t>MAX is the largest possible pixel value, which is 1 here because our images live in [0, 1] — so the ratio is just 1/MSE. It carries no information MSE did not, and it is worth having anyway: a ratio in decibels is easier to feel. +3 dB means the error energy HALVED; +10 dB means it fell to a tenth. And because it is a log, the same 1 dB is a much bigger visual change at 30 dB than at 20.</a:t>
            </a:r>
          </a:p>
        </p:txBody>
      </p:sp>
      <p:pic>
        <p:nvPicPr>
          <p:cNvPr id="7" name="Picture 6" descr="psnr.png"/>
          <p:cNvPicPr>
            <a:picLocks noChangeAspect="1"/>
          </p:cNvPicPr>
          <p:nvPr/>
        </p:nvPicPr>
        <p:blipFill>
          <a:blip r:embed="rId3"/>
          <a:stretch>
            <a:fillRect/>
          </a:stretch>
        </p:blipFill>
        <p:spPr>
          <a:xfrm>
            <a:off x="1469855" y="3913632"/>
            <a:ext cx="9251985" cy="2331720"/>
          </a:xfrm>
          <a:prstGeom prst="rect">
            <a:avLst/>
          </a:prstGeom>
        </p:spPr>
      </p:pic>
      <p:sp>
        <p:nvSpPr>
          <p:cNvPr id="8" name="TextBox 7"/>
          <p:cNvSpPr txBox="1"/>
          <p:nvPr/>
        </p:nvSpPr>
        <p:spPr>
          <a:xfrm>
            <a:off x="777240" y="6291072"/>
            <a:ext cx="10637215" cy="457200"/>
          </a:xfrm>
          <a:prstGeom prst="rect">
            <a:avLst/>
          </a:prstGeom>
          <a:noFill/>
        </p:spPr>
        <p:txBody>
          <a:bodyPr wrap="square">
            <a:spAutoFit/>
          </a:bodyPr>
          <a:lstStyle/>
          <a:p>
            <a:pPr algn="ctr">
              <a:lnSpc>
                <a:spcPct val="110000"/>
              </a:lnSpc>
              <a:spcAft>
                <a:spcPts val="600"/>
              </a:spcAft>
            </a:pPr>
            <a:r>
              <a:rPr sz="1400" b="0">
                <a:solidFill>
                  <a:srgbClr val="6B7582"/>
                </a:solidFill>
                <a:latin typeface="Helvetica Neue"/>
              </a:rPr>
              <a:t>Same photo, degraded to order. And the sting in the tail: Part 2's autoencoder scores BELOW the visibly noisy 26 dB image while looking far cleaner — PSNR measures how big the error is, not what kind.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Both work. Both are blurry in exactly the same way.</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con.png"/>
          <p:cNvPicPr>
            <a:picLocks noChangeAspect="1"/>
          </p:cNvPicPr>
          <p:nvPr/>
        </p:nvPicPr>
        <p:blipFill>
          <a:blip r:embed="rId2"/>
          <a:stretch>
            <a:fillRect/>
          </a:stretch>
        </p:blipFill>
        <p:spPr>
          <a:xfrm>
            <a:off x="2414031" y="1783080"/>
            <a:ext cx="7363632" cy="32004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ConvTranspose2d: 1,734,947 params, 23.97 dB.   Upsample+Conv: 1,949,987 params, 25.22 dB. Worth having, and worth keeping in proportion — it is also the bigger model.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REAL PROBLEM</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waist is not a compression bottleneck</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10637215" cy="4645152"/>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Count the numbers. The bottleneck holds MORE of them than the image does: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input       3 x 96 x 96   =  27,648 numbers</a:t>
            </a:r>
          </a:p>
          <a:p>
            <a:pPr algn="l">
              <a:lnSpc>
                <a:spcPct val="115000"/>
              </a:lnSpc>
              <a:spcAft>
                <a:spcPts val="600"/>
              </a:spcAft>
            </a:pPr>
            <a:r>
              <a:rPr sz="1500" b="0">
                <a:solidFill>
                  <a:srgbClr val="1C222B"/>
                </a:solidFill>
                <a:latin typeface="Menlo"/>
              </a:rPr>
              <a:t>  waist     256 x 12 x 12   =  36,864 numbers     (1.3x MORE)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So whatever is being lost, it is not capacity and it is not count. It is WHERE: 144 positions have to describe 9,216 pixels, so each one speaks for an 8x8 block. Everything finer than that block — a whisker, the exact edge of an ear — has no representation left to live in.</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If that diagnosis is right, then widening the waist should sharpen the picture even as the parameter count FALLS. That is a testable prediction, so let us test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control experiment: same model, three waists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aist.png"/>
          <p:cNvPicPr>
            <a:picLocks noChangeAspect="1"/>
          </p:cNvPicPr>
          <p:nvPr/>
        </p:nvPicPr>
        <p:blipFill>
          <a:blip r:embed="rId2"/>
          <a:stretch>
            <a:fillRect/>
          </a:stretch>
        </p:blipFill>
        <p:spPr>
          <a:xfrm>
            <a:off x="2323804" y="1783080"/>
            <a:ext cx="7544086" cy="36576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Each extra pooling costs 2–4 dB and pays for it with four times the parameters. The prediction holds: the smallest waist has the most weights and the worst picture.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2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Resolution is what is missing, not capacity</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1934039"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poolings</a:t>
            </a:r>
          </a:p>
        </p:txBody>
      </p:sp>
      <p:sp>
        <p:nvSpPr>
          <p:cNvPr id="6" name="TextBox 5"/>
          <p:cNvSpPr txBox="1"/>
          <p:nvPr/>
        </p:nvSpPr>
        <p:spPr>
          <a:xfrm>
            <a:off x="2711279" y="1874519"/>
            <a:ext cx="1934039"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waist</a:t>
            </a:r>
          </a:p>
        </p:txBody>
      </p:sp>
      <p:sp>
        <p:nvSpPr>
          <p:cNvPr id="7" name="TextBox 6"/>
          <p:cNvSpPr txBox="1"/>
          <p:nvPr/>
        </p:nvSpPr>
        <p:spPr>
          <a:xfrm>
            <a:off x="4645318" y="1874519"/>
            <a:ext cx="2514250"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params</a:t>
            </a:r>
          </a:p>
        </p:txBody>
      </p:sp>
      <p:sp>
        <p:nvSpPr>
          <p:cNvPr id="8" name="TextBox 7"/>
          <p:cNvSpPr txBox="1"/>
          <p:nvPr/>
        </p:nvSpPr>
        <p:spPr>
          <a:xfrm>
            <a:off x="7159568" y="1874519"/>
            <a:ext cx="1934039"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MSE</a:t>
            </a:r>
          </a:p>
        </p:txBody>
      </p:sp>
      <p:sp>
        <p:nvSpPr>
          <p:cNvPr id="9" name="TextBox 8"/>
          <p:cNvSpPr txBox="1"/>
          <p:nvPr/>
        </p:nvSpPr>
        <p:spPr>
          <a:xfrm>
            <a:off x="9093607" y="1874519"/>
            <a:ext cx="232084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PSNR (dB)</a:t>
            </a:r>
          </a:p>
        </p:txBody>
      </p:sp>
      <p:sp>
        <p:nvSpPr>
          <p:cNvPr id="10" name="Rectangle 9"/>
          <p:cNvSpPr/>
          <p:nvPr/>
        </p:nvSpPr>
        <p:spPr>
          <a:xfrm>
            <a:off x="777240" y="2285999"/>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95726"/>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2</a:t>
            </a:r>
          </a:p>
        </p:txBody>
      </p:sp>
      <p:sp>
        <p:nvSpPr>
          <p:cNvPr id="12" name="TextBox 11"/>
          <p:cNvSpPr txBox="1"/>
          <p:nvPr/>
        </p:nvSpPr>
        <p:spPr>
          <a:xfrm>
            <a:off x="2711279" y="2395726"/>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24x24</a:t>
            </a:r>
          </a:p>
        </p:txBody>
      </p:sp>
      <p:sp>
        <p:nvSpPr>
          <p:cNvPr id="13" name="TextBox 12"/>
          <p:cNvSpPr txBox="1"/>
          <p:nvPr/>
        </p:nvSpPr>
        <p:spPr>
          <a:xfrm>
            <a:off x="4645318" y="2395726"/>
            <a:ext cx="251425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421,795</a:t>
            </a:r>
          </a:p>
        </p:txBody>
      </p:sp>
      <p:sp>
        <p:nvSpPr>
          <p:cNvPr id="14" name="TextBox 13"/>
          <p:cNvSpPr txBox="1"/>
          <p:nvPr/>
        </p:nvSpPr>
        <p:spPr>
          <a:xfrm>
            <a:off x="7159568" y="2395726"/>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0.0015</a:t>
            </a:r>
          </a:p>
        </p:txBody>
      </p:sp>
      <p:sp>
        <p:nvSpPr>
          <p:cNvPr id="15" name="TextBox 14"/>
          <p:cNvSpPr txBox="1"/>
          <p:nvPr/>
        </p:nvSpPr>
        <p:spPr>
          <a:xfrm>
            <a:off x="9093607" y="2395726"/>
            <a:ext cx="232084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28.19</a:t>
            </a:r>
          </a:p>
        </p:txBody>
      </p:sp>
      <p:sp>
        <p:nvSpPr>
          <p:cNvPr id="16" name="TextBox 15"/>
          <p:cNvSpPr txBox="1"/>
          <p:nvPr/>
        </p:nvSpPr>
        <p:spPr>
          <a:xfrm>
            <a:off x="777240" y="2816350"/>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3</a:t>
            </a:r>
          </a:p>
        </p:txBody>
      </p:sp>
      <p:sp>
        <p:nvSpPr>
          <p:cNvPr id="17" name="TextBox 16"/>
          <p:cNvSpPr txBox="1"/>
          <p:nvPr/>
        </p:nvSpPr>
        <p:spPr>
          <a:xfrm>
            <a:off x="2711279" y="2816350"/>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12x12</a:t>
            </a:r>
          </a:p>
        </p:txBody>
      </p:sp>
      <p:sp>
        <p:nvSpPr>
          <p:cNvPr id="18" name="TextBox 17"/>
          <p:cNvSpPr txBox="1"/>
          <p:nvPr/>
        </p:nvSpPr>
        <p:spPr>
          <a:xfrm>
            <a:off x="4645318" y="2816350"/>
            <a:ext cx="251425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1,734,947</a:t>
            </a:r>
          </a:p>
        </p:txBody>
      </p:sp>
      <p:sp>
        <p:nvSpPr>
          <p:cNvPr id="19" name="TextBox 18"/>
          <p:cNvSpPr txBox="1"/>
          <p:nvPr/>
        </p:nvSpPr>
        <p:spPr>
          <a:xfrm>
            <a:off x="7159568" y="2816350"/>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0.0040</a:t>
            </a:r>
          </a:p>
        </p:txBody>
      </p:sp>
      <p:sp>
        <p:nvSpPr>
          <p:cNvPr id="20" name="TextBox 19"/>
          <p:cNvSpPr txBox="1"/>
          <p:nvPr/>
        </p:nvSpPr>
        <p:spPr>
          <a:xfrm>
            <a:off x="9093607" y="2816350"/>
            <a:ext cx="232084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23.97</a:t>
            </a:r>
          </a:p>
        </p:txBody>
      </p:sp>
      <p:sp>
        <p:nvSpPr>
          <p:cNvPr id="21" name="TextBox 20"/>
          <p:cNvSpPr txBox="1"/>
          <p:nvPr/>
        </p:nvSpPr>
        <p:spPr>
          <a:xfrm>
            <a:off x="777240" y="3236974"/>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4</a:t>
            </a:r>
          </a:p>
        </p:txBody>
      </p:sp>
      <p:sp>
        <p:nvSpPr>
          <p:cNvPr id="22" name="TextBox 21"/>
          <p:cNvSpPr txBox="1"/>
          <p:nvPr/>
        </p:nvSpPr>
        <p:spPr>
          <a:xfrm>
            <a:off x="2711279" y="3236974"/>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6x6</a:t>
            </a:r>
          </a:p>
        </p:txBody>
      </p:sp>
      <p:sp>
        <p:nvSpPr>
          <p:cNvPr id="23" name="TextBox 22"/>
          <p:cNvSpPr txBox="1"/>
          <p:nvPr/>
        </p:nvSpPr>
        <p:spPr>
          <a:xfrm>
            <a:off x="4645318" y="3236974"/>
            <a:ext cx="251425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6,982,691</a:t>
            </a:r>
          </a:p>
        </p:txBody>
      </p:sp>
      <p:sp>
        <p:nvSpPr>
          <p:cNvPr id="24" name="TextBox 23"/>
          <p:cNvSpPr txBox="1"/>
          <p:nvPr/>
        </p:nvSpPr>
        <p:spPr>
          <a:xfrm>
            <a:off x="7159568" y="3236974"/>
            <a:ext cx="1934039"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0.0076</a:t>
            </a:r>
          </a:p>
        </p:txBody>
      </p:sp>
      <p:sp>
        <p:nvSpPr>
          <p:cNvPr id="25" name="TextBox 24"/>
          <p:cNvSpPr txBox="1"/>
          <p:nvPr/>
        </p:nvSpPr>
        <p:spPr>
          <a:xfrm>
            <a:off x="9093607" y="3236974"/>
            <a:ext cx="232084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21.21</a:t>
            </a:r>
          </a:p>
        </p:txBody>
      </p:sp>
      <p:sp>
        <p:nvSpPr>
          <p:cNvPr id="26" name="TextBox 25"/>
          <p:cNvSpPr txBox="1"/>
          <p:nvPr/>
        </p:nvSpPr>
        <p:spPr>
          <a:xfrm>
            <a:off x="777240" y="5806440"/>
            <a:ext cx="10637215" cy="640080"/>
          </a:xfrm>
          <a:prstGeom prst="rect">
            <a:avLst/>
          </a:prstGeom>
          <a:noFill/>
        </p:spPr>
        <p:txBody>
          <a:bodyPr wrap="square">
            <a:spAutoFit/>
          </a:bodyPr>
          <a:lstStyle/>
          <a:p>
            <a:pPr algn="l">
              <a:lnSpc>
                <a:spcPct val="115000"/>
              </a:lnSpc>
              <a:spcAft>
                <a:spcPts val="600"/>
              </a:spcAft>
            </a:pPr>
            <a:r>
              <a:rPr sz="1400" b="0">
                <a:solidFill>
                  <a:srgbClr val="6B7582"/>
                </a:solidFill>
                <a:latin typeface="Helvetica Neue"/>
              </a:rPr>
              <a:t>python part2b_waist_sweep.py  (params recomputed live from the model). And we cannot just keep the 24x24 waist: part 1 showed we need the deep pooling for context. We need the deep waist AND the detail. Part 4 stops choosing.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2377440"/>
            <a:ext cx="10637215" cy="365760"/>
          </a:xfrm>
          <a:prstGeom prst="rect">
            <a:avLst/>
          </a:prstGeom>
          <a:noFill/>
        </p:spPr>
        <p:txBody>
          <a:bodyPr wrap="square">
            <a:spAutoFit/>
          </a:bodyPr>
          <a:lstStyle/>
          <a:p>
            <a:pPr algn="l">
              <a:lnSpc>
                <a:spcPct val="100000"/>
              </a:lnSpc>
              <a:spcAft>
                <a:spcPts val="600"/>
              </a:spcAft>
            </a:pPr>
            <a:r>
              <a:rPr sz="1400" b="1">
                <a:solidFill>
                  <a:srgbClr val="C2551E"/>
                </a:solidFill>
                <a:latin typeface="Helvetica Neue"/>
              </a:rPr>
              <a:t>PART 3</a:t>
            </a:r>
          </a:p>
        </p:txBody>
      </p:sp>
      <p:sp>
        <p:nvSpPr>
          <p:cNvPr id="3" name="TextBox 2"/>
          <p:cNvSpPr txBox="1"/>
          <p:nvPr/>
        </p:nvSpPr>
        <p:spPr>
          <a:xfrm>
            <a:off x="777240" y="2743200"/>
            <a:ext cx="10637215" cy="1097280"/>
          </a:xfrm>
          <a:prstGeom prst="rect">
            <a:avLst/>
          </a:prstGeom>
          <a:noFill/>
        </p:spPr>
        <p:txBody>
          <a:bodyPr wrap="square">
            <a:spAutoFit/>
          </a:bodyPr>
          <a:lstStyle/>
          <a:p>
            <a:pPr algn="l">
              <a:lnSpc>
                <a:spcPct val="100000"/>
              </a:lnSpc>
              <a:spcAft>
                <a:spcPts val="600"/>
              </a:spcAft>
            </a:pPr>
            <a:r>
              <a:rPr sz="4000" b="1">
                <a:solidFill>
                  <a:srgbClr val="1F4E79"/>
                </a:solidFill>
                <a:latin typeface="Helvetica Neue"/>
              </a:rPr>
              <a:t>Point the decoder at the real task</a:t>
            </a:r>
          </a:p>
        </p:txBody>
      </p:sp>
      <p:sp>
        <p:nvSpPr>
          <p:cNvPr id="4" name="Rectangle 3"/>
          <p:cNvSpPr/>
          <p:nvPr/>
        </p:nvSpPr>
        <p:spPr>
          <a:xfrm>
            <a:off x="777240" y="3931920"/>
            <a:ext cx="2743200"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206240"/>
            <a:ext cx="8961120" cy="1097280"/>
          </a:xfrm>
          <a:prstGeom prst="rect">
            <a:avLst/>
          </a:prstGeom>
          <a:noFill/>
        </p:spPr>
        <p:txBody>
          <a:bodyPr wrap="square">
            <a:spAutoFit/>
          </a:bodyPr>
          <a:lstStyle/>
          <a:p>
            <a:pPr algn="l">
              <a:lnSpc>
                <a:spcPct val="120000"/>
              </a:lnSpc>
              <a:spcAft>
                <a:spcPts val="600"/>
              </a:spcAft>
            </a:pPr>
            <a:r>
              <a:rPr sz="1800" b="0">
                <a:solidFill>
                  <a:srgbClr val="6B7582"/>
                </a:solidFill>
                <a:latin typeface="Helvetica Neue"/>
              </a:rPr>
              <a:t>Two lines change, and both follow from one fact: the output is now a class per pixel, not a colour per pixel.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3 · THE IDEA</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same network, with its last layer re-read</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292608"/>
          </a:xfrm>
          <a:prstGeom prst="rect">
            <a:avLst/>
          </a:prstGeom>
          <a:noFill/>
        </p:spPr>
        <p:txBody>
          <a:bodyPr wrap="square">
            <a:spAutoFit/>
          </a:bodyPr>
          <a:lstStyle/>
          <a:p>
            <a:pPr algn="l">
              <a:lnSpc>
                <a:spcPct val="100000"/>
              </a:lnSpc>
              <a:spcAft>
                <a:spcPts val="600"/>
              </a:spcAft>
            </a:pPr>
            <a:r>
              <a:rPr sz="1350" b="1">
                <a:solidFill>
                  <a:srgbClr val="6B7582"/>
                </a:solidFill>
                <a:latin typeface="Menlo"/>
              </a:rPr>
              <a:t>part3_encoder_decoder.py  ·  class SegAutoencoder(ConvAutoencoder)</a:t>
            </a:r>
          </a:p>
        </p:txBody>
      </p:sp>
      <p:sp>
        <p:nvSpPr>
          <p:cNvPr id="6" name="TextBox 5"/>
          <p:cNvSpPr txBox="1"/>
          <p:nvPr/>
        </p:nvSpPr>
        <p:spPr>
          <a:xfrm>
            <a:off x="777240" y="2121408"/>
            <a:ext cx="10637215" cy="4114800"/>
          </a:xfrm>
          <a:prstGeom prst="rect">
            <a:avLst/>
          </a:prstGeom>
          <a:noFill/>
        </p:spPr>
        <p:txBody>
          <a:bodyPr wrap="square">
            <a:spAutoFit/>
          </a:bodyPr>
          <a:lstStyle/>
          <a:p>
            <a:pPr algn="l">
              <a:lnSpc>
                <a:spcPct val="108000"/>
              </a:lnSpc>
              <a:spcAft>
                <a:spcPts val="600"/>
              </a:spcAft>
            </a:pPr>
            <a:r>
              <a:rPr sz="1450" b="0">
                <a:solidFill>
                  <a:srgbClr val="1C222B"/>
                </a:solidFill>
                <a:latin typeface="Menlo"/>
              </a:rPr>
              <a:t>  class SegAutoencoder(ConvAutoencoder):</a:t>
            </a:r>
          </a:p>
          <a:p>
            <a:pPr algn="l">
              <a:lnSpc>
                <a:spcPct val="108000"/>
              </a:lnSpc>
              <a:spcAft>
                <a:spcPts val="600"/>
              </a:spcAft>
            </a:pPr>
            <a:r>
              <a:rPr sz="1450" b="0">
                <a:solidFill>
                  <a:srgbClr val="1C222B"/>
                </a:solidFill>
                <a:latin typeface="Menlo"/>
              </a:rPr>
              <a:t>      def __init__(self, n_classes=3, base=32, mode="convt"):</a:t>
            </a:r>
          </a:p>
          <a:p>
            <a:pPr algn="l">
              <a:lnSpc>
                <a:spcPct val="108000"/>
              </a:lnSpc>
              <a:spcAft>
                <a:spcPts val="600"/>
              </a:spcAft>
            </a:pPr>
            <a:r>
              <a:rPr sz="1450" b="0">
                <a:solidFill>
                  <a:srgbClr val="1C222B"/>
                </a:solidFill>
                <a:latin typeface="Menlo"/>
              </a:rPr>
              <a:t>          super().__init__(in_ch=3, out_ch=n_classes, base=base, ...)</a:t>
            </a:r>
          </a:p>
          <a:p>
            <a:pPr algn="l">
              <a:lnSpc>
                <a:spcPct val="108000"/>
              </a:lnSpc>
              <a:spcAft>
                <a:spcPts val="600"/>
              </a:spcAft>
            </a:pPr>
            <a:r>
              <a:rPr sz="1450" b="1">
                <a:solidFill>
                  <a:srgbClr val="C2551E"/>
                </a:solidFill>
                <a:latin typeface="Menlo"/>
              </a:rPr>
              <a:t>          # was: Sequential(Conv1x1(32 -&gt; 3), Sigmoid)</a:t>
            </a:r>
          </a:p>
          <a:p>
            <a:pPr algn="l">
              <a:lnSpc>
                <a:spcPct val="108000"/>
              </a:lnSpc>
              <a:spcAft>
                <a:spcPts val="600"/>
              </a:spcAft>
            </a:pPr>
            <a:r>
              <a:rPr sz="1450" b="1">
                <a:solidFill>
                  <a:srgbClr val="C2551E"/>
                </a:solidFill>
                <a:latin typeface="Menlo"/>
              </a:rPr>
              <a:t>          self.head = nn.Conv2d(base, n_classes, kernel_size=1)</a:t>
            </a:r>
          </a:p>
          <a:p>
            <a:pPr algn="l">
              <a:lnSpc>
                <a:spcPct val="108000"/>
              </a:lnSpc>
              <a:spcAft>
                <a:spcPts val="600"/>
              </a:spcAft>
            </a:pPr>
            <a:r>
              <a:rPr sz="1450" b="0">
                <a:solidFill>
                  <a:srgbClr val="1C222B"/>
                </a:solidFill>
                <a:latin typeface="Menlo"/>
              </a:rPr>
              <a:t>  </a:t>
            </a:r>
          </a:p>
          <a:p>
            <a:pPr algn="l">
              <a:lnSpc>
                <a:spcPct val="108000"/>
              </a:lnSpc>
              <a:spcAft>
                <a:spcPts val="600"/>
              </a:spcAft>
            </a:pPr>
            <a:r>
              <a:rPr sz="1450" b="1">
                <a:solidFill>
                  <a:srgbClr val="C2551E"/>
                </a:solidFill>
                <a:latin typeface="Menlo"/>
              </a:rPr>
              <a:t>  loss_fn = nn.CrossEntropyLoss()      # was nn.MSELoss()</a:t>
            </a:r>
          </a:p>
        </p:txBody>
      </p:sp>
      <p:sp>
        <p:nvSpPr>
          <p:cNvPr id="7" name="TextBox 6"/>
          <p:cNvSpPr txBox="1"/>
          <p:nvPr/>
        </p:nvSpPr>
        <p:spPr>
          <a:xfrm>
            <a:off x="777240" y="5925312"/>
            <a:ext cx="10637215" cy="640080"/>
          </a:xfrm>
          <a:prstGeom prst="rect">
            <a:avLst/>
          </a:prstGeom>
          <a:noFill/>
        </p:spPr>
        <p:txBody>
          <a:bodyPr wrap="square">
            <a:spAutoFit/>
          </a:bodyPr>
          <a:lstStyle/>
          <a:p>
            <a:pPr algn="l">
              <a:lnSpc>
                <a:spcPct val="115000"/>
              </a:lnSpc>
              <a:spcAft>
                <a:spcPts val="600"/>
              </a:spcAft>
            </a:pPr>
            <a:r>
              <a:rPr sz="1450" b="0">
                <a:solidFill>
                  <a:srgbClr val="6B7582"/>
                </a:solidFill>
                <a:latin typeface="Helvetica Neue"/>
              </a:rPr>
              <a:t>Subclassing rather than rewriting is the point: encoder, bottleneck, upsampling and decoder are character-for-character the network that was rebuilding cat photos a minute ago. The Sigmoid goes because those 3 numbers per pixel are now logits, and CrossEntropyLoss applies log_softmax itself — squashing them first is the commonest bug here.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3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 learned decoder is worth +0.225 mIoU over stretching the logits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d3.png"/>
          <p:cNvPicPr>
            <a:picLocks noChangeAspect="1"/>
          </p:cNvPicPr>
          <p:nvPr/>
        </p:nvPicPr>
        <p:blipFill>
          <a:blip r:embed="rId2"/>
          <a:stretch>
            <a:fillRect/>
          </a:stretch>
        </p:blipFill>
        <p:spPr>
          <a:xfrm>
            <a:off x="2984700" y="1783080"/>
            <a:ext cx="6222295" cy="35661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Part 1's fixed Upsample(x8) 0.463  -&gt;  Part 2's ConvTranspose2d decoder 0.688. Same encoder, same loss, same 15 epochs: the only thing that changed is whether the way back up has weights. The border class more than doubles, 0.179 -&gt; 0.417.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3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same thing, seen during training</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urves3.png"/>
          <p:cNvPicPr>
            <a:picLocks noChangeAspect="1"/>
          </p:cNvPicPr>
          <p:nvPr/>
        </p:nvPicPr>
        <p:blipFill>
          <a:blip r:embed="rId2"/>
          <a:stretch>
            <a:fillRect/>
          </a:stretch>
        </p:blipFill>
        <p:spPr>
          <a:xfrm>
            <a:off x="2298109" y="1783080"/>
            <a:ext cx="7595476" cy="36576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Training cross-entropy per epoch, from the runs that wrote the checkpoints. The fixed-Upsample model flattens out early and stays there — it is not short of epochs, it is short of resolution, and no amount of further training buys that back.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3 · A FREE QUESTION</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Part 2 trained this body with no labels. Why start from random?</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10637215" cy="4645152"/>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Loading part 2's autoencoder weights transfers 104 of 106 tensors — everything except the head, which predicted colours and is no use here.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model.load_state_dict(torch.load("part2_ae_convt.pt"), strict=False)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strict=False is what makes it work: every encoder and decoder key matches, the head keys do not, so the body loads and the head stays random. Those weights already know what fur looks like and where edges are — nothing about that knowledge is specific to reconstruction.</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This is self-supervised pretraining, and it is the reason anybody cares about autoencoders in practice. The unlabelled photo is free; the trimap a human painted by hand is not.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3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It buys nothing — until labels are scarce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retrain.png"/>
          <p:cNvPicPr>
            <a:picLocks noChangeAspect="1"/>
          </p:cNvPicPr>
          <p:nvPr/>
        </p:nvPicPr>
        <p:blipFill>
          <a:blip r:embed="rId2"/>
          <a:stretch>
            <a:fillRect/>
          </a:stretch>
        </p:blipFill>
        <p:spPr>
          <a:xfrm>
            <a:off x="2974805" y="1572768"/>
            <a:ext cx="6242085" cy="2880360"/>
          </a:xfrm>
          <a:prstGeom prst="rect">
            <a:avLst/>
          </a:prstGeom>
        </p:spPr>
      </p:pic>
      <p:sp>
        <p:nvSpPr>
          <p:cNvPr id="6" name="TextBox 5"/>
          <p:cNvSpPr txBox="1"/>
          <p:nvPr/>
        </p:nvSpPr>
        <p:spPr>
          <a:xfrm>
            <a:off x="777240" y="4590288"/>
            <a:ext cx="10637215" cy="1828800"/>
          </a:xfrm>
          <a:prstGeom prst="rect">
            <a:avLst/>
          </a:prstGeom>
          <a:noFill/>
        </p:spPr>
        <p:txBody>
          <a:bodyPr wrap="square">
            <a:spAutoFit/>
          </a:bodyPr>
          <a:lstStyle/>
          <a:p>
            <a:pPr algn="l">
              <a:lnSpc>
                <a:spcPct val="114000"/>
              </a:lnSpc>
              <a:spcAft>
                <a:spcPts val="600"/>
              </a:spcAft>
            </a:pPr>
            <a:r>
              <a:rPr sz="1700" b="1">
                <a:solidFill>
                  <a:srgbClr val="1C222B"/>
                </a:solidFill>
                <a:latin typeface="Helvetica Neue"/>
              </a:rPr>
              <a:t>What "500 labels" means, because it is the hinge of this chart:</a:t>
            </a:r>
          </a:p>
          <a:p>
            <a:pPr algn="l">
              <a:lnSpc>
                <a:spcPct val="114000"/>
              </a:lnSpc>
              <a:spcAft>
                <a:spcPts val="600"/>
              </a:spcAft>
            </a:pPr>
            <a:r>
              <a:rPr sz="1600" b="0">
                <a:solidFill>
                  <a:srgbClr val="1C222B"/>
                </a:solidFill>
                <a:latin typeface="Helvetica Neue"/>
              </a:rPr>
              <a:t>A label here IS the ground-truth trimap — one mask a human painted, pixel by pixel, for one photo. --n-train 500 keeps a fixed random 500 of the 3,680 (photo, mask) pairs and simply never shows the model the other 3,180 masks.</a:t>
            </a:r>
          </a:p>
          <a:p>
            <a:pPr algn="l">
              <a:lnSpc>
                <a:spcPct val="114000"/>
              </a:lnSpc>
              <a:spcAft>
                <a:spcPts val="600"/>
              </a:spcAft>
            </a:pPr>
            <a:r>
              <a:rPr sz="1600" b="0">
                <a:solidFill>
                  <a:srgbClr val="6B7582"/>
                </a:solidFill>
                <a:latin typeface="Helvetica Neue"/>
              </a:rPr>
              <a:t>The asymmetry is the point: Part 2's autoencoder still trained on all 3,680 PHOTOS, because it never needed a mask. So the orange bar is 500 masks + 3,680 unlabelled photos, against the blue bar's 500 masks alone — and that is the trade every real project faces. Photographs are free; the human's afternoon is not.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3 · WHAT IS STILL WRONG</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It knows where the boundary roughly is, and cannot commit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10637215" cy="4572000"/>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The border class is the worst of the three by a wide margin: 0.417, against 0.774 for the pet and 0.872 for the background.</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It is the same complaint as part 2's blurry whiskers, in a different currency. There the lost detail cost us texture and looked soft; here it costs labelled pixels and is measurable.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And the cause has not changed: the information needed to place that boundary was destroyed at the 12x12 waist, before the decoder ever ran.</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900" b="1">
                <a:solidFill>
                  <a:srgbClr val="1C222B"/>
                </a:solidFill>
                <a:latin typeface="Helvetica Neue"/>
              </a:rPr>
              <a:t>&gt;&gt; So stop destroying it.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2377440"/>
            <a:ext cx="10637215" cy="365760"/>
          </a:xfrm>
          <a:prstGeom prst="rect">
            <a:avLst/>
          </a:prstGeom>
          <a:noFill/>
        </p:spPr>
        <p:txBody>
          <a:bodyPr wrap="square">
            <a:spAutoFit/>
          </a:bodyPr>
          <a:lstStyle/>
          <a:p>
            <a:pPr algn="l">
              <a:lnSpc>
                <a:spcPct val="100000"/>
              </a:lnSpc>
              <a:spcAft>
                <a:spcPts val="600"/>
              </a:spcAft>
            </a:pPr>
            <a:r>
              <a:rPr sz="1400" b="1">
                <a:solidFill>
                  <a:srgbClr val="C2551E"/>
                </a:solidFill>
                <a:latin typeface="Helvetica Neue"/>
              </a:rPr>
              <a:t>PART 4</a:t>
            </a:r>
          </a:p>
        </p:txBody>
      </p:sp>
      <p:sp>
        <p:nvSpPr>
          <p:cNvPr id="3" name="TextBox 2"/>
          <p:cNvSpPr txBox="1"/>
          <p:nvPr/>
        </p:nvSpPr>
        <p:spPr>
          <a:xfrm>
            <a:off x="777240" y="2743200"/>
            <a:ext cx="10637215" cy="1097280"/>
          </a:xfrm>
          <a:prstGeom prst="rect">
            <a:avLst/>
          </a:prstGeom>
          <a:noFill/>
        </p:spPr>
        <p:txBody>
          <a:bodyPr wrap="square">
            <a:spAutoFit/>
          </a:bodyPr>
          <a:lstStyle/>
          <a:p>
            <a:pPr algn="l">
              <a:lnSpc>
                <a:spcPct val="100000"/>
              </a:lnSpc>
              <a:spcAft>
                <a:spcPts val="600"/>
              </a:spcAft>
            </a:pPr>
            <a:r>
              <a:rPr sz="4000" b="1">
                <a:solidFill>
                  <a:srgbClr val="1F4E79"/>
                </a:solidFill>
                <a:latin typeface="Helvetica Neue"/>
              </a:rPr>
              <a:t>U-Net</a:t>
            </a:r>
          </a:p>
        </p:txBody>
      </p:sp>
      <p:sp>
        <p:nvSpPr>
          <p:cNvPr id="4" name="Rectangle 3"/>
          <p:cNvSpPr/>
          <p:nvPr/>
        </p:nvSpPr>
        <p:spPr>
          <a:xfrm>
            <a:off x="777240" y="3931920"/>
            <a:ext cx="2743200"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206240"/>
            <a:ext cx="8961120" cy="1097280"/>
          </a:xfrm>
          <a:prstGeom prst="rect">
            <a:avLst/>
          </a:prstGeom>
          <a:noFill/>
        </p:spPr>
        <p:txBody>
          <a:bodyPr wrap="square">
            <a:spAutoFit/>
          </a:bodyPr>
          <a:lstStyle/>
          <a:p>
            <a:pPr algn="l">
              <a:lnSpc>
                <a:spcPct val="120000"/>
              </a:lnSpc>
              <a:spcAft>
                <a:spcPts val="600"/>
              </a:spcAft>
            </a:pPr>
            <a:r>
              <a:rPr sz="1800" b="0">
                <a:solidFill>
                  <a:srgbClr val="6B7582"/>
                </a:solidFill>
                <a:latin typeface="Helvetica Neue"/>
              </a:rPr>
              <a:t>On the way down, enc1 computed a 32 x 96 x 96 map that still had the whiskers in it. We pooled it, used it once, and threw it away.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IDEA</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Hand the encoder's detail forward, across the gap</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19072"/>
            <a:ext cx="10637215" cy="4681728"/>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Keep every encoder feature map. When the decoder climbs back to that resolution, staple the saved map onto its own features before continuing.</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x = self.up3(bottleneck)            # 12x12 -&gt; 24x24</a:t>
            </a:r>
          </a:p>
          <a:p>
            <a:pPr algn="l">
              <a:lnSpc>
                <a:spcPct val="115000"/>
              </a:lnSpc>
              <a:spcAft>
                <a:spcPts val="600"/>
              </a:spcAft>
            </a:pPr>
            <a:r>
              <a:rPr sz="1500" b="0">
                <a:solidFill>
                  <a:srgbClr val="1C222B"/>
                </a:solidFill>
                <a:latin typeface="Menlo"/>
              </a:rPr>
              <a:t>  x = torch.cat([x, skip3], dim=1)    # &lt;- the whole idea</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The decoder now has two sources at every resolution:</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from below, upsampled:  coarse but semantically informed</a:t>
            </a:r>
          </a:p>
          <a:p>
            <a:pPr algn="l">
              <a:lnSpc>
                <a:spcPct val="115000"/>
              </a:lnSpc>
              <a:spcAft>
                <a:spcPts val="600"/>
              </a:spcAft>
            </a:pPr>
            <a:r>
              <a:rPr sz="1500" b="0">
                <a:solidFill>
                  <a:srgbClr val="1C222B"/>
                </a:solidFill>
                <a:latin typeface="Menlo"/>
              </a:rPr>
              <a:t>                          "this is a cat, lying down, facing left"</a:t>
            </a:r>
          </a:p>
          <a:p>
            <a:pPr algn="l">
              <a:lnSpc>
                <a:spcPct val="115000"/>
              </a:lnSpc>
              <a:spcAft>
                <a:spcPts val="600"/>
              </a:spcAft>
            </a:pPr>
            <a:r>
              <a:rPr sz="1500" b="0">
                <a:solidFill>
                  <a:srgbClr val="1C222B"/>
                </a:solidFill>
                <a:latin typeface="Menlo"/>
              </a:rPr>
              <a:t>  from the side, skipped:  sharp but naive</a:t>
            </a:r>
          </a:p>
          <a:p>
            <a:pPr algn="l">
              <a:lnSpc>
                <a:spcPct val="115000"/>
              </a:lnSpc>
              <a:spcAft>
                <a:spcPts val="600"/>
              </a:spcAft>
            </a:pPr>
            <a:r>
              <a:rPr sz="1500" b="0">
                <a:solidFill>
                  <a:srgbClr val="1C222B"/>
                </a:solidFill>
                <a:latin typeface="Menlo"/>
              </a:rPr>
              <a:t>                          "there is a strong edge at exactly this pixel"</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Its job shrinks from 'hallucinate the detail' to 'decide which of these sharp edges are real, given what I know about the scene'.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MODEL</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Same left half, same waist, plus three arrows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_unet.png"/>
          <p:cNvPicPr>
            <a:picLocks noChangeAspect="1"/>
          </p:cNvPicPr>
          <p:nvPr/>
        </p:nvPicPr>
        <p:blipFill>
          <a:blip r:embed="rId2"/>
          <a:stretch>
            <a:fillRect/>
          </a:stretch>
        </p:blipFill>
        <p:spPr>
          <a:xfrm>
            <a:off x="1459966" y="1783080"/>
            <a:ext cx="9271763" cy="38862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The U is not decoration: because padding=1 keeps sizes fixed between pools, encoder level k and decoder level k are guaranteed to have the same height and width. The symmetry IS the alignment guarantee.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MATHS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cat, not add — and what that does to the channel counts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q6.png"/>
          <p:cNvPicPr>
            <a:picLocks noChangeAspect="1"/>
          </p:cNvPicPr>
          <p:nvPr/>
        </p:nvPicPr>
        <p:blipFill>
          <a:blip r:embed="rId2"/>
          <a:stretch>
            <a:fillRect/>
          </a:stretch>
        </p:blipFill>
        <p:spPr>
          <a:xfrm>
            <a:off x="1143000" y="1783080"/>
            <a:ext cx="9704832" cy="402336"/>
          </a:xfrm>
          <a:prstGeom prst="rect">
            <a:avLst/>
          </a:prstGeom>
        </p:spPr>
      </p:pic>
      <p:sp>
        <p:nvSpPr>
          <p:cNvPr id="6" name="TextBox 5"/>
          <p:cNvSpPr txBox="1"/>
          <p:nvPr/>
        </p:nvSpPr>
        <p:spPr>
          <a:xfrm>
            <a:off x="777240" y="2423160"/>
            <a:ext cx="10637215" cy="457200"/>
          </a:xfrm>
          <a:prstGeom prst="rect">
            <a:avLst/>
          </a:prstGeom>
          <a:noFill/>
        </p:spPr>
        <p:txBody>
          <a:bodyPr wrap="square">
            <a:spAutoFit/>
          </a:bodyPr>
          <a:lstStyle/>
          <a:p>
            <a:pPr algn="l">
              <a:lnSpc>
                <a:spcPct val="115000"/>
              </a:lnSpc>
              <a:spcAft>
                <a:spcPts val="600"/>
              </a:spcAft>
            </a:pPr>
            <a:r>
              <a:rPr sz="1700" b="0">
                <a:solidFill>
                  <a:srgbClr val="1C222B"/>
                </a:solidFill>
                <a:latin typeface="Helvetica Neue"/>
              </a:rPr>
              <a:t>Adding (the ResNet move) sums the two sources irreversibly. Concatenating keeps both, so the next convolution can learn how much to trust each one. Both designs exist; U-Net concatenates.</a:t>
            </a:r>
          </a:p>
        </p:txBody>
      </p:sp>
      <p:sp>
        <p:nvSpPr>
          <p:cNvPr id="7" name="TextBox 6"/>
          <p:cNvSpPr txBox="1"/>
          <p:nvPr/>
        </p:nvSpPr>
        <p:spPr>
          <a:xfrm>
            <a:off x="777240" y="3111754"/>
            <a:ext cx="10637215" cy="457200"/>
          </a:xfrm>
          <a:prstGeom prst="rect">
            <a:avLst/>
          </a:prstGeom>
          <a:noFill/>
        </p:spPr>
        <p:txBody>
          <a:bodyPr wrap="square">
            <a:spAutoFit/>
          </a:bodyPr>
          <a:lstStyle/>
          <a:p>
            <a:pPr algn="l">
              <a:lnSpc>
                <a:spcPct val="115000"/>
              </a:lnSpc>
              <a:spcAft>
                <a:spcPts val="600"/>
              </a:spcAft>
            </a:pPr>
            <a:r>
              <a:rPr sz="1800" b="1">
                <a:solidFill>
                  <a:srgbClr val="1C222B"/>
                </a:solidFill>
                <a:latin typeface="Helvetica Neue"/>
              </a:rPr>
              <a:t>The consequence is the bug you are about to write: every decoder block's INPUT channel count doubles.</a:t>
            </a:r>
          </a:p>
        </p:txBody>
      </p:sp>
      <p:pic>
        <p:nvPicPr>
          <p:cNvPr id="8" name="Picture 7" descr="eq7.png"/>
          <p:cNvPicPr>
            <a:picLocks noChangeAspect="1"/>
          </p:cNvPicPr>
          <p:nvPr/>
        </p:nvPicPr>
        <p:blipFill>
          <a:blip r:embed="rId3"/>
          <a:stretch>
            <a:fillRect/>
          </a:stretch>
        </p:blipFill>
        <p:spPr>
          <a:xfrm>
            <a:off x="1143000" y="3783838"/>
            <a:ext cx="10637215" cy="547889"/>
          </a:xfrm>
          <a:prstGeom prst="rect">
            <a:avLst/>
          </a:prstGeom>
        </p:spPr>
      </p:pic>
      <p:sp>
        <p:nvSpPr>
          <p:cNvPr id="9" name="TextBox 8"/>
          <p:cNvSpPr txBox="1"/>
          <p:nvPr/>
        </p:nvSpPr>
        <p:spPr>
          <a:xfrm>
            <a:off x="777240" y="4569471"/>
            <a:ext cx="10637215" cy="457200"/>
          </a:xfrm>
          <a:prstGeom prst="rect">
            <a:avLst/>
          </a:prstGeom>
          <a:noFill/>
        </p:spPr>
        <p:txBody>
          <a:bodyPr wrap="square">
            <a:spAutoFit/>
          </a:bodyPr>
          <a:lstStyle/>
          <a:p>
            <a:pPr algn="l">
              <a:lnSpc>
                <a:spcPct val="115000"/>
              </a:lnSpc>
              <a:spcAft>
                <a:spcPts val="600"/>
              </a:spcAft>
            </a:pPr>
            <a:r>
              <a:rPr sz="1500" b="0">
                <a:solidFill>
                  <a:srgbClr val="6B7582"/>
                </a:solidFill>
                <a:latin typeface="Helvetica Neue"/>
              </a:rPr>
              <a:t>The error message is a channel mismatch inside Conv2d, which points at the conv — not at the cat that caused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WHY IT SHOULD HELP</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There is now a path that never passes through the waist</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4663440"/>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Without skips, every route from input pixel to output pixel goes through the 12x12 bottleneck. The finest thing the output can express is an 8x8 block, and no amount of decoder capacity changes that — part 2's waist sweep measured exactly this.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With skips, enc1's 96x96 map reaches dec1 without ever being pooled. The network CAN represent a one-pixel edge, because there is a stride-1 path from the image to the answer.</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900" b="1">
                <a:solidFill>
                  <a:srgbClr val="1C222B"/>
                </a:solidFill>
                <a:latin typeface="Helvetica Neue"/>
              </a:rPr>
              <a:t>&gt;&gt; So the prediction is specific, and that makes it falsifiable: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the gain should land on the BORDER class, not spread evenly</a:t>
            </a:r>
          </a:p>
          <a:p>
            <a:pPr algn="l">
              <a:lnSpc>
                <a:spcPct val="115000"/>
              </a:lnSpc>
              <a:spcAft>
                <a:spcPts val="600"/>
              </a:spcAft>
            </a:pPr>
            <a:r>
              <a:rPr sz="1500" b="0">
                <a:solidFill>
                  <a:srgbClr val="1C222B"/>
                </a:solidFill>
                <a:latin typeface="Menlo"/>
              </a:rPr>
              <a:t>  the gain should appear NEAR boundaries and vanish far from them</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Both are testable. Part 5 tests the second one.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WHAT A SKIP CARRIES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three tensors the decoder is handed</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kipmaps.png"/>
          <p:cNvPicPr>
            <a:picLocks noChangeAspect="1"/>
          </p:cNvPicPr>
          <p:nvPr/>
        </p:nvPicPr>
        <p:blipFill>
          <a:blip r:embed="rId2"/>
          <a:stretch>
            <a:fillRect/>
          </a:stretch>
        </p:blipFill>
        <p:spPr>
          <a:xfrm>
            <a:off x="1715100" y="1783080"/>
            <a:ext cx="8761495" cy="37947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The six highest-variance channels at each level, from the trained model. Sharp edge and fur detectors at 96x96; at 24x24 they have stopped looking like the photo and started looking like regions.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EXPERIMENT</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Making the comparison mean only one thing</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10637215" cy="4645152"/>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--no-skips does not delete the skip connections. It replaces the skip half of every cat with zeros.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def _join(self, up, skip):</a:t>
            </a:r>
          </a:p>
          <a:p>
            <a:pPr algn="l">
              <a:lnSpc>
                <a:spcPct val="115000"/>
              </a:lnSpc>
              <a:spcAft>
                <a:spcPts val="600"/>
              </a:spcAft>
            </a:pPr>
            <a:r>
              <a:rPr sz="1500" b="0">
                <a:solidFill>
                  <a:srgbClr val="1C222B"/>
                </a:solidFill>
                <a:latin typeface="Menlo"/>
              </a:rPr>
              <a:t>      if not self.use_skips:</a:t>
            </a:r>
          </a:p>
          <a:p>
            <a:pPr algn="l">
              <a:lnSpc>
                <a:spcPct val="115000"/>
              </a:lnSpc>
              <a:spcAft>
                <a:spcPts val="600"/>
              </a:spcAft>
            </a:pPr>
            <a:r>
              <a:rPr sz="1500" b="0">
                <a:solidFill>
                  <a:srgbClr val="1C222B"/>
                </a:solidFill>
                <a:latin typeface="Menlo"/>
              </a:rPr>
              <a:t>          skip = torch.zeros_like(skip)</a:t>
            </a:r>
          </a:p>
          <a:p>
            <a:pPr algn="l">
              <a:lnSpc>
                <a:spcPct val="115000"/>
              </a:lnSpc>
              <a:spcAft>
                <a:spcPts val="600"/>
              </a:spcAft>
            </a:pPr>
            <a:r>
              <a:rPr sz="1500" b="0">
                <a:solidFill>
                  <a:srgbClr val="1C222B"/>
                </a:solidFill>
                <a:latin typeface="Menlo"/>
              </a:rPr>
              <a:t>      return torch.cat([up, skip], dim=1)</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Same depth, same widths, same 12x12 bottleneck, and — as the table prints — exactly the same parameter count: 1,928,483 either way.</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The skipless model has just as many weights to work with. It simply receives no information through them. So whatever the difference is, it is not capacity.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Read it twice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3403908"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model</a:t>
            </a:r>
          </a:p>
        </p:txBody>
      </p:sp>
      <p:sp>
        <p:nvSpPr>
          <p:cNvPr id="6" name="TextBox 5"/>
          <p:cNvSpPr txBox="1"/>
          <p:nvPr/>
        </p:nvSpPr>
        <p:spPr>
          <a:xfrm>
            <a:off x="4181148" y="1874519"/>
            <a:ext cx="1560124"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params</a:t>
            </a:r>
          </a:p>
        </p:txBody>
      </p:sp>
      <p:sp>
        <p:nvSpPr>
          <p:cNvPr id="7" name="TextBox 6"/>
          <p:cNvSpPr txBox="1"/>
          <p:nvPr/>
        </p:nvSpPr>
        <p:spPr>
          <a:xfrm>
            <a:off x="5741272"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acc</a:t>
            </a:r>
          </a:p>
        </p:txBody>
      </p:sp>
      <p:sp>
        <p:nvSpPr>
          <p:cNvPr id="8" name="TextBox 7"/>
          <p:cNvSpPr txBox="1"/>
          <p:nvPr/>
        </p:nvSpPr>
        <p:spPr>
          <a:xfrm>
            <a:off x="6875908"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mIoU</a:t>
            </a:r>
          </a:p>
        </p:txBody>
      </p:sp>
      <p:sp>
        <p:nvSpPr>
          <p:cNvPr id="9" name="TextBox 8"/>
          <p:cNvSpPr txBox="1"/>
          <p:nvPr/>
        </p:nvSpPr>
        <p:spPr>
          <a:xfrm>
            <a:off x="8010544"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pet</a:t>
            </a:r>
          </a:p>
        </p:txBody>
      </p:sp>
      <p:sp>
        <p:nvSpPr>
          <p:cNvPr id="10" name="TextBox 9"/>
          <p:cNvSpPr txBox="1"/>
          <p:nvPr/>
        </p:nvSpPr>
        <p:spPr>
          <a:xfrm>
            <a:off x="9145180"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bg</a:t>
            </a:r>
          </a:p>
        </p:txBody>
      </p:sp>
      <p:sp>
        <p:nvSpPr>
          <p:cNvPr id="11" name="TextBox 10"/>
          <p:cNvSpPr txBox="1"/>
          <p:nvPr/>
        </p:nvSpPr>
        <p:spPr>
          <a:xfrm>
            <a:off x="10279816" y="1874519"/>
            <a:ext cx="1134636"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border</a:t>
            </a:r>
          </a:p>
        </p:txBody>
      </p:sp>
      <p:sp>
        <p:nvSpPr>
          <p:cNvPr id="12" name="Rectangle 11"/>
          <p:cNvSpPr/>
          <p:nvPr/>
        </p:nvSpPr>
        <p:spPr>
          <a:xfrm>
            <a:off x="777240" y="2285999"/>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395726"/>
            <a:ext cx="3403908"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encoder-decoder</a:t>
            </a:r>
          </a:p>
        </p:txBody>
      </p:sp>
      <p:sp>
        <p:nvSpPr>
          <p:cNvPr id="14" name="TextBox 13"/>
          <p:cNvSpPr txBox="1"/>
          <p:nvPr/>
        </p:nvSpPr>
        <p:spPr>
          <a:xfrm>
            <a:off x="4181148" y="2395726"/>
            <a:ext cx="1560124"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1,734,947</a:t>
            </a:r>
          </a:p>
        </p:txBody>
      </p:sp>
      <p:sp>
        <p:nvSpPr>
          <p:cNvPr id="15" name="TextBox 14"/>
          <p:cNvSpPr txBox="1"/>
          <p:nvPr/>
        </p:nvSpPr>
        <p:spPr>
          <a:xfrm>
            <a:off x="5741272"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0.878</a:t>
            </a:r>
          </a:p>
        </p:txBody>
      </p:sp>
      <p:sp>
        <p:nvSpPr>
          <p:cNvPr id="16" name="TextBox 15"/>
          <p:cNvSpPr txBox="1"/>
          <p:nvPr/>
        </p:nvSpPr>
        <p:spPr>
          <a:xfrm>
            <a:off x="6875908" y="2395726"/>
            <a:ext cx="113463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0.688</a:t>
            </a:r>
          </a:p>
        </p:txBody>
      </p:sp>
      <p:sp>
        <p:nvSpPr>
          <p:cNvPr id="17" name="TextBox 16"/>
          <p:cNvSpPr txBox="1"/>
          <p:nvPr/>
        </p:nvSpPr>
        <p:spPr>
          <a:xfrm>
            <a:off x="8010544"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0.774</a:t>
            </a:r>
          </a:p>
        </p:txBody>
      </p:sp>
      <p:sp>
        <p:nvSpPr>
          <p:cNvPr id="18" name="TextBox 17"/>
          <p:cNvSpPr txBox="1"/>
          <p:nvPr/>
        </p:nvSpPr>
        <p:spPr>
          <a:xfrm>
            <a:off x="9145180"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0.872</a:t>
            </a:r>
          </a:p>
        </p:txBody>
      </p:sp>
      <p:sp>
        <p:nvSpPr>
          <p:cNvPr id="19" name="TextBox 18"/>
          <p:cNvSpPr txBox="1"/>
          <p:nvPr/>
        </p:nvSpPr>
        <p:spPr>
          <a:xfrm>
            <a:off x="10279816" y="2395726"/>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0.417</a:t>
            </a:r>
          </a:p>
        </p:txBody>
      </p:sp>
      <p:sp>
        <p:nvSpPr>
          <p:cNvPr id="20" name="TextBox 19"/>
          <p:cNvSpPr txBox="1"/>
          <p:nvPr/>
        </p:nvSpPr>
        <p:spPr>
          <a:xfrm>
            <a:off x="777240" y="2816350"/>
            <a:ext cx="3403908"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U-Net, skips OFF</a:t>
            </a:r>
          </a:p>
        </p:txBody>
      </p:sp>
      <p:sp>
        <p:nvSpPr>
          <p:cNvPr id="21" name="TextBox 20"/>
          <p:cNvSpPr txBox="1"/>
          <p:nvPr/>
        </p:nvSpPr>
        <p:spPr>
          <a:xfrm>
            <a:off x="4181148" y="2816350"/>
            <a:ext cx="1560124"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1,928,483</a:t>
            </a:r>
          </a:p>
        </p:txBody>
      </p:sp>
      <p:sp>
        <p:nvSpPr>
          <p:cNvPr id="22" name="TextBox 21"/>
          <p:cNvSpPr txBox="1"/>
          <p:nvPr/>
        </p:nvSpPr>
        <p:spPr>
          <a:xfrm>
            <a:off x="5741272"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0.870</a:t>
            </a:r>
          </a:p>
        </p:txBody>
      </p:sp>
      <p:sp>
        <p:nvSpPr>
          <p:cNvPr id="23" name="TextBox 22"/>
          <p:cNvSpPr txBox="1"/>
          <p:nvPr/>
        </p:nvSpPr>
        <p:spPr>
          <a:xfrm>
            <a:off x="6875908" y="2816350"/>
            <a:ext cx="113463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0.674</a:t>
            </a:r>
          </a:p>
        </p:txBody>
      </p:sp>
      <p:sp>
        <p:nvSpPr>
          <p:cNvPr id="24" name="TextBox 23"/>
          <p:cNvSpPr txBox="1"/>
          <p:nvPr/>
        </p:nvSpPr>
        <p:spPr>
          <a:xfrm>
            <a:off x="8010544"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0.761</a:t>
            </a:r>
          </a:p>
        </p:txBody>
      </p:sp>
      <p:sp>
        <p:nvSpPr>
          <p:cNvPr id="25" name="TextBox 24"/>
          <p:cNvSpPr txBox="1"/>
          <p:nvPr/>
        </p:nvSpPr>
        <p:spPr>
          <a:xfrm>
            <a:off x="9145180"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0.859</a:t>
            </a:r>
          </a:p>
        </p:txBody>
      </p:sp>
      <p:sp>
        <p:nvSpPr>
          <p:cNvPr id="26" name="TextBox 25"/>
          <p:cNvSpPr txBox="1"/>
          <p:nvPr/>
        </p:nvSpPr>
        <p:spPr>
          <a:xfrm>
            <a:off x="10279816" y="2816350"/>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0.400</a:t>
            </a:r>
          </a:p>
        </p:txBody>
      </p:sp>
      <p:sp>
        <p:nvSpPr>
          <p:cNvPr id="27" name="TextBox 26"/>
          <p:cNvSpPr txBox="1"/>
          <p:nvPr/>
        </p:nvSpPr>
        <p:spPr>
          <a:xfrm>
            <a:off x="777240" y="3236974"/>
            <a:ext cx="3403908"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U-Net, skips ON</a:t>
            </a:r>
          </a:p>
        </p:txBody>
      </p:sp>
      <p:sp>
        <p:nvSpPr>
          <p:cNvPr id="28" name="TextBox 27"/>
          <p:cNvSpPr txBox="1"/>
          <p:nvPr/>
        </p:nvSpPr>
        <p:spPr>
          <a:xfrm>
            <a:off x="4181148" y="3236974"/>
            <a:ext cx="1560124"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1,928,483</a:t>
            </a:r>
          </a:p>
        </p:txBody>
      </p:sp>
      <p:sp>
        <p:nvSpPr>
          <p:cNvPr id="29" name="TextBox 28"/>
          <p:cNvSpPr txBox="1"/>
          <p:nvPr/>
        </p:nvSpPr>
        <p:spPr>
          <a:xfrm>
            <a:off x="5741272"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0.887</a:t>
            </a:r>
          </a:p>
        </p:txBody>
      </p:sp>
      <p:sp>
        <p:nvSpPr>
          <p:cNvPr id="30" name="TextBox 29"/>
          <p:cNvSpPr txBox="1"/>
          <p:nvPr/>
        </p:nvSpPr>
        <p:spPr>
          <a:xfrm>
            <a:off x="6875908" y="3236974"/>
            <a:ext cx="1134636"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0.707</a:t>
            </a:r>
          </a:p>
        </p:txBody>
      </p:sp>
      <p:sp>
        <p:nvSpPr>
          <p:cNvPr id="31" name="TextBox 30"/>
          <p:cNvSpPr txBox="1"/>
          <p:nvPr/>
        </p:nvSpPr>
        <p:spPr>
          <a:xfrm>
            <a:off x="8010544"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0.787</a:t>
            </a:r>
          </a:p>
        </p:txBody>
      </p:sp>
      <p:sp>
        <p:nvSpPr>
          <p:cNvPr id="32" name="TextBox 31"/>
          <p:cNvSpPr txBox="1"/>
          <p:nvPr/>
        </p:nvSpPr>
        <p:spPr>
          <a:xfrm>
            <a:off x="9145180"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0.881</a:t>
            </a:r>
          </a:p>
        </p:txBody>
      </p:sp>
      <p:sp>
        <p:nvSpPr>
          <p:cNvPr id="33" name="TextBox 32"/>
          <p:cNvSpPr txBox="1"/>
          <p:nvPr/>
        </p:nvSpPr>
        <p:spPr>
          <a:xfrm>
            <a:off x="10279816" y="3236974"/>
            <a:ext cx="1134636"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0.455</a:t>
            </a:r>
          </a:p>
        </p:txBody>
      </p:sp>
      <p:sp>
        <p:nvSpPr>
          <p:cNvPr id="34" name="TextBox 33"/>
          <p:cNvSpPr txBox="1"/>
          <p:nvPr/>
        </p:nvSpPr>
        <p:spPr>
          <a:xfrm>
            <a:off x="777240" y="5806440"/>
            <a:ext cx="10637215" cy="640080"/>
          </a:xfrm>
          <a:prstGeom prst="rect">
            <a:avLst/>
          </a:prstGeom>
          <a:noFill/>
        </p:spPr>
        <p:txBody>
          <a:bodyPr wrap="square">
            <a:spAutoFit/>
          </a:bodyPr>
          <a:lstStyle/>
          <a:p>
            <a:pPr algn="l">
              <a:lnSpc>
                <a:spcPct val="115000"/>
              </a:lnSpc>
              <a:spcAft>
                <a:spcPts val="600"/>
              </a:spcAft>
            </a:pPr>
            <a:r>
              <a:rPr sz="1400" b="0">
                <a:solidFill>
                  <a:srgbClr val="6B7582"/>
                </a:solidFill>
                <a:latin typeface="Helvetica Neue"/>
              </a:rPr>
              <a:t>1. skips ON vs OFF: identical parameter count, +0.034 mIoU, and the largest per-class gain is the border at +0.054 — the one class defined by sitting on an edge.   2. skips OFF vs part 3: 194k MORE parameters, -0.014 mIoU. Below the waist, capacity cannot buy back resolution that was already discarded. Only a path around it can.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same three runs, watched epoch by epoch</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io4.png"/>
          <p:cNvPicPr>
            <a:picLocks noChangeAspect="1"/>
          </p:cNvPicPr>
          <p:nvPr/>
        </p:nvPicPr>
        <p:blipFill>
          <a:blip r:embed="rId2"/>
          <a:stretch>
            <a:fillRect/>
          </a:stretch>
        </p:blipFill>
        <p:spPr>
          <a:xfrm>
            <a:off x="1614158" y="1783080"/>
            <a:ext cx="8963378" cy="36576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Logged to trackio during training, so this is not a re-measurement -- it is the run itself. The skips are ahead from the first epoch and stay ahead, and the right-hand panel is where the gap lives.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busiest boundary in the batch, magnified</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zoom.png"/>
          <p:cNvPicPr>
            <a:picLocks noChangeAspect="1"/>
          </p:cNvPicPr>
          <p:nvPr/>
        </p:nvPicPr>
        <p:blipFill>
          <a:blip r:embed="rId2"/>
          <a:stretch>
            <a:fillRect/>
          </a:stretch>
        </p:blipFill>
        <p:spPr>
          <a:xfrm>
            <a:off x="228600" y="1783080"/>
            <a:ext cx="11734495" cy="2578158"/>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At thumbnail size every segmentation looks fine, so we go and find the crop with the most border pixels in it. This is what 0.033 mIoU looks like where it is spent.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Every model's errors, in red</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rrors.png"/>
          <p:cNvPicPr>
            <a:picLocks noChangeAspect="1"/>
          </p:cNvPicPr>
          <p:nvPr/>
        </p:nvPicPr>
        <p:blipFill>
          <a:blip r:embed="rId2"/>
          <a:stretch>
            <a:fillRect/>
          </a:stretch>
        </p:blipFill>
        <p:spPr>
          <a:xfrm>
            <a:off x="3715486" y="1783080"/>
            <a:ext cx="4760723" cy="35661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Two colour schemes, both named in the key. Row 2 is a class map. Rows 3-4 are not: they are the photo in grey at 55% brightness with every wrong pixel painted red, so red means 'argmax ≠ label' and says nothing about which class was guessed. Both models draw the same picture — a red outline tracing the animal, because that is where errors live. Skips ON draws it thinner.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4 · ON THE SIZE OF THAT WIN</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0.033 mIoU is real, and it is smaller than U-Net's reputation</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19072"/>
            <a:ext cx="10637215" cy="4681728"/>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Worth saying out loud, because a modest number is exactly the kind you should not take on trust.</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Two reasons, and both are about this setup rather than about skip connections: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 the waist here is 12x12 — a gentle squeeze for a 96x96 image</a:t>
            </a:r>
          </a:p>
          <a:p>
            <a:pPr algn="l">
              <a:lnSpc>
                <a:spcPct val="115000"/>
              </a:lnSpc>
              <a:spcAft>
                <a:spcPts val="600"/>
              </a:spcAft>
            </a:pPr>
            <a:r>
              <a:rPr sz="1500" b="0">
                <a:solidFill>
                  <a:srgbClr val="1C222B"/>
                </a:solidFill>
                <a:latin typeface="Menlo"/>
              </a:rPr>
              <a:t>  · part 3's decoder is already good on its own (0.688)</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Part 2's waist sweep says what to do about it: a 6x6 waist starts 7 dB worse, so the tighter the waist, the more there is for the skips to rescue. The 2015 paper went four levels deep on 572x572 microscope images, where the gap is not subtle.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900" b="1">
                <a:solidFill>
                  <a:srgbClr val="1C222B"/>
                </a:solidFill>
                <a:latin typeface="Helvetica Neue"/>
              </a:rPr>
              <a:t>&gt;&gt; So: a small effect. Does it appear where the mechanism says it should?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5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Accuracy against distance to the nearest boundary</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stance.png"/>
          <p:cNvPicPr>
            <a:picLocks noChangeAspect="1"/>
          </p:cNvPicPr>
          <p:nvPr/>
        </p:nvPicPr>
        <p:blipFill>
          <a:blip r:embed="rId2"/>
          <a:stretch>
            <a:fillRect/>
          </a:stretch>
        </p:blipFill>
        <p:spPr>
          <a:xfrm>
            <a:off x="1713283" y="1783080"/>
            <a:ext cx="8765128" cy="356616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16+ px from any boundary the two models are the same model to within noise (-0.001) — they share an encoder, so of course they are. The entire gain appears in the first few pixels and decays monotonically.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PART 5 · THE EVIDENCE</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That is what turns a small number into a finding</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4663440"/>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A small effect that lands exactly where the mechanism predicts, and nowhere else, is a real effect.</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distance (px)      0-1     2-3     4-7    8-15     16+</a:t>
            </a:r>
          </a:p>
          <a:p>
            <a:pPr algn="l">
              <a:lnSpc>
                <a:spcPct val="115000"/>
              </a:lnSpc>
              <a:spcAft>
                <a:spcPts val="600"/>
              </a:spcAft>
            </a:pPr>
            <a:r>
              <a:rPr sz="1500" b="0">
                <a:solidFill>
                  <a:srgbClr val="1C222B"/>
                </a:solidFill>
                <a:latin typeface="Menlo"/>
              </a:rPr>
              <a:t>  skips OFF         0.648   0.878   0.940   0.964   0.953</a:t>
            </a:r>
          </a:p>
          <a:p>
            <a:pPr algn="l">
              <a:lnSpc>
                <a:spcPct val="115000"/>
              </a:lnSpc>
              <a:spcAft>
                <a:spcPts val="600"/>
              </a:spcAft>
            </a:pPr>
            <a:r>
              <a:rPr sz="1500" b="0">
                <a:solidFill>
                  <a:srgbClr val="1C222B"/>
                </a:solidFill>
                <a:latin typeface="Menlo"/>
              </a:rPr>
              <a:t>  skips ON          0.696   0.896   0.951   0.969   0.952</a:t>
            </a:r>
          </a:p>
          <a:p>
            <a:pPr algn="l">
              <a:lnSpc>
                <a:spcPct val="115000"/>
              </a:lnSpc>
              <a:spcAft>
                <a:spcPts val="600"/>
              </a:spcAft>
            </a:pPr>
            <a:r>
              <a:rPr sz="1500" b="0">
                <a:solidFill>
                  <a:srgbClr val="1C222B"/>
                </a:solidFill>
                <a:latin typeface="Menlo"/>
              </a:rPr>
              <a:t>  gain             +0.048  +0.018  +0.012  +0.005  -0.001</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'Skip connections restore high-frequency detail' is a sentence. This is the same sentence with a y-axis.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Note also how hard the boundary is in absolute terms: even with skips, 30% of the pixels within 1px of a class boundary are wrong, against 5% out in the open. That is where the remaining headroom is.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THE ARC OF WEEK 4</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Every part fixed what the previous one broke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74519"/>
            <a:ext cx="2099450"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part</a:t>
            </a:r>
          </a:p>
        </p:txBody>
      </p:sp>
      <p:sp>
        <p:nvSpPr>
          <p:cNvPr id="6" name="TextBox 5"/>
          <p:cNvSpPr txBox="1"/>
          <p:nvPr/>
        </p:nvSpPr>
        <p:spPr>
          <a:xfrm>
            <a:off x="2876690" y="1874519"/>
            <a:ext cx="4198900"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the problem it faced</a:t>
            </a:r>
          </a:p>
        </p:txBody>
      </p:sp>
      <p:sp>
        <p:nvSpPr>
          <p:cNvPr id="7" name="TextBox 6"/>
          <p:cNvSpPr txBox="1"/>
          <p:nvPr/>
        </p:nvSpPr>
        <p:spPr>
          <a:xfrm>
            <a:off x="7075590" y="1874519"/>
            <a:ext cx="3079193"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what changed</a:t>
            </a:r>
          </a:p>
        </p:txBody>
      </p:sp>
      <p:sp>
        <p:nvSpPr>
          <p:cNvPr id="8" name="TextBox 7"/>
          <p:cNvSpPr txBox="1"/>
          <p:nvPr/>
        </p:nvSpPr>
        <p:spPr>
          <a:xfrm>
            <a:off x="10154783" y="1874519"/>
            <a:ext cx="1259670" cy="365760"/>
          </a:xfrm>
          <a:prstGeom prst="rect">
            <a:avLst/>
          </a:prstGeom>
          <a:noFill/>
        </p:spPr>
        <p:txBody>
          <a:bodyPr wrap="square">
            <a:spAutoFit/>
          </a:bodyPr>
          <a:lstStyle/>
          <a:p>
            <a:pPr algn="l">
              <a:lnSpc>
                <a:spcPct val="100000"/>
              </a:lnSpc>
              <a:spcAft>
                <a:spcPts val="600"/>
              </a:spcAft>
            </a:pPr>
            <a:r>
              <a:rPr sz="1300" b="1">
                <a:solidFill>
                  <a:srgbClr val="6B7582"/>
                </a:solidFill>
                <a:latin typeface="Helvetica Neue"/>
              </a:rPr>
              <a:t>mIoU</a:t>
            </a:r>
          </a:p>
        </p:txBody>
      </p:sp>
      <p:sp>
        <p:nvSpPr>
          <p:cNvPr id="9" name="Rectangle 8"/>
          <p:cNvSpPr/>
          <p:nvPr/>
        </p:nvSpPr>
        <p:spPr>
          <a:xfrm>
            <a:off x="777240" y="2285999"/>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95726"/>
            <a:ext cx="209945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1  FCN</a:t>
            </a:r>
          </a:p>
        </p:txBody>
      </p:sp>
      <p:sp>
        <p:nvSpPr>
          <p:cNvPr id="11" name="TextBox 10"/>
          <p:cNvSpPr txBox="1"/>
          <p:nvPr/>
        </p:nvSpPr>
        <p:spPr>
          <a:xfrm>
            <a:off x="2876690" y="2395726"/>
            <a:ext cx="419890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a classifier throws away WHERE</a:t>
            </a:r>
          </a:p>
        </p:txBody>
      </p:sp>
      <p:sp>
        <p:nvSpPr>
          <p:cNvPr id="12" name="TextBox 11"/>
          <p:cNvSpPr txBox="1"/>
          <p:nvPr/>
        </p:nvSpPr>
        <p:spPr>
          <a:xfrm>
            <a:off x="7075590" y="2395726"/>
            <a:ext cx="307919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Flatten+Linear -&gt; Conv1x1</a:t>
            </a:r>
          </a:p>
        </p:txBody>
      </p:sp>
      <p:sp>
        <p:nvSpPr>
          <p:cNvPr id="13" name="TextBox 12"/>
          <p:cNvSpPr txBox="1"/>
          <p:nvPr/>
        </p:nvSpPr>
        <p:spPr>
          <a:xfrm>
            <a:off x="10154783" y="2395726"/>
            <a:ext cx="125967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0.463</a:t>
            </a:r>
          </a:p>
        </p:txBody>
      </p:sp>
      <p:sp>
        <p:nvSpPr>
          <p:cNvPr id="14" name="TextBox 13"/>
          <p:cNvSpPr txBox="1"/>
          <p:nvPr/>
        </p:nvSpPr>
        <p:spPr>
          <a:xfrm>
            <a:off x="777240" y="2816350"/>
            <a:ext cx="209945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2  autoencoder</a:t>
            </a:r>
          </a:p>
        </p:txBody>
      </p:sp>
      <p:sp>
        <p:nvSpPr>
          <p:cNvPr id="15" name="TextBox 14"/>
          <p:cNvSpPr txBox="1"/>
          <p:nvPr/>
        </p:nvSpPr>
        <p:spPr>
          <a:xfrm>
            <a:off x="2876690" y="2816350"/>
            <a:ext cx="419890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Upsample cannot add detail</a:t>
            </a:r>
          </a:p>
        </p:txBody>
      </p:sp>
      <p:sp>
        <p:nvSpPr>
          <p:cNvPr id="16" name="TextBox 15"/>
          <p:cNvSpPr txBox="1"/>
          <p:nvPr/>
        </p:nvSpPr>
        <p:spPr>
          <a:xfrm>
            <a:off x="7075590" y="2816350"/>
            <a:ext cx="307919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a learned decoder</a:t>
            </a:r>
          </a:p>
        </p:txBody>
      </p:sp>
      <p:sp>
        <p:nvSpPr>
          <p:cNvPr id="17" name="TextBox 16"/>
          <p:cNvSpPr txBox="1"/>
          <p:nvPr/>
        </p:nvSpPr>
        <p:spPr>
          <a:xfrm>
            <a:off x="10154783" y="2816350"/>
            <a:ext cx="125967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 (MSE)</a:t>
            </a:r>
          </a:p>
        </p:txBody>
      </p:sp>
      <p:sp>
        <p:nvSpPr>
          <p:cNvPr id="18" name="TextBox 17"/>
          <p:cNvSpPr txBox="1"/>
          <p:nvPr/>
        </p:nvSpPr>
        <p:spPr>
          <a:xfrm>
            <a:off x="777240" y="3236974"/>
            <a:ext cx="209945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3  encoder-decoder</a:t>
            </a:r>
          </a:p>
        </p:txBody>
      </p:sp>
      <p:sp>
        <p:nvSpPr>
          <p:cNvPr id="19" name="TextBox 18"/>
          <p:cNvSpPr txBox="1"/>
          <p:nvPr/>
        </p:nvSpPr>
        <p:spPr>
          <a:xfrm>
            <a:off x="2876690" y="3236974"/>
            <a:ext cx="419890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the output is a class, not a colour</a:t>
            </a:r>
          </a:p>
        </p:txBody>
      </p:sp>
      <p:sp>
        <p:nvSpPr>
          <p:cNvPr id="20" name="TextBox 19"/>
          <p:cNvSpPr txBox="1"/>
          <p:nvPr/>
        </p:nvSpPr>
        <p:spPr>
          <a:xfrm>
            <a:off x="7075590" y="3236974"/>
            <a:ext cx="307919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logits + CrossEntropy</a:t>
            </a:r>
          </a:p>
        </p:txBody>
      </p:sp>
      <p:sp>
        <p:nvSpPr>
          <p:cNvPr id="21" name="TextBox 20"/>
          <p:cNvSpPr txBox="1"/>
          <p:nvPr/>
        </p:nvSpPr>
        <p:spPr>
          <a:xfrm>
            <a:off x="10154783" y="3236974"/>
            <a:ext cx="125967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0.688</a:t>
            </a:r>
          </a:p>
        </p:txBody>
      </p:sp>
      <p:sp>
        <p:nvSpPr>
          <p:cNvPr id="22" name="TextBox 21"/>
          <p:cNvSpPr txBox="1"/>
          <p:nvPr/>
        </p:nvSpPr>
        <p:spPr>
          <a:xfrm>
            <a:off x="777240" y="3657598"/>
            <a:ext cx="2099450" cy="365760"/>
          </a:xfrm>
          <a:prstGeom prst="rect">
            <a:avLst/>
          </a:prstGeom>
          <a:noFill/>
        </p:spPr>
        <p:txBody>
          <a:bodyPr wrap="square">
            <a:spAutoFit/>
          </a:bodyPr>
          <a:lstStyle/>
          <a:p>
            <a:pPr algn="l">
              <a:lnSpc>
                <a:spcPct val="100000"/>
              </a:lnSpc>
              <a:spcAft>
                <a:spcPts val="600"/>
              </a:spcAft>
            </a:pPr>
            <a:r>
              <a:rPr sz="1500" b="0">
                <a:solidFill>
                  <a:srgbClr val="1C222B"/>
                </a:solidFill>
                <a:latin typeface="Helvetica Neue"/>
              </a:rPr>
              <a:t>4  U-Net</a:t>
            </a:r>
          </a:p>
        </p:txBody>
      </p:sp>
      <p:sp>
        <p:nvSpPr>
          <p:cNvPr id="23" name="TextBox 22"/>
          <p:cNvSpPr txBox="1"/>
          <p:nvPr/>
        </p:nvSpPr>
        <p:spPr>
          <a:xfrm>
            <a:off x="2876690" y="3657598"/>
            <a:ext cx="4198900"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detail died at the waist</a:t>
            </a:r>
          </a:p>
        </p:txBody>
      </p:sp>
      <p:sp>
        <p:nvSpPr>
          <p:cNvPr id="24" name="TextBox 23"/>
          <p:cNvSpPr txBox="1"/>
          <p:nvPr/>
        </p:nvSpPr>
        <p:spPr>
          <a:xfrm>
            <a:off x="7075590" y="3657598"/>
            <a:ext cx="3079193" cy="365760"/>
          </a:xfrm>
          <a:prstGeom prst="rect">
            <a:avLst/>
          </a:prstGeom>
          <a:noFill/>
        </p:spPr>
        <p:txBody>
          <a:bodyPr wrap="square">
            <a:spAutoFit/>
          </a:bodyPr>
          <a:lstStyle/>
          <a:p>
            <a:pPr algn="l">
              <a:lnSpc>
                <a:spcPct val="100000"/>
              </a:lnSpc>
              <a:spcAft>
                <a:spcPts val="600"/>
              </a:spcAft>
            </a:pPr>
            <a:r>
              <a:rPr sz="1500" b="0">
                <a:solidFill>
                  <a:srgbClr val="1C222B"/>
                </a:solidFill>
                <a:latin typeface="Menlo"/>
              </a:rPr>
              <a:t>torch.cat(up, skip)</a:t>
            </a:r>
          </a:p>
        </p:txBody>
      </p:sp>
      <p:sp>
        <p:nvSpPr>
          <p:cNvPr id="25" name="TextBox 24"/>
          <p:cNvSpPr txBox="1"/>
          <p:nvPr/>
        </p:nvSpPr>
        <p:spPr>
          <a:xfrm>
            <a:off x="10154783" y="3657598"/>
            <a:ext cx="1259670" cy="365760"/>
          </a:xfrm>
          <a:prstGeom prst="rect">
            <a:avLst/>
          </a:prstGeom>
          <a:noFill/>
        </p:spPr>
        <p:txBody>
          <a:bodyPr wrap="square">
            <a:spAutoFit/>
          </a:bodyPr>
          <a:lstStyle/>
          <a:p>
            <a:pPr algn="l">
              <a:lnSpc>
                <a:spcPct val="100000"/>
              </a:lnSpc>
              <a:spcAft>
                <a:spcPts val="600"/>
              </a:spcAft>
            </a:pPr>
            <a:r>
              <a:rPr sz="1500" b="1">
                <a:solidFill>
                  <a:srgbClr val="C2551E"/>
                </a:solidFill>
                <a:latin typeface="Menlo"/>
              </a:rPr>
              <a:t>0.707</a:t>
            </a:r>
          </a:p>
        </p:txBody>
      </p:sp>
      <p:sp>
        <p:nvSpPr>
          <p:cNvPr id="26" name="TextBox 25"/>
          <p:cNvSpPr txBox="1"/>
          <p:nvPr/>
        </p:nvSpPr>
        <p:spPr>
          <a:xfrm>
            <a:off x="777240" y="5806440"/>
            <a:ext cx="10637215" cy="640080"/>
          </a:xfrm>
          <a:prstGeom prst="rect">
            <a:avLst/>
          </a:prstGeom>
          <a:noFill/>
        </p:spPr>
        <p:txBody>
          <a:bodyPr wrap="square">
            <a:spAutoFit/>
          </a:bodyPr>
          <a:lstStyle/>
          <a:p>
            <a:pPr algn="l">
              <a:lnSpc>
                <a:spcPct val="115000"/>
              </a:lnSpc>
              <a:spcAft>
                <a:spcPts val="600"/>
              </a:spcAft>
            </a:pPr>
            <a:r>
              <a:rPr sz="1400" b="0">
                <a:solidFill>
                  <a:srgbClr val="6B7582"/>
                </a:solidFill>
                <a:latin typeface="Helvetica Neue"/>
              </a:rPr>
              <a:t>The tension that drives the whole session never actually goes away: pooling buys context and costs resolution. A U-Net does not resolve it — it routes around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WHERE THIS GOES</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You have now built the standard answer for image-to-image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10637215" cy="4645152"/>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Swap the target, keep the network:</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target = the clean image          -&gt;  a denoiser</a:t>
            </a:r>
          </a:p>
          <a:p>
            <a:pPr algn="l">
              <a:lnSpc>
                <a:spcPct val="115000"/>
              </a:lnSpc>
              <a:spcAft>
                <a:spcPts val="600"/>
              </a:spcAft>
            </a:pPr>
            <a:r>
              <a:rPr sz="1500" b="0">
                <a:solidFill>
                  <a:srgbClr val="1C222B"/>
                </a:solidFill>
                <a:latin typeface="Menlo"/>
              </a:rPr>
              <a:t>  target = the masked-out region    -&gt;  an inpainter</a:t>
            </a:r>
          </a:p>
          <a:p>
            <a:pPr algn="l">
              <a:lnSpc>
                <a:spcPct val="115000"/>
              </a:lnSpc>
              <a:spcAft>
                <a:spcPts val="600"/>
              </a:spcAft>
            </a:pPr>
            <a:r>
              <a:rPr sz="1500" b="0">
                <a:solidFill>
                  <a:srgbClr val="1C222B"/>
                </a:solidFill>
                <a:latin typeface="Menlo"/>
              </a:rPr>
              <a:t>  target = a depth map              -&gt;  monocular depth</a:t>
            </a:r>
          </a:p>
          <a:p>
            <a:pPr algn="l">
              <a:lnSpc>
                <a:spcPct val="115000"/>
              </a:lnSpc>
              <a:spcAft>
                <a:spcPts val="600"/>
              </a:spcAft>
            </a:pPr>
            <a:r>
              <a:rPr sz="1500" b="0">
                <a:solidFill>
                  <a:srgbClr val="1C222B"/>
                </a:solidFill>
                <a:latin typeface="Menlo"/>
              </a:rPr>
              <a:t>  target = the noise that was added -&gt;  a diffusion model</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That last one is not a joke: the network inside Stable Diffusion is a U-Net with attention blocks bolted on. It predicts the noise in a noisy image, and the encoder-decoder-with-skips shape is there for the reason you just measured — the output is an image, and it needs to be sharp.</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Whenever the output has the same spatial shape as the input, this is the architecture to reach for first.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YOUR TURN · 1 OF 2</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Where the next mIoU comes from, starting with the cheapest change</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10637215" cy="4754880"/>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We stopped at mIoU 0.707. Four things to try before touching the architecture: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1  TRAIN LONGER       --epochs 40, plus a cosine LR decay</a:t>
            </a:r>
          </a:p>
          <a:p>
            <a:pPr algn="l">
              <a:lnSpc>
                <a:spcPct val="115000"/>
              </a:lnSpc>
              <a:spcAft>
                <a:spcPts val="600"/>
              </a:spcAft>
            </a:pPr>
            <a:r>
              <a:rPr sz="1500" b="0">
                <a:solidFill>
                  <a:srgbClr val="1C222B"/>
                </a:solidFill>
                <a:latin typeface="Menlo"/>
              </a:rPr>
              <a:t>     nothing has converged: train loss is still falling at the last</a:t>
            </a:r>
          </a:p>
          <a:p>
            <a:pPr algn="l">
              <a:lnSpc>
                <a:spcPct val="115000"/>
              </a:lnSpc>
              <a:spcAft>
                <a:spcPts val="600"/>
              </a:spcAft>
            </a:pPr>
            <a:r>
              <a:rPr sz="1500" b="0">
                <a:solidFill>
                  <a:srgbClr val="1C222B"/>
                </a:solidFill>
                <a:latin typeface="Menlo"/>
              </a:rPr>
              <a:t>     epoch (0.259 -&gt; 0.247) and test mIoU still trending up, noisily</a:t>
            </a:r>
          </a:p>
          <a:p>
            <a:pPr algn="l">
              <a:lnSpc>
                <a:spcPct val="115000"/>
              </a:lnSpc>
              <a:spcAft>
                <a:spcPts val="600"/>
              </a:spcAft>
            </a:pPr>
            <a:r>
              <a:rPr sz="1500" b="0">
                <a:solidFill>
                  <a:srgbClr val="1C222B"/>
                </a:solidFill>
                <a:latin typeface="Menlo"/>
              </a:rPr>
              <a:t>     (0.705, 0.714, 0.707 over the final three). We stopped for time.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2  AUGMENT MORE       _PetSeg.__getitem__</a:t>
            </a:r>
          </a:p>
          <a:p>
            <a:pPr algn="l">
              <a:lnSpc>
                <a:spcPct val="115000"/>
              </a:lnSpc>
              <a:spcAft>
                <a:spcPts val="600"/>
              </a:spcAft>
            </a:pPr>
            <a:r>
              <a:rPr sz="1500" b="0">
                <a:solidFill>
                  <a:srgbClr val="1C222B"/>
                </a:solidFill>
                <a:latin typeface="Menlo"/>
              </a:rPr>
              <a:t>     a horizontal flip is all we do. Add random crop, scale, rotation.</a:t>
            </a:r>
          </a:p>
          <a:p>
            <a:pPr algn="l">
              <a:lnSpc>
                <a:spcPct val="115000"/>
              </a:lnSpc>
              <a:spcAft>
                <a:spcPts val="600"/>
              </a:spcAft>
            </a:pPr>
            <a:r>
              <a:rPr sz="1500" b="0">
                <a:solidFill>
                  <a:srgbClr val="1C222B"/>
                </a:solidFill>
                <a:latin typeface="Menlo"/>
              </a:rPr>
              <a:t>     Same rule as the flip: geometry hits the photo AND the mask.</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3  AIM THE LOSS       CrossEntropyLoss(weight=...), or a Dice loss</a:t>
            </a:r>
          </a:p>
          <a:p>
            <a:pPr algn="l">
              <a:lnSpc>
                <a:spcPct val="115000"/>
              </a:lnSpc>
              <a:spcAft>
                <a:spcPts val="600"/>
              </a:spcAft>
            </a:pPr>
            <a:r>
              <a:rPr sz="1500" b="0">
                <a:solidFill>
                  <a:srgbClr val="1C222B"/>
                </a:solidFill>
                <a:latin typeface="Menlo"/>
              </a:rPr>
              <a:t>     mIoU averages the classes unweighted, so the border is a third of</a:t>
            </a:r>
          </a:p>
          <a:p>
            <a:pPr algn="l">
              <a:lnSpc>
                <a:spcPct val="115000"/>
              </a:lnSpc>
              <a:spcAft>
                <a:spcPts val="600"/>
              </a:spcAft>
            </a:pPr>
            <a:r>
              <a:rPr sz="1500" b="0">
                <a:solidFill>
                  <a:srgbClr val="1C222B"/>
                </a:solidFill>
                <a:latin typeface="Menlo"/>
              </a:rPr>
              <a:t>     the score and the worst third: 0.455 vs 0.787 pet, 0.881 background.</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4  MORE PIXELS        IMAGE_SIZE = 192</a:t>
            </a:r>
          </a:p>
          <a:p>
            <a:pPr algn="l">
              <a:lnSpc>
                <a:spcPct val="115000"/>
              </a:lnSpc>
              <a:spcAft>
                <a:spcPts val="600"/>
              </a:spcAft>
            </a:pPr>
            <a:r>
              <a:rPr sz="1500" b="0">
                <a:solidFill>
                  <a:srgbClr val="1C222B"/>
                </a:solidFill>
                <a:latin typeface="Menlo"/>
              </a:rPr>
              <a:t>     one constant, 4x the compute. At 96x96 the border band runs 1.8 px</a:t>
            </a:r>
          </a:p>
          <a:p>
            <a:pPr algn="l">
              <a:lnSpc>
                <a:spcPct val="115000"/>
              </a:lnSpc>
              <a:spcAft>
                <a:spcPts val="600"/>
              </a:spcAft>
            </a:pPr>
            <a:r>
              <a:rPr sz="1500" b="0">
                <a:solidFill>
                  <a:srgbClr val="1C222B"/>
                </a:solidFill>
                <a:latin typeface="Menlo"/>
              </a:rPr>
              <a:t>     wide (median, 3 px at p75) — the worst class is half-buried in the</a:t>
            </a:r>
          </a:p>
          <a:p>
            <a:pPr algn="l">
              <a:lnSpc>
                <a:spcPct val="115000"/>
              </a:lnSpc>
              <a:spcAft>
                <a:spcPts val="600"/>
              </a:spcAft>
            </a:pPr>
            <a:r>
              <a:rPr sz="1500" b="0">
                <a:solidFill>
                  <a:srgbClr val="1C222B"/>
                </a:solidFill>
                <a:latin typeface="Menlo"/>
              </a:rPr>
              <a:t>     grid. The most direct attack on item 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YOUR TURN · 2 OF 2</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And then the bigger swaps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45920"/>
            <a:ext cx="10637215" cy="4754880"/>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Each of these changes what the network IS. One at a time, same test images: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5  WIDER, DEEPER      base=64, or a fourth level</a:t>
            </a:r>
          </a:p>
          <a:p>
            <a:pPr algn="l">
              <a:lnSpc>
                <a:spcPct val="115000"/>
              </a:lnSpc>
              <a:spcAft>
                <a:spcPts val="600"/>
              </a:spcAft>
            </a:pPr>
            <a:r>
              <a:rPr sz="1500" b="0">
                <a:solidFill>
                  <a:srgbClr val="1C222B"/>
                </a:solidFill>
                <a:latin typeface="Menlo"/>
              </a:rPr>
              <a:t>     ours is 1,928,483 parameters, three pools, a 12x12 waist.</a:t>
            </a:r>
          </a:p>
          <a:p>
            <a:pPr algn="l">
              <a:lnSpc>
                <a:spcPct val="115000"/>
              </a:lnSpc>
              <a:spcAft>
                <a:spcPts val="600"/>
              </a:spcAft>
            </a:pPr>
            <a:r>
              <a:rPr sz="1500" b="0">
                <a:solidFill>
                  <a:srgbClr val="1C222B"/>
                </a:solidFill>
                <a:latin typeface="Menlo"/>
              </a:rPr>
              <a:t>     A fourth level buys context and costs resolution (part 2: a 6x6</a:t>
            </a:r>
          </a:p>
          <a:p>
            <a:pPr algn="l">
              <a:lnSpc>
                <a:spcPct val="115000"/>
              </a:lnSpc>
              <a:spcAft>
                <a:spcPts val="600"/>
              </a:spcAft>
            </a:pPr>
            <a:r>
              <a:rPr sz="1500" b="0">
                <a:solidFill>
                  <a:srgbClr val="1C222B"/>
                </a:solidFill>
                <a:latin typeface="Menlo"/>
              </a:rPr>
              <a:t>     waist starts 7 dB worse) — a bet on the skips covering the loss.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6  PRETRAINED ENCODER torchvision ResNet-34, fine-tuned</a:t>
            </a:r>
          </a:p>
          <a:p>
            <a:pPr algn="l">
              <a:lnSpc>
                <a:spcPct val="115000"/>
              </a:lnSpc>
              <a:spcAft>
                <a:spcPts val="600"/>
              </a:spcAft>
            </a:pPr>
            <a:r>
              <a:rPr sz="1500" b="0">
                <a:solidFill>
                  <a:srgbClr val="1C222B"/>
                </a:solidFill>
                <a:latin typeface="Menlo"/>
              </a:rPr>
              <a:t>     what production segmentation does: keep the U, start the encoder</a:t>
            </a:r>
          </a:p>
          <a:p>
            <a:pPr algn="l">
              <a:lnSpc>
                <a:spcPct val="115000"/>
              </a:lnSpc>
              <a:spcAft>
                <a:spcPts val="600"/>
              </a:spcAft>
            </a:pPr>
            <a:r>
              <a:rPr sz="1500" b="0">
                <a:solidFill>
                  <a:srgbClr val="1C222B"/>
                </a:solidFill>
                <a:latin typeface="Menlo"/>
              </a:rPr>
              <a:t>     from ImageNet instead of noise. Part 3 measured the small version —</a:t>
            </a:r>
          </a:p>
          <a:p>
            <a:pPr algn="l">
              <a:lnSpc>
                <a:spcPct val="115000"/>
              </a:lnSpc>
              <a:spcAft>
                <a:spcPts val="600"/>
              </a:spcAft>
            </a:pPr>
            <a:r>
              <a:rPr sz="1500" b="0">
                <a:solidFill>
                  <a:srgbClr val="1C222B"/>
                </a:solidFill>
                <a:latin typeface="Menlo"/>
              </a:rPr>
              <a:t>     our autoencoder bought +0.040 mIoU at 500 labels, -0.016 at 3,680.</a:t>
            </a:r>
          </a:p>
          <a:p>
            <a:pPr algn="l">
              <a:lnSpc>
                <a:spcPct val="115000"/>
              </a:lnSpc>
              <a:spcAft>
                <a:spcPts val="600"/>
              </a:spcAft>
            </a:pPr>
            <a:r>
              <a:rPr sz="1500" b="0">
                <a:solidFill>
                  <a:srgbClr val="1C222B"/>
                </a:solidFill>
                <a:latin typeface="Menlo"/>
              </a:rPr>
              <a:t>     Same bet, a million images behind it, and the same caveat: it pays</a:t>
            </a:r>
          </a:p>
          <a:p>
            <a:pPr algn="l">
              <a:lnSpc>
                <a:spcPct val="115000"/>
              </a:lnSpc>
              <a:spcAft>
                <a:spcPts val="600"/>
              </a:spcAft>
            </a:pPr>
            <a:r>
              <a:rPr sz="1500" b="0">
                <a:solidFill>
                  <a:srgbClr val="1C222B"/>
                </a:solidFill>
                <a:latin typeface="Menlo"/>
              </a:rPr>
              <a:t>     most when labels are scarce.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7  DIFFERENT DECODER  dilated convs (DeepLab), or a ViT encoder</a:t>
            </a:r>
          </a:p>
          <a:p>
            <a:pPr algn="l">
              <a:lnSpc>
                <a:spcPct val="115000"/>
              </a:lnSpc>
              <a:spcAft>
                <a:spcPts val="600"/>
              </a:spcAft>
            </a:pPr>
            <a:r>
              <a:rPr sz="1500" b="0">
                <a:solidFill>
                  <a:srgbClr val="1C222B"/>
                </a:solidFill>
                <a:latin typeface="Menlo"/>
              </a:rPr>
              <a:t>     U-Net is 2015. Dilated convolutions widen the receptive field with</a:t>
            </a:r>
          </a:p>
          <a:p>
            <a:pPr algn="l">
              <a:lnSpc>
                <a:spcPct val="115000"/>
              </a:lnSpc>
              <a:spcAft>
                <a:spcPts val="600"/>
              </a:spcAft>
            </a:pPr>
            <a:r>
              <a:rPr sz="1500" b="0">
                <a:solidFill>
                  <a:srgbClr val="1C222B"/>
                </a:solidFill>
                <a:latin typeface="Menlo"/>
              </a:rPr>
              <a:t>     no pooling at all — attacking this session's tension at the root</a:t>
            </a:r>
          </a:p>
          <a:p>
            <a:pPr algn="l">
              <a:lnSpc>
                <a:spcPct val="115000"/>
              </a:lnSpc>
              <a:spcAft>
                <a:spcPts val="600"/>
              </a:spcAft>
            </a:pPr>
            <a:r>
              <a:rPr sz="1500" b="0">
                <a:solidFill>
                  <a:srgbClr val="1C222B"/>
                </a:solidFill>
                <a:latin typeface="Menlo"/>
              </a:rPr>
              <a:t>     instead of routing around it.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2377440"/>
            <a:ext cx="10637215" cy="365760"/>
          </a:xfrm>
          <a:prstGeom prst="rect">
            <a:avLst/>
          </a:prstGeom>
          <a:noFill/>
        </p:spPr>
        <p:txBody>
          <a:bodyPr wrap="square">
            <a:spAutoFit/>
          </a:bodyPr>
          <a:lstStyle/>
          <a:p>
            <a:pPr algn="l">
              <a:lnSpc>
                <a:spcPct val="100000"/>
              </a:lnSpc>
              <a:spcAft>
                <a:spcPts val="600"/>
              </a:spcAft>
            </a:pPr>
            <a:r>
              <a:rPr sz="1400" b="1">
                <a:solidFill>
                  <a:srgbClr val="C2551E"/>
                </a:solidFill>
                <a:latin typeface="Helvetica Neue"/>
              </a:rPr>
              <a:t>BACKUP</a:t>
            </a:r>
          </a:p>
        </p:txBody>
      </p:sp>
      <p:sp>
        <p:nvSpPr>
          <p:cNvPr id="3" name="TextBox 2"/>
          <p:cNvSpPr txBox="1"/>
          <p:nvPr/>
        </p:nvSpPr>
        <p:spPr>
          <a:xfrm>
            <a:off x="777240" y="2743200"/>
            <a:ext cx="10637215" cy="1097280"/>
          </a:xfrm>
          <a:prstGeom prst="rect">
            <a:avLst/>
          </a:prstGeom>
          <a:noFill/>
        </p:spPr>
        <p:txBody>
          <a:bodyPr wrap="square">
            <a:spAutoFit/>
          </a:bodyPr>
          <a:lstStyle/>
          <a:p>
            <a:pPr algn="l">
              <a:lnSpc>
                <a:spcPct val="100000"/>
              </a:lnSpc>
              <a:spcAft>
                <a:spcPts val="600"/>
              </a:spcAft>
            </a:pPr>
            <a:r>
              <a:rPr sz="4000" b="1">
                <a:solidFill>
                  <a:srgbClr val="1F4E79"/>
                </a:solidFill>
                <a:latin typeface="Helvetica Neue"/>
              </a:rPr>
              <a:t>Running it yourself</a:t>
            </a:r>
          </a:p>
        </p:txBody>
      </p:sp>
      <p:sp>
        <p:nvSpPr>
          <p:cNvPr id="4" name="Rectangle 3"/>
          <p:cNvSpPr/>
          <p:nvPr/>
        </p:nvSpPr>
        <p:spPr>
          <a:xfrm>
            <a:off x="777240" y="3931920"/>
            <a:ext cx="2743200"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206240"/>
            <a:ext cx="8961120" cy="1097280"/>
          </a:xfrm>
          <a:prstGeom prst="rect">
            <a:avLst/>
          </a:prstGeom>
          <a:noFill/>
        </p:spPr>
        <p:txBody>
          <a:bodyPr wrap="square">
            <a:spAutoFit/>
          </a:bodyPr>
          <a:lstStyle/>
          <a:p>
            <a:pPr algn="l">
              <a:lnSpc>
                <a:spcPct val="120000"/>
              </a:lnSpc>
              <a:spcAft>
                <a:spcPts val="600"/>
              </a:spcAft>
            </a:pPr>
            <a:r>
              <a:rPr sz="1800" b="0">
                <a:solidFill>
                  <a:srgbClr val="6B7582"/>
                </a:solidFill>
                <a:latin typeface="Helvetica Neue"/>
              </a:rPr>
              <a:t>Every figure in this deck is regenerated by the script that built it, from the checkpoints the parts wrote.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BACKUP</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How to watch a run</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4663440"/>
          </a:xfrm>
          <a:prstGeom prst="rect">
            <a:avLst/>
          </a:prstGeom>
          <a:noFill/>
        </p:spPr>
        <p:txBody>
          <a:bodyPr wrap="square">
            <a:spAutoFit/>
          </a:bodyPr>
          <a:lstStyle/>
          <a:p>
            <a:pPr algn="l">
              <a:lnSpc>
                <a:spcPct val="115000"/>
              </a:lnSpc>
              <a:spcAft>
                <a:spcPts val="600"/>
              </a:spcAft>
            </a:pPr>
            <a:r>
              <a:rPr sz="1500" b="0">
                <a:solidFill>
                  <a:srgbClr val="1C222B"/>
                </a:solidFill>
                <a:latin typeface="Menlo"/>
              </a:rPr>
              <a:t>  trackio show --project "week4-unet"</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Every part logs, per epoch: train_loss, test/acc, test/mIoU, and the three per-class IoUs. The run config carries the architecture, the parameter count, the learning rate and the training-set size, so the dashboard's run table sorts into a leaderboard on its own.</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900" b="1">
                <a:solidFill>
                  <a:srgbClr val="1C222B"/>
                </a:solidFill>
                <a:latin typeface="Helvetica Neue"/>
              </a:rPr>
              <a:t>Two honest notes.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1. These per-epoch numbers are on the TEST set, so they are</a:t>
            </a:r>
          </a:p>
          <a:p>
            <a:pPr algn="l">
              <a:lnSpc>
                <a:spcPct val="115000"/>
              </a:lnSpc>
              <a:spcAft>
                <a:spcPts val="600"/>
              </a:spcAft>
            </a:pPr>
            <a:r>
              <a:rPr sz="1500" b="0">
                <a:solidFill>
                  <a:srgbClr val="1C222B"/>
                </a:solidFill>
                <a:latin typeface="Menlo"/>
              </a:rPr>
              <a:t>     monitoring, not selection: every part trains a fixed number of</a:t>
            </a:r>
          </a:p>
          <a:p>
            <a:pPr algn="l">
              <a:lnSpc>
                <a:spcPct val="115000"/>
              </a:lnSpc>
              <a:spcAft>
                <a:spcPts val="600"/>
              </a:spcAft>
            </a:pPr>
            <a:r>
              <a:rPr sz="1500" b="0">
                <a:solidFill>
                  <a:srgbClr val="1C222B"/>
                </a:solidFill>
                <a:latin typeface="Menlo"/>
              </a:rPr>
              <a:t>     epochs decided in advance and reports the last one. The moment</a:t>
            </a:r>
          </a:p>
          <a:p>
            <a:pPr algn="l">
              <a:lnSpc>
                <a:spcPct val="115000"/>
              </a:lnSpc>
              <a:spcAft>
                <a:spcPts val="600"/>
              </a:spcAft>
            </a:pPr>
            <a:r>
              <a:rPr sz="1500" b="0">
                <a:solidFill>
                  <a:srgbClr val="1C222B"/>
                </a:solidFill>
                <a:latin typeface="Menlo"/>
              </a:rPr>
              <a:t>     you want to CHOOSE something, carve a validation split out of</a:t>
            </a:r>
          </a:p>
          <a:p>
            <a:pPr algn="l">
              <a:lnSpc>
                <a:spcPct val="115000"/>
              </a:lnSpc>
              <a:spcAft>
                <a:spcPts val="600"/>
              </a:spcAft>
            </a:pPr>
            <a:r>
              <a:rPr sz="1500" b="0">
                <a:solidFill>
                  <a:srgbClr val="1C222B"/>
                </a:solidFill>
                <a:latin typeface="Menlo"/>
              </a:rPr>
              <a:t>     trainval first, the way Week 3 Part 7 does.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2. Measuring once per epoch changed the results, at first. See the</a:t>
            </a:r>
          </a:p>
          <a:p>
            <a:pPr algn="l">
              <a:lnSpc>
                <a:spcPct val="115000"/>
              </a:lnSpc>
              <a:spcAft>
                <a:spcPts val="600"/>
              </a:spcAft>
            </a:pPr>
            <a:r>
              <a:rPr sz="1500" b="0">
                <a:solidFill>
                  <a:srgbClr val="1C222B"/>
                </a:solidFill>
                <a:latin typeface="Menlo"/>
              </a:rPr>
              <a:t>     next slide -- it is a bug worth meeting once.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BACKUP · THE INSTRUMENT</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Why the dashboard plots IoU and not accuracy</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io_instr.png"/>
          <p:cNvPicPr>
            <a:picLocks noChangeAspect="1"/>
          </p:cNvPicPr>
          <p:nvPr/>
        </p:nvPicPr>
        <p:blipFill>
          <a:blip r:embed="rId2"/>
          <a:stretch>
            <a:fillRect/>
          </a:stretch>
        </p:blipFill>
        <p:spPr>
          <a:xfrm>
            <a:off x="2376059" y="1783080"/>
            <a:ext cx="7439577" cy="3657600"/>
          </a:xfrm>
          <a:prstGeom prst="rect">
            <a:avLst/>
          </a:prstGeom>
        </p:spPr>
      </p:pic>
      <p:sp>
        <p:nvSpPr>
          <p:cNvPr id="6" name="TextBox 5"/>
          <p:cNvSpPr txBox="1"/>
          <p:nvPr/>
        </p:nvSpPr>
        <p:spPr>
          <a:xfrm>
            <a:off x="777240" y="5897880"/>
            <a:ext cx="10637215" cy="548640"/>
          </a:xfrm>
          <a:prstGeom prst="rect">
            <a:avLst/>
          </a:prstGeom>
          <a:noFill/>
        </p:spPr>
        <p:txBody>
          <a:bodyPr wrap="square">
            <a:spAutoFit/>
          </a:bodyPr>
          <a:lstStyle/>
          <a:p>
            <a:pPr algn="ctr">
              <a:lnSpc>
                <a:spcPct val="100000"/>
              </a:lnSpc>
              <a:spcAft>
                <a:spcPts val="600"/>
              </a:spcAft>
            </a:pPr>
            <a:r>
              <a:rPr sz="1400" b="0">
                <a:solidFill>
                  <a:srgbClr val="6B7582"/>
                </a:solidFill>
                <a:latin typeface="Helvetica Neue"/>
              </a:rPr>
              <a:t>One run (U-Net, skips ON), three metrics, one axis. Accuracy opens at 0.771 -- barely above the 0.579 a model scores for predicting 'background' everywhere -- and gains 0.116 over 15 epochs. The border class opens at 0.274 and gains 0.180, and is still climbing at the end. Same run: one curve says 'nearly done', the other says 'keep going'.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BACKUP · THE INSTRUMENT</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bug that instrumentation introduced</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19072"/>
            <a:ext cx="10637215" cy="4681728"/>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Adding the per-epoch probe made the training runs stop reproducing.</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epoch 1   loss 0.6974   &lt;- identical to the un-instrumented run</a:t>
            </a:r>
          </a:p>
          <a:p>
            <a:pPr algn="l">
              <a:lnSpc>
                <a:spcPct val="115000"/>
              </a:lnSpc>
              <a:spcAft>
                <a:spcPts val="600"/>
              </a:spcAft>
            </a:pPr>
            <a:r>
              <a:rPr sz="1500" b="0">
                <a:solidFill>
                  <a:srgbClr val="1C222B"/>
                </a:solidFill>
                <a:latin typeface="Menlo"/>
              </a:rPr>
              <a:t>  epoch 2   loss 0.6268   &lt;- and from here on, different</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Nothing was wrong with the measurement. Creating a DataLoader ITERATOR draws a number from the global RNG, and our training loader shuffles from that same RNG — so evaluating once per epoch re-dealt the training order from epoch 2 onwards.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def undisturbed(fn):          # common.py</a:t>
            </a:r>
          </a:p>
          <a:p>
            <a:pPr algn="l">
              <a:lnSpc>
                <a:spcPct val="115000"/>
              </a:lnSpc>
              <a:spcAft>
                <a:spcPts val="600"/>
              </a:spcAft>
            </a:pPr>
            <a:r>
              <a:rPr sz="1500" b="0">
                <a:solidFill>
                  <a:srgbClr val="1C222B"/>
                </a:solidFill>
                <a:latin typeface="Menlo"/>
              </a:rPr>
              <a:t>      state = torch.get_rng_state()</a:t>
            </a:r>
          </a:p>
          <a:p>
            <a:pPr algn="l">
              <a:lnSpc>
                <a:spcPct val="115000"/>
              </a:lnSpc>
              <a:spcAft>
                <a:spcPts val="600"/>
              </a:spcAft>
            </a:pPr>
            <a:r>
              <a:rPr sz="1500" b="0">
                <a:solidFill>
                  <a:srgbClr val="1C222B"/>
                </a:solidFill>
                <a:latin typeface="Menlo"/>
              </a:rPr>
              <a:t>      try:     return fn(model)</a:t>
            </a:r>
          </a:p>
          <a:p>
            <a:pPr algn="l">
              <a:lnSpc>
                <a:spcPct val="115000"/>
              </a:lnSpc>
              <a:spcAft>
                <a:spcPts val="600"/>
              </a:spcAft>
            </a:pPr>
            <a:r>
              <a:rPr sz="1500" b="0">
                <a:solidFill>
                  <a:srgbClr val="1C222B"/>
                </a:solidFill>
                <a:latin typeface="Menlo"/>
              </a:rPr>
              <a:t>      finally: torch.set_rng_state(state)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The check that it worked: the per-epoch losses now match the runs from before any logging existed, to four decimals.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BACKUP</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The files</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19072"/>
            <a:ext cx="10637215" cy="4681728"/>
          </a:xfrm>
          <a:prstGeom prst="rect">
            <a:avLst/>
          </a:prstGeom>
          <a:noFill/>
        </p:spPr>
        <p:txBody>
          <a:bodyPr wrap="square">
            <a:spAutoFit/>
          </a:bodyPr>
          <a:lstStyle/>
          <a:p>
            <a:pPr algn="l">
              <a:lnSpc>
                <a:spcPct val="115000"/>
              </a:lnSpc>
              <a:spcAft>
                <a:spcPts val="600"/>
              </a:spcAft>
            </a:pPr>
            <a:r>
              <a:rPr sz="1500" b="0">
                <a:solidFill>
                  <a:srgbClr val="1C222B"/>
                </a:solidFill>
                <a:latin typeface="Menlo"/>
              </a:rPr>
              <a:t>  cd week4_unet</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python part1_classifier_to_segmenter.py     # ~2 min</a:t>
            </a:r>
          </a:p>
          <a:p>
            <a:pPr algn="l">
              <a:lnSpc>
                <a:spcPct val="115000"/>
              </a:lnSpc>
              <a:spcAft>
                <a:spcPts val="600"/>
              </a:spcAft>
            </a:pPr>
            <a:r>
              <a:rPr sz="1500" b="0">
                <a:solidFill>
                  <a:srgbClr val="1C222B"/>
                </a:solidFill>
                <a:latin typeface="Menlo"/>
              </a:rPr>
              <a:t>  python part2a_cnn_autoencoder.py            # ~9 min</a:t>
            </a:r>
          </a:p>
          <a:p>
            <a:pPr algn="l">
              <a:lnSpc>
                <a:spcPct val="115000"/>
              </a:lnSpc>
              <a:spcAft>
                <a:spcPts val="600"/>
              </a:spcAft>
            </a:pPr>
            <a:r>
              <a:rPr sz="1500" b="0">
                <a:solidFill>
                  <a:srgbClr val="1C222B"/>
                </a:solidFill>
                <a:latin typeface="Menlo"/>
              </a:rPr>
              <a:t>  python part2b_waist_sweep.py                # ~11 min</a:t>
            </a:r>
          </a:p>
          <a:p>
            <a:pPr algn="l">
              <a:lnSpc>
                <a:spcPct val="115000"/>
              </a:lnSpc>
              <a:spcAft>
                <a:spcPts val="600"/>
              </a:spcAft>
            </a:pPr>
            <a:r>
              <a:rPr sz="1500" b="0">
                <a:solidFill>
                  <a:srgbClr val="1C222B"/>
                </a:solidFill>
                <a:latin typeface="Menlo"/>
              </a:rPr>
              <a:t>  python part3_encoder_decoder.py --pretrained             # ~12 min</a:t>
            </a:r>
          </a:p>
          <a:p>
            <a:pPr algn="l">
              <a:lnSpc>
                <a:spcPct val="115000"/>
              </a:lnSpc>
              <a:spcAft>
                <a:spcPts val="600"/>
              </a:spcAft>
            </a:pPr>
            <a:r>
              <a:rPr sz="1500" b="0">
                <a:solidFill>
                  <a:srgbClr val="1C222B"/>
                </a:solidFill>
                <a:latin typeface="Menlo"/>
              </a:rPr>
              <a:t>  python part3_encoder_decoder.py --pretrained --n-train 500 --skip-baseline</a:t>
            </a:r>
          </a:p>
          <a:p>
            <a:pPr algn="l">
              <a:lnSpc>
                <a:spcPct val="115000"/>
              </a:lnSpc>
              <a:spcAft>
                <a:spcPts val="600"/>
              </a:spcAft>
            </a:pPr>
            <a:r>
              <a:rPr sz="1500" b="0">
                <a:solidFill>
                  <a:srgbClr val="1C222B"/>
                </a:solidFill>
                <a:latin typeface="Menlo"/>
              </a:rPr>
              <a:t>  python part4_unet.py                        # ~18 min</a:t>
            </a:r>
          </a:p>
          <a:p>
            <a:pPr algn="l">
              <a:lnSpc>
                <a:spcPct val="115000"/>
              </a:lnSpc>
              <a:spcAft>
                <a:spcPts val="600"/>
              </a:spcAft>
            </a:pPr>
            <a:r>
              <a:rPr sz="1500" b="0">
                <a:solidFill>
                  <a:srgbClr val="1C222B"/>
                </a:solidFill>
                <a:latin typeface="Menlo"/>
              </a:rPr>
              <a:t>  python part4_unet.py --shapes-only          # shapes, no training</a:t>
            </a:r>
          </a:p>
          <a:p>
            <a:pPr algn="l">
              <a:lnSpc>
                <a:spcPct val="115000"/>
              </a:lnSpc>
              <a:spcAft>
                <a:spcPts val="600"/>
              </a:spcAft>
            </a:pPr>
            <a:r>
              <a:rPr sz="1500" b="0">
                <a:solidFill>
                  <a:srgbClr val="1C222B"/>
                </a:solidFill>
                <a:latin typeface="Menlo"/>
              </a:rPr>
              <a:t>  python part5_unet_visualize.py              # take-home</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1C222B"/>
                </a:solidFill>
                <a:latin typeface="Menlo"/>
              </a:rPr>
              <a:t>  python compare_parts.py                     # the summary figure</a:t>
            </a:r>
          </a:p>
          <a:p>
            <a:pPr algn="l">
              <a:lnSpc>
                <a:spcPct val="115000"/>
              </a:lnSpc>
              <a:spcAft>
                <a:spcPts val="600"/>
              </a:spcAft>
            </a:pPr>
            <a:r>
              <a:rPr sz="1500" b="0">
                <a:solidFill>
                  <a:srgbClr val="1C222B"/>
                </a:solidFill>
                <a:latin typeface="Menlo"/>
              </a:rPr>
              <a:t>  python slides/build_slides.py               # this deck</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Weights land in checkpoints/, figures in results/ (set WEEK4_SAVE_FIGS=1), loss curves in results/training_curves.json. The first run caches the dataset at 96x96, once, in about 23 seconds.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7"/>
        </a:solidFill>
        <a:effectLst/>
      </p:bgPr>
    </p:bg>
    <p:spTree>
      <p:nvGrpSpPr>
        <p:cNvPr id="1" name=""/>
        <p:cNvGrpSpPr/>
        <p:nvPr/>
      </p:nvGrpSpPr>
      <p:grpSpPr/>
      <p:sp>
        <p:nvSpPr>
          <p:cNvPr id="2" name="TextBox 1"/>
          <p:cNvSpPr txBox="1"/>
          <p:nvPr/>
        </p:nvSpPr>
        <p:spPr>
          <a:xfrm>
            <a:off x="777240" y="457200"/>
            <a:ext cx="10637215" cy="320040"/>
          </a:xfrm>
          <a:prstGeom prst="rect">
            <a:avLst/>
          </a:prstGeom>
          <a:noFill/>
        </p:spPr>
        <p:txBody>
          <a:bodyPr wrap="square">
            <a:spAutoFit/>
          </a:bodyPr>
          <a:lstStyle/>
          <a:p>
            <a:pPr algn="l">
              <a:lnSpc>
                <a:spcPct val="100000"/>
              </a:lnSpc>
              <a:spcAft>
                <a:spcPts val="600"/>
              </a:spcAft>
            </a:pPr>
            <a:r>
              <a:rPr sz="1200" b="1">
                <a:solidFill>
                  <a:srgbClr val="C2551E"/>
                </a:solidFill>
                <a:latin typeface="Helvetica Neue"/>
              </a:rPr>
              <a:t>BACKUP</a:t>
            </a:r>
          </a:p>
        </p:txBody>
      </p:sp>
      <p:sp>
        <p:nvSpPr>
          <p:cNvPr id="3" name="TextBox 2"/>
          <p:cNvSpPr txBox="1"/>
          <p:nvPr/>
        </p:nvSpPr>
        <p:spPr>
          <a:xfrm>
            <a:off x="777240" y="777240"/>
            <a:ext cx="10637215" cy="731520"/>
          </a:xfrm>
          <a:prstGeom prst="rect">
            <a:avLst/>
          </a:prstGeom>
          <a:noFill/>
        </p:spPr>
        <p:txBody>
          <a:bodyPr wrap="square">
            <a:spAutoFit/>
          </a:bodyPr>
          <a:lstStyle/>
          <a:p>
            <a:pPr algn="l">
              <a:lnSpc>
                <a:spcPct val="100000"/>
              </a:lnSpc>
              <a:spcAft>
                <a:spcPts val="600"/>
              </a:spcAft>
            </a:pPr>
            <a:r>
              <a:rPr sz="2900" b="1">
                <a:solidFill>
                  <a:srgbClr val="1F4E79"/>
                </a:solidFill>
                <a:latin typeface="Helvetica Neue"/>
              </a:rPr>
              <a:t>Where the numbers in this deck come from</a:t>
            </a:r>
          </a:p>
        </p:txBody>
      </p:sp>
      <p:sp>
        <p:nvSpPr>
          <p:cNvPr id="4" name="Rectangle 3"/>
          <p:cNvSpPr/>
          <p:nvPr/>
        </p:nvSpPr>
        <p:spPr>
          <a:xfrm>
            <a:off x="777240" y="1481328"/>
            <a:ext cx="10637215" cy="15240"/>
          </a:xfrm>
          <a:prstGeom prst="rect">
            <a:avLst/>
          </a:prstGeom>
          <a:solidFill>
            <a:srgbClr val="D8D3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19072"/>
            <a:ext cx="10637215" cy="4681728"/>
          </a:xfrm>
          <a:prstGeom prst="rect">
            <a:avLst/>
          </a:prstGeom>
          <a:noFill/>
        </p:spPr>
        <p:txBody>
          <a:bodyPr wrap="square">
            <a:spAutoFit/>
          </a:bodyPr>
          <a:lstStyle/>
          <a:p>
            <a:pPr algn="l">
              <a:lnSpc>
                <a:spcPct val="115000"/>
              </a:lnSpc>
              <a:spcAft>
                <a:spcPts val="600"/>
              </a:spcAft>
            </a:pPr>
            <a:r>
              <a:rPr sz="1900" b="1">
                <a:solidFill>
                  <a:srgbClr val="1C222B"/>
                </a:solidFill>
                <a:latin typeface="Helvetica Neue"/>
              </a:rPr>
              <a:t>Measured at build time, on 1000 held-out test images (mps):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 every mIoU, IoU and accuracy — by loading checkpoints/*.pt and running them here;</a:t>
            </a:r>
          </a:p>
          <a:p>
            <a:pPr algn="l">
              <a:lnSpc>
                <a:spcPct val="115000"/>
              </a:lnSpc>
              <a:spcAft>
                <a:spcPts val="600"/>
              </a:spcAft>
            </a:pPr>
            <a:r>
              <a:rPr sz="1700" b="0">
                <a:solidFill>
                  <a:srgbClr val="1C222B"/>
                </a:solidFill>
                <a:latin typeface="Helvetica Neue"/>
              </a:rPr>
              <a:t>· every parameter count — count_params() on the model itself;</a:t>
            </a:r>
          </a:p>
          <a:p>
            <a:pPr algn="l">
              <a:lnSpc>
                <a:spcPct val="115000"/>
              </a:lnSpc>
              <a:spcAft>
                <a:spcPts val="600"/>
              </a:spcAft>
            </a:pPr>
            <a:r>
              <a:rPr sz="1700" b="0">
                <a:solidFill>
                  <a:srgbClr val="1C222B"/>
                </a:solidFill>
                <a:latin typeface="Helvetica Neue"/>
              </a:rPr>
              <a:t>· every tensor shape in the architecture diagrams — forward hooks on a real forward pass;</a:t>
            </a:r>
          </a:p>
          <a:p>
            <a:pPr algn="l">
              <a:lnSpc>
                <a:spcPct val="115000"/>
              </a:lnSpc>
              <a:spcAft>
                <a:spcPts val="600"/>
              </a:spcAft>
            </a:pPr>
            <a:r>
              <a:rPr sz="1700" b="0">
                <a:solidFill>
                  <a:srgbClr val="1C222B"/>
                </a:solidFill>
                <a:latin typeface="Helvetica Neue"/>
              </a:rPr>
              <a:t>· the class shares — counted off the test labels.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700" b="0">
                <a:solidFill>
                  <a:srgbClr val="1C222B"/>
                </a:solidFill>
                <a:latin typeface="Helvetica Neue"/>
              </a:rPr>
              <a:t>Read from results/training_curves.json, written by the parts:</a:t>
            </a:r>
          </a:p>
          <a:p>
            <a:pPr algn="l">
              <a:lnSpc>
                <a:spcPct val="115000"/>
              </a:lnSpc>
              <a:spcAft>
                <a:spcPts val="600"/>
              </a:spcAft>
            </a:pPr>
            <a:r>
              <a:rPr sz="1700" b="0">
                <a:solidFill>
                  <a:srgbClr val="1C222B"/>
                </a:solidFill>
                <a:latin typeface="Helvetica Neue"/>
              </a:rPr>
              <a:t>· the training loss curves.</a:t>
            </a:r>
          </a:p>
          <a:p>
            <a:pPr algn="l">
              <a:lnSpc>
                <a:spcPct val="115000"/>
              </a:lnSpc>
              <a:spcAft>
                <a:spcPts val="600"/>
              </a:spcAft>
            </a:pPr>
            <a:r>
              <a:rPr sz="1700" b="0">
                <a:solidFill>
                  <a:srgbClr val="1C222B"/>
                </a:solidFill>
                <a:latin typeface="Helvetica Neue"/>
              </a:rPr>
              <a:t/>
            </a:r>
          </a:p>
          <a:p>
            <a:pPr algn="l">
              <a:lnSpc>
                <a:spcPct val="115000"/>
              </a:lnSpc>
              <a:spcAft>
                <a:spcPts val="600"/>
              </a:spcAft>
            </a:pPr>
            <a:r>
              <a:rPr sz="1500" b="0">
                <a:solidFill>
                  <a:srgbClr val="6B7582"/>
                </a:solidFill>
                <a:latin typeface="Helvetica Neue"/>
              </a:rPr>
              <a:t>Transcribed by hand, because the runs that produced them saved no weights: part 2's waist sweep and the 500-label pretraining comparison. Both are marked in build_slides.py with the command that reproduces them, and the waist sweep's parameter counts are still recomputed 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