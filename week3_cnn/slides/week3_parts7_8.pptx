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210312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C2551E"/>
                </a:solidFill>
                <a:latin typeface="Helvetica Neue"/>
              </a:rPr>
              <a:t>WEEK 3  ·  PARTS 7 AND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14600"/>
            <a:ext cx="106372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400" b="1">
                <a:solidFill>
                  <a:srgbClr val="1F4E79"/>
                </a:solidFill>
                <a:latin typeface="Helvetica Neue"/>
              </a:rPr>
              <a:t>From 73% to 91%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749039"/>
            <a:ext cx="8778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100" b="0">
                <a:solidFill>
                  <a:srgbClr val="1C222B"/>
                </a:solidFill>
                <a:latin typeface="Helvetica Neue"/>
              </a:rPr>
              <a:t>Six rungs on CIFAR-10, one change at a time.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6B7582"/>
                </a:solidFill>
                <a:latin typeface="Helvetica Neue"/>
              </a:rPr>
              <a:t>Every number measured on the same 5,000 validation images.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394960"/>
            <a:ext cx="2743200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THE STARTING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Part 6 ended here: 73%, and stuck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run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736" y="1783080"/>
            <a:ext cx="8034223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89788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B7582"/>
                </a:solidFill>
                <a:latin typeface="Helvetica Neue"/>
              </a:rPr>
              <a:t>Rung 0 — part 6's config D. train 0.765, val 0.734, test 0.732, gap 0.031.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Read the training accuracy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C222B"/>
                </a:solidFill>
                <a:latin typeface="Helvetica Neue"/>
              </a:rPr>
              <a:t>A 3-point gap is not an overfitting problem.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900" b="1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C222B"/>
                </a:solidFill>
                <a:latin typeface="Helvetica Neue"/>
              </a:rPr>
              <a:t>train 0.765  —  the model cannot fit the images it was trained on.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C222B"/>
                </a:solidFill>
                <a:latin typeface="Helvetica Neue"/>
              </a:rPr>
              <a:t>val   0.734  —  and it is only 3 points behind.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700" b="0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582"/>
                </a:solidFill>
                <a:latin typeface="Helvetica Neue"/>
              </a:rPr>
              <a:t>Overfitting  =  train high, val far below.  Fix: regularise, add data.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582"/>
                </a:solidFill>
                <a:latin typeface="Helvetica Neue"/>
              </a:rPr>
              <a:t>Underfitting =  train itself is low.  Fix: more data, better optimisation, more capacity.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500" b="0">
              <a:solidFill>
                <a:srgbClr val="6B7582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C222B"/>
                </a:solidFill>
                <a:latin typeface="Helvetica Neue"/>
              </a:rPr>
              <a:t>Part 6 regularised an overfitting model until it underfit. Parts 7 and 8 raise the ceiling back 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Three rules, and they matter more than the rungs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C222B"/>
                </a:solidFill>
                <a:latin typeface="Helvetica Neue"/>
              </a:rPr>
              <a:t>ONE CHANGE PER RUNG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C222B"/>
                </a:solidFill>
                <a:latin typeface="Helvetica Neue"/>
              </a:rPr>
              <a:t>Each rung differs from the one above it in exactly one respect, so each gain has exactly one cause.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700" b="0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C222B"/>
                </a:solidFill>
                <a:latin typeface="Helvetica Neue"/>
              </a:rPr>
              <a:t>ONE FIXED YARDSTICK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C222B"/>
                </a:solidFill>
                <a:latin typeface="Helvetica Neue"/>
              </a:rPr>
              <a:t>Every run — every rung, every sweep, every control — is scored on the same 5,000 validation images. The test set is opened once, at the end.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700" b="0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C222B"/>
                </a:solidFill>
                <a:latin typeface="Helvetica Neue"/>
              </a:rPr>
              <a:t>MEASURE THE CONFOUND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C222B"/>
                </a:solidFill>
                <a:latin typeface="Helvetica Neue"/>
              </a:rPr>
              <a:t>When a change drags a second change along with it, run the control that separates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THE WHOLE STORY ON ONE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Six rungs, 73% → 91%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t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232" y="1783080"/>
            <a:ext cx="8899231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89788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B7582"/>
                </a:solidFill>
                <a:latin typeface="Helvetica Neue"/>
              </a:rPr>
              <a:t>Validation and test move together throughout — the validation split is doing its job.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THE WHOLE STORY ON ONE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The same six rungs, as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36875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B7582"/>
                </a:solidFill>
                <a:latin typeface="Helvetica Neue"/>
              </a:rPr>
              <a:t>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64807" y="1874519"/>
            <a:ext cx="1418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B7582"/>
                </a:solidFill>
                <a:latin typeface="Helvetica Neue"/>
              </a:rPr>
              <a:t>params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83102" y="1874519"/>
            <a:ext cx="99280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B7582"/>
                </a:solidFill>
                <a:latin typeface="Helvetica Neue"/>
              </a:rPr>
              <a:t>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75908" y="1874519"/>
            <a:ext cx="1134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B7582"/>
                </a:solidFill>
                <a:latin typeface="Helvetica Neue"/>
              </a:rPr>
              <a:t>train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0544" y="1874519"/>
            <a:ext cx="1134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B7582"/>
                </a:solidFill>
                <a:latin typeface="Helvetica Neue"/>
              </a:rPr>
              <a:t>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5180" y="1874519"/>
            <a:ext cx="1134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B7582"/>
                </a:solidFill>
                <a:latin typeface="Helvetica Neue"/>
              </a:rPr>
              <a:t>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79816" y="1874519"/>
            <a:ext cx="1134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B7582"/>
                </a:solidFill>
                <a:latin typeface="Helvetica Neue"/>
              </a:rPr>
              <a:t>gap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286000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395728"/>
            <a:ext cx="36875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Helvetica Neue"/>
              </a:rPr>
              <a:t>0: part6 config D (18k)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4807" y="2395728"/>
            <a:ext cx="1418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188,810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83102" y="2395728"/>
            <a:ext cx="99280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2.0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5908" y="2395728"/>
            <a:ext cx="1134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0.765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0544" y="2395728"/>
            <a:ext cx="1134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C2551E"/>
                </a:solidFill>
                <a:latin typeface="Menlo"/>
              </a:rPr>
              <a:t>0.734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5180" y="2395728"/>
            <a:ext cx="1134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0.732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9816" y="2395728"/>
            <a:ext cx="1134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0.031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816352"/>
            <a:ext cx="36875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Helvetica Neue"/>
              </a:rPr>
              <a:t>1: + full data (45k)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4807" y="2816352"/>
            <a:ext cx="1418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188,810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83102" y="2816352"/>
            <a:ext cx="99280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4.5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5908" y="2816352"/>
            <a:ext cx="1134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0.812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0544" y="2816352"/>
            <a:ext cx="1134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C2551E"/>
                </a:solidFill>
                <a:latin typeface="Menlo"/>
              </a:rPr>
              <a:t>0.790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5180" y="2816352"/>
            <a:ext cx="1134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0.782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9816" y="2816352"/>
            <a:ext cx="1134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0.022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236976"/>
            <a:ext cx="36875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Helvetica Neue"/>
              </a:rPr>
              <a:t>2a: + BatchNorm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4807" y="3236976"/>
            <a:ext cx="1418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188,970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83102" y="3236976"/>
            <a:ext cx="99280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4.8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5908" y="3236976"/>
            <a:ext cx="1134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0.835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544" y="3236976"/>
            <a:ext cx="1134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C2551E"/>
                </a:solidFill>
                <a:latin typeface="Menlo"/>
              </a:rPr>
              <a:t>0.811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5180" y="3236976"/>
            <a:ext cx="1134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0.802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79816" y="3236976"/>
            <a:ext cx="1134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0.024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3657600"/>
            <a:ext cx="36875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Helvetica Neue"/>
              </a:rPr>
              <a:t>2b: + OneCycle LR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4807" y="3657600"/>
            <a:ext cx="1418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188,970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83102" y="3657600"/>
            <a:ext cx="99280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4.9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75908" y="3657600"/>
            <a:ext cx="1134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0.867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0544" y="3657600"/>
            <a:ext cx="1134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C2551E"/>
                </a:solidFill>
                <a:latin typeface="Menlo"/>
              </a:rPr>
              <a:t>0.832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5180" y="3657600"/>
            <a:ext cx="1134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0.826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79816" y="3657600"/>
            <a:ext cx="1134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0.034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4078224"/>
            <a:ext cx="36875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Helvetica Neue"/>
              </a:rPr>
              <a:t>3b: 2 convs per stage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64807" y="4078224"/>
            <a:ext cx="1418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272,234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83102" y="4078224"/>
            <a:ext cx="99280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6.9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75908" y="4078224"/>
            <a:ext cx="1134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0.934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10544" y="4078224"/>
            <a:ext cx="1134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C2551E"/>
                </a:solidFill>
                <a:latin typeface="Menlo"/>
              </a:rPr>
              <a:t>0.883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5180" y="4078224"/>
            <a:ext cx="1134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0.881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79816" y="4078224"/>
            <a:ext cx="1134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0.051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4498848"/>
            <a:ext cx="36875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Helvetica Neue"/>
              </a:rPr>
              <a:t>3c: widths x2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64807" y="4498848"/>
            <a:ext cx="1418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1,672,010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83102" y="4498848"/>
            <a:ext cx="99280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11.4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5908" y="4498848"/>
            <a:ext cx="1134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0.986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10544" y="4498848"/>
            <a:ext cx="1134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C2551E"/>
                </a:solidFill>
                <a:latin typeface="Menlo"/>
              </a:rPr>
              <a:t>0.915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5180" y="4498848"/>
            <a:ext cx="1134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0.914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79816" y="4498848"/>
            <a:ext cx="11346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0.071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5806440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7582"/>
                </a:solidFill>
                <a:latin typeface="Helvetica Neue"/>
              </a:rPr>
              <a:t>M1 Pro, 30 epochs each, best-validation epoch. The rest of the deck unpacks one rung at a time: the idea, the maths, why it should help, then what it actually did.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C2551E"/>
                </a:solidFill>
                <a:latin typeface="Helvetica Neue"/>
              </a:rPr>
              <a:t>PART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743200"/>
            <a:ext cx="106372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1F4E79"/>
                </a:solidFill>
                <a:latin typeface="Helvetica Neue"/>
              </a:rPr>
              <a:t>Make it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1920"/>
            <a:ext cx="2743200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20624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6B7582"/>
                </a:solidFill>
                <a:latin typeface="Helvetica Neue"/>
              </a:rPr>
              <a:t>The model is not the bottleneck yet. Three rungs that cost almost no parameters: the data we already own, and how we train.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RUNG 1 · FULL DATA ·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The cheapest capacity is data you already have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C222B"/>
                </a:solidFill>
                <a:latin typeface="Helvetica Neue"/>
              </a:rPr>
              <a:t>Part 6 trained on 18,000 of the 45,000 images available.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900" b="1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C222B"/>
                </a:solidFill>
                <a:latin typeface="Helvetica Neue"/>
              </a:rPr>
              <a:t>That was a habit from wanting fast iterations, not a decision about the model. CIFAR-10 ships 50,000 training images; we hold 5,000 back as validation and had been ignoring 27,000 of the rest.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700" b="0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C222B"/>
                </a:solidFill>
                <a:latin typeface="Helvetica Neue"/>
              </a:rPr>
              <a:t>Augmentation re-uses the same 18,000 pictures with random crops and flips. New images carry information augmentation cannot manufacture.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700" b="0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582"/>
                </a:solidFill>
                <a:latin typeface="Helvetica Neue"/>
              </a:rPr>
              <a:t>Rung 1: n_train 18,000 → 45,000. Nothing else moves.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RUNG 1 · FULL DATA · THE MATHS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More data drags a confound along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C222B"/>
                </a:solidFill>
                <a:latin typeface="Helvetica Neue"/>
              </a:rPr>
              <a:t>An epoch is a pass over the training set, so the number of gradient updates depends on how big that set is:</a:t>
            </a:r>
          </a:p>
        </p:txBody>
      </p:sp>
      <p:pic>
        <p:nvPicPr>
          <p:cNvPr id="6" name="Picture 5" descr="eq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455164"/>
            <a:ext cx="5209032" cy="591312"/>
          </a:xfrm>
          <a:prstGeom prst="rect">
            <a:avLst/>
          </a:prstGeom>
        </p:spPr>
      </p:pic>
      <p:pic>
        <p:nvPicPr>
          <p:cNvPr id="7" name="Picture 6" descr="eq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284220"/>
            <a:ext cx="6595872" cy="457200"/>
          </a:xfrm>
          <a:prstGeom prst="rect">
            <a:avLst/>
          </a:prstGeom>
        </p:spPr>
      </p:pic>
      <p:pic>
        <p:nvPicPr>
          <p:cNvPr id="8" name="Picture 7" descr="eq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979164"/>
            <a:ext cx="6790944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765548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C222B"/>
                </a:solidFill>
                <a:latin typeface="Helvetica Neue"/>
              </a:rPr>
              <a:t>So 'more data' is really two changes at once: 2.5x the images AND 2.5x the gradient updates. Either could explain a gain.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08422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582"/>
                </a:solidFill>
                <a:latin typeface="Helvetica Neue"/>
              </a:rPr>
              <a:t>The control: train on the same 18,000 images for 75 epochs — matching the update count with no new pictures. If the updates were doing the work, it should catch 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RUNG 1 · FULL DATA · WHY IT SHOULD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Two sources of error, and data only shrinks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C222B"/>
                </a:solidFill>
                <a:latin typeface="Helvetica Neue"/>
              </a:rPr>
              <a:t>What the network gets wrong splits in two: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900" b="1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C222B"/>
                </a:solidFill>
                <a:latin typeface="Helvetica Neue"/>
              </a:rPr>
              <a:t>· what the architecture cannot represent at all — a ceiling that more data will not move;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C222B"/>
                </a:solidFill>
                <a:latin typeface="Helvetica Neue"/>
              </a:rPr>
              <a:t>· what it cannot pin down from the sample it saw — 18,000 examples leave many hypotheses consistent with the data.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700" b="0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C222B"/>
                </a:solidFill>
                <a:latin typeface="Helvetica Neue"/>
              </a:rPr>
              <a:t>More distinct images shrink the second term. The signature of that working is specific, and worth watching for: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700" b="0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C222B"/>
                </a:solidFill>
                <a:latin typeface="Helvetica Neue"/>
              </a:rPr>
              <a:t>&gt;&gt; accuracy goes up AND the train/val gap gets SMALLER.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582"/>
                </a:solidFill>
                <a:latin typeface="Helvetica Neue"/>
              </a:rPr>
              <a:t>If a change raised accuracy by widening the gap, it bought capacity, not generalisation.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RUNG 1 · FULL DATA · THE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val 0.734 → 0.790  (+5.6 points), and the gap narrows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736" y="1783080"/>
            <a:ext cx="8034223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89788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B7582"/>
                </a:solidFill>
                <a:latin typeface="Helvetica Neue"/>
              </a:rPr>
              <a:t>gap 0.031 → 0.022 — exactly the data-limited signature. The equal-steps control on 18k images landed well short, so it is the images, not the updates.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RUNG 1 · FULL DATA · THE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One argument, threaded 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6B7582"/>
                </a:solidFill>
                <a:latin typeface="Menlo"/>
              </a:rPr>
              <a:t>part7_improving_cnn.py  ·  make_splits()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21408"/>
            <a:ext cx="106372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N_POOL, N_VAL = 50000, 5000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N_FULL = N_POOL - N_VAL      # 45,000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order     = torch.randperm(N_POOL, generator=g.manual_seed(0))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C2551E"/>
                </a:solidFill>
                <a:latin typeface="Menlo"/>
              </a:rPr>
              <a:t>  train_idx = order[:n_train].tolist()      # &lt;- the only knob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val_idx   = order[N_FULL:].tolist()        # never moves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return (Subset(augmented, train_idx),      # training, augmented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        Subset(clean,     val_idx),        # validation, clean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        Subset(clean,     train_idx[:2000]))   # probe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25312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6B7582"/>
                </a:solidFill>
                <a:latin typeface="Helvetica Neue"/>
              </a:rPr>
              <a:t>The validation slice is taken from the END of a fixed shuffle, so it is identical whatever n_train is — that is what makes rung 0 and rung 1 comparable. And because train_idx is a prefix, the 18,000 images are a subset of the 45,000: rung 1 adds data, it does not swap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RUNG 2A · BATCHNORM ·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Every layer is aiming at a moving target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C222B"/>
                </a:solidFill>
                <a:latin typeface="Helvetica Neue"/>
              </a:rPr>
              <a:t>Layer 3 learns a mapping from what layer 2 sends it. Then layer 2's weights change, and the scale of that input shifts underneath layer 3.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900" b="1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C222B"/>
                </a:solidFill>
                <a:latin typeface="Helvetica Neue"/>
              </a:rPr>
              <a:t>The whole stack is doing this to itself, simultaneously, every step. The deeper the network, the worse it gets: a small change early is amplified by everything above it.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700" b="0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C222B"/>
                </a:solidFill>
                <a:latin typeface="Helvetica Neue"/>
              </a:rPr>
              <a:t>BatchNorm pins the distribution. After every conv, normalise each channel across the batch, then let the network learn the scale and offset it actually wants.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700" b="0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582"/>
                </a:solidFill>
                <a:latin typeface="Helvetica Neue"/>
              </a:rPr>
              <a:t>Rung 2a: Conv → ReLU → Pool  becomes  Conv → BatchNorm → ReLU → Pool.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RUNG 2A · BATCHNORM · THE MATHS  (1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Every symbol, before any formula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q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259080" cy="3383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8840" y="1719072"/>
            <a:ext cx="9265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1C222B"/>
                </a:solidFill>
                <a:latin typeface="Helvetica Neue"/>
              </a:rPr>
              <a:t>one mini-batch — the examples used for a single gradient step.</a:t>
            </a:r>
          </a:p>
        </p:txBody>
      </p:sp>
      <p:pic>
        <p:nvPicPr>
          <p:cNvPr id="7" name="Picture 6" descr="eq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31136"/>
            <a:ext cx="332232" cy="338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48840" y="2212848"/>
            <a:ext cx="9265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1C222B"/>
                </a:solidFill>
                <a:latin typeface="Helvetica Neue"/>
              </a:rPr>
              <a:t>how many examples are in it. In our runs, m = 128.</a:t>
            </a:r>
          </a:p>
        </p:txBody>
      </p:sp>
      <p:pic>
        <p:nvPicPr>
          <p:cNvPr id="9" name="Picture 8" descr="eq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724912"/>
            <a:ext cx="292608" cy="338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48840" y="2706624"/>
            <a:ext cx="9265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1C222B"/>
                </a:solidFill>
                <a:latin typeface="Helvetica Neue"/>
              </a:rPr>
              <a:t>one scalar value being normalised, at position i.</a:t>
            </a:r>
          </a:p>
        </p:txBody>
      </p:sp>
      <p:pic>
        <p:nvPicPr>
          <p:cNvPr id="11" name="Picture 10" descr="eq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18688"/>
            <a:ext cx="377952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48840" y="3200400"/>
            <a:ext cx="9265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1C222B"/>
                </a:solidFill>
                <a:latin typeface="Helvetica Neue"/>
              </a:rPr>
              <a:t>the empirical MEAN — empirical because it is measured on this batch, not known in advance.</a:t>
            </a:r>
          </a:p>
        </p:txBody>
      </p:sp>
      <p:pic>
        <p:nvPicPr>
          <p:cNvPr id="13" name="Picture 12" descr="eq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712464"/>
            <a:ext cx="377952" cy="4175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148840" y="3694176"/>
            <a:ext cx="9265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1C222B"/>
                </a:solidFill>
                <a:latin typeface="Helvetica Neue"/>
              </a:rPr>
              <a:t>the empirical VARIANCE of those same values.</a:t>
            </a:r>
          </a:p>
        </p:txBody>
      </p:sp>
      <p:pic>
        <p:nvPicPr>
          <p:cNvPr id="15" name="Picture 14" descr="eq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206240"/>
            <a:ext cx="219456" cy="3383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48840" y="4187952"/>
            <a:ext cx="9265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1C222B"/>
                </a:solidFill>
                <a:latin typeface="Helvetica Neue"/>
              </a:rPr>
              <a:t>a tiny constant so we never divide by zero (PyTorch: 1e-5).</a:t>
            </a:r>
          </a:p>
        </p:txBody>
      </p:sp>
      <p:pic>
        <p:nvPicPr>
          <p:cNvPr id="17" name="Picture 16" descr="eq1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700016"/>
            <a:ext cx="292608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148840" y="4681728"/>
            <a:ext cx="9265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1C222B"/>
                </a:solidFill>
                <a:latin typeface="Helvetica Neue"/>
              </a:rPr>
              <a:t>the normalised value: mean 0, variance 1 across the batch.</a:t>
            </a:r>
          </a:p>
        </p:txBody>
      </p:sp>
      <p:pic>
        <p:nvPicPr>
          <p:cNvPr id="19" name="Picture 18" descr="eq1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193792"/>
            <a:ext cx="624840" cy="3444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48840" y="5175504"/>
            <a:ext cx="9265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1C222B"/>
                </a:solidFill>
                <a:latin typeface="Helvetica Neue"/>
              </a:rPr>
              <a:t>LEARNED scale and shift — the network's chance to undo the normalisation if it wants to.</a:t>
            </a:r>
          </a:p>
        </p:txBody>
      </p:sp>
      <p:pic>
        <p:nvPicPr>
          <p:cNvPr id="21" name="Picture 20" descr="eq1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687568"/>
            <a:ext cx="228600" cy="34137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148840" y="5669280"/>
            <a:ext cx="9265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1C222B"/>
                </a:solidFill>
                <a:latin typeface="Helvetica Neue"/>
              </a:rPr>
              <a:t>which dimension gets its own statistics. The one that trips people up — see 3 of 3.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272784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6B7582"/>
                </a:solidFill>
                <a:latin typeface="Helvetica Neue"/>
              </a:rPr>
              <a:t>Only γ and β are learned. μ, σ² and x̂ are recomputed from scratch on every batch.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RUNG 2A · BATCHNORM · THE MATHS  (2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The three equations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C2551E"/>
                </a:solidFill>
                <a:latin typeface="Helvetica Neue"/>
              </a:rPr>
              <a:t>1.  MEASURE the batch, separately for each dimension k</a:t>
            </a:r>
          </a:p>
        </p:txBody>
      </p:sp>
      <p:pic>
        <p:nvPicPr>
          <p:cNvPr id="6" name="Picture 5" descr="eq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212848"/>
            <a:ext cx="2407920" cy="963167"/>
          </a:xfrm>
          <a:prstGeom prst="rect">
            <a:avLst/>
          </a:prstGeom>
        </p:spPr>
      </p:pic>
      <p:pic>
        <p:nvPicPr>
          <p:cNvPr id="7" name="Picture 6" descr="eq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212848"/>
            <a:ext cx="4349496" cy="9631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342900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C2551E"/>
                </a:solidFill>
                <a:latin typeface="Helvetica Neue"/>
              </a:rPr>
              <a:t>2.  NORMALISE — subtract the mean, divide by the standard deviation</a:t>
            </a:r>
          </a:p>
        </p:txBody>
      </p:sp>
      <p:pic>
        <p:nvPicPr>
          <p:cNvPr id="9" name="Picture 8" descr="eq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3858768"/>
            <a:ext cx="2560320" cy="960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07492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C2551E"/>
                </a:solidFill>
                <a:latin typeface="Helvetica Neue"/>
              </a:rPr>
              <a:t>3.  RESTORE a scale the network chooses for itself</a:t>
            </a:r>
          </a:p>
        </p:txBody>
      </p:sp>
      <p:pic>
        <p:nvPicPr>
          <p:cNvPr id="11" name="Picture 10" descr="eq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5504688"/>
            <a:ext cx="3203448" cy="5974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75120" y="54406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6B7582"/>
                </a:solidFill>
                <a:latin typeface="Helvetica Neue"/>
              </a:rPr>
              <a:t>Step 2 throws information away; step 3 hands the control back as two learned numbers. If the best thing really is the original scale, the network can recover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RUNG 2A · BATCHNORM · THE MATHS  (3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What k is in a convolutional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C222B"/>
                </a:solidFill>
                <a:latin typeface="Helvetica Neue"/>
              </a:rPr>
              <a:t>Take stage 1 of our network: Conv2d(3 -&gt; 32) on a batch of 128 CIFAR images. Its output is a 4-D tensor.</a:t>
            </a:r>
          </a:p>
        </p:txBody>
      </p:sp>
      <p:pic>
        <p:nvPicPr>
          <p:cNvPr id="6" name="Picture 5" descr="eq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455164"/>
            <a:ext cx="6016752" cy="475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3168396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C222B"/>
                </a:solidFill>
                <a:latin typeface="Helvetica Neue"/>
              </a:rPr>
              <a:t>k indexes C, the CHANNELS — not pixels, not images. So d = 32 separate normalisations, one per channel.</a:t>
            </a:r>
          </a:p>
        </p:txBody>
      </p:sp>
      <p:pic>
        <p:nvPicPr>
          <p:cNvPr id="8" name="Picture 7" descr="eq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811270"/>
            <a:ext cx="8948928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573270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C222B"/>
                </a:solidFill>
                <a:latin typeface="Helvetica Neue"/>
              </a:rPr>
              <a:t>Each channel is one learned filter, so this asks: across every image and every position, what scale does this filter output? That is the quantity worth pinning down.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216144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582"/>
                </a:solidFill>
                <a:latin typeface="Helvetica Neue"/>
              </a:rPr>
              <a:t>Consequence: the statistics depend on the other images in the batch. That is why BatchNorm behaves differently in train() and eval() — and why tiny batches hurt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RUNG 2A · BATCHNORM · THE MATHS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And the whole thing costs 160 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32233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B7582"/>
                </a:solidFill>
                <a:latin typeface="Helvetica Neue"/>
              </a:rPr>
              <a:t>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638" y="1874519"/>
            <a:ext cx="16116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B7582"/>
                </a:solidFill>
                <a:latin typeface="Helvetica Neue"/>
              </a:rPr>
              <a:t>channels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12337" y="1874519"/>
            <a:ext cx="1934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B7582"/>
                </a:solidFill>
                <a:latin typeface="Helvetica Neue"/>
              </a:rPr>
              <a:t>γ + β added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6376" y="1874519"/>
            <a:ext cx="25787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B7582"/>
                </a:solidFill>
                <a:latin typeface="Helvetica Neue"/>
              </a:rPr>
              <a:t>conv biases removed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25094" y="1874519"/>
            <a:ext cx="1289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B7582"/>
                </a:solidFill>
                <a:latin typeface="Helvetica Neue"/>
              </a:rPr>
              <a:t>net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286000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395728"/>
            <a:ext cx="32233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Helvetica Neue"/>
              </a:rPr>
              <a:t>1: Conv(3 → 32)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0638" y="2395728"/>
            <a:ext cx="16116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12337" y="2395728"/>
            <a:ext cx="1934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6376" y="2395728"/>
            <a:ext cx="25787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−32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25094" y="2395728"/>
            <a:ext cx="1289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+32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816352"/>
            <a:ext cx="32233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Helvetica Neue"/>
              </a:rPr>
              <a:t>2: Conv(32 → 64)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0638" y="2816352"/>
            <a:ext cx="16116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12337" y="2816352"/>
            <a:ext cx="1934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128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6376" y="2816352"/>
            <a:ext cx="25787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−64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25094" y="2816352"/>
            <a:ext cx="1289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+64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236976"/>
            <a:ext cx="32233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Helvetica Neue"/>
              </a:rPr>
              <a:t>3: Conv(64 → 64)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0638" y="3236976"/>
            <a:ext cx="16116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12337" y="3236976"/>
            <a:ext cx="1934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128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6376" y="3236976"/>
            <a:ext cx="25787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−64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25094" y="3236976"/>
            <a:ext cx="1289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+64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657600"/>
            <a:ext cx="32233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Helvetica Neue"/>
              </a:rPr>
              <a:t>total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638" y="3657600"/>
            <a:ext cx="16116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12337" y="3657600"/>
            <a:ext cx="1934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320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6376" y="3657600"/>
            <a:ext cx="25787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−160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25094" y="3657600"/>
            <a:ext cx="1289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C2551E"/>
                </a:solidFill>
                <a:latin typeface="Menlo"/>
              </a:rPr>
              <a:t>+160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806440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7582"/>
                </a:solidFill>
                <a:latin typeface="Helvetica Neue"/>
              </a:rPr>
              <a:t>γ and β are 2 parameters per channel. The conv biases go because BatchNorm subtracts any constant the conv adds — β does that job now, so bias=False is bookkeeping, not a trick. 188,810 → 188,970: whatever BatchNorm buys, it does not buy it with capacity.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RUNG 2A · BATCHNORM · WHY IT SHOULD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The real prize is not accuracy — it is a usable learning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C222B"/>
                </a:solidFill>
                <a:latin typeface="Helvetica Neue"/>
              </a:rPr>
              <a:t>A gradient step of size lr means something different at every layer when their activations live on different scales.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900" b="1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C222B"/>
                </a:solidFill>
                <a:latin typeface="Helvetica Neue"/>
              </a:rPr>
              <a:t>Normalising puts every layer on the same footing, which conditions the loss surface: one learning rate is now roughly the right size everywhere. Raise it, and the network no longer blows up.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700" b="0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C222B"/>
                </a:solidFill>
                <a:latin typeface="Helvetica Neue"/>
              </a:rPr>
              <a:t>So expect a modest accuracy gain at the same learning rate — and a much wider range of learning rates that still train.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700" b="0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C222B"/>
                </a:solidFill>
                <a:latin typeface="Helvetica Neue"/>
              </a:rPr>
              <a:t>&gt;&gt; That is what makes rung 2b possible. The rungs compound.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RUNG 2A · BATCHNORM · THE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val 0.790 → 0.811  (+2.1 points) for 160 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b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736" y="1783080"/>
            <a:ext cx="8034223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89788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B7582"/>
                </a:solidFill>
                <a:latin typeface="Helvetica Neue"/>
              </a:rPr>
              <a:t>Same data, same learning rate, same 30 epochs. We also swept the learning rate: without BatchNorm the high end broke training; with it, 3e-3 trained cleanly.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RUNG 2A · BATCHNORM · THE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Three lines in the block builder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6B7582"/>
                </a:solidFill>
                <a:latin typeface="Menlo"/>
              </a:rPr>
              <a:t>part7_improving_cnn.py  ·  build_model(bn=...)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21408"/>
            <a:ext cx="106372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def block(c_in, c_out):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C2551E"/>
                </a:solidFill>
                <a:latin typeface="Menlo"/>
              </a:rPr>
              <a:t>      layers = [nn.Conv2d(c_in, c_out, 3, padding=1, bias=not bn)]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C2551E"/>
                </a:solidFill>
                <a:latin typeface="Menlo"/>
              </a:rPr>
              <a:t>      if bn: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C2551E"/>
                </a:solidFill>
                <a:latin typeface="Menlo"/>
              </a:rPr>
              <a:t>          layers.append(nn.BatchNorm2d(c_out))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    return layers + [nn.ReLU(), nn.MaxPool2d(2)]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layers = block(3, 32) + block(32, 64) + block(64, 64) + [nn.Flatten()]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25312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6B7582"/>
                </a:solidFill>
                <a:latin typeface="Helvetica Neue"/>
              </a:rPr>
              <a:t>bias=not bn is the parameter bookkeeping from the maths slide: with BatchNorm the conv bias cannot affect the output, so we do not allocate it. Note BatchNorm2d goes BEFORE the ReLU — it normalises the pre-activations, which is exactly what the activation probe measures.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RUNG 2B · ONECYCLE ·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One learning rate for all 30 epochs is a compromise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C222B"/>
                </a:solidFill>
                <a:latin typeface="Helvetica Neue"/>
              </a:rPr>
              <a:t>A constant learning rate has to be two things at once: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900" b="1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C222B"/>
                </a:solidFill>
                <a:latin typeface="Helvetica Neue"/>
              </a:rPr>
              <a:t>· small enough that the first steps, from a random initialisation, do not wreck the network;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C222B"/>
                </a:solidFill>
                <a:latin typeface="Helvetica Neue"/>
              </a:rPr>
              <a:t>· small enough at the end that the weights can settle instead of bouncing around the minimum.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700" b="0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C222B"/>
                </a:solidFill>
                <a:latin typeface="Helvetica Neue"/>
              </a:rPr>
              <a:t>Whatever single value satisfies both is too small for the middle of training, where you want to cover ground.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700" b="0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582"/>
                </a:solidFill>
                <a:latin typeface="Helvetica Neue"/>
              </a:rPr>
              <a:t>Rung 2b: warm up to a high learning rate, then anneal it to nearly zero. Same optimiser, same everything else.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RUNG 2B · ONECYCLE · THE MATHS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Two cosine halves, joined at the peak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C222B"/>
                </a:solidFill>
                <a:latin typeface="Helvetica Neue"/>
              </a:rPr>
              <a:t>Let p be the fraction of training completed, and pct_start = 0.25 the fraction spent warming up. Both phases are cosines:</a:t>
            </a:r>
          </a:p>
        </p:txBody>
      </p:sp>
      <p:pic>
        <p:nvPicPr>
          <p:cNvPr id="6" name="Picture 5" descr="eq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455164"/>
            <a:ext cx="8122920" cy="478536"/>
          </a:xfrm>
          <a:prstGeom prst="rect">
            <a:avLst/>
          </a:prstGeom>
        </p:spPr>
      </p:pic>
      <p:pic>
        <p:nvPicPr>
          <p:cNvPr id="7" name="Picture 6" descr="eq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171444"/>
            <a:ext cx="8217408" cy="563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4046220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C222B"/>
                </a:solidFill>
                <a:latin typeface="Helvetica Neue"/>
              </a:rPr>
              <a:t>PyTorch derives the endpoints from the peak: η₀ = η_max / 25 and η_min = η₀ / 10⁴.</a:t>
            </a:r>
          </a:p>
        </p:txBody>
      </p:sp>
      <p:pic>
        <p:nvPicPr>
          <p:cNvPr id="9" name="Picture 8" descr="eq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440808"/>
            <a:ext cx="7946136" cy="417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096128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582"/>
                </a:solidFill>
                <a:latin typeface="Helvetica Neue"/>
              </a:rPr>
              <a:t>scheduler.step() runs after every BATCH — 10,560 times, not 30 — so the curve is smooth. cycle_momentum=False, because cycling AdamW's β₁ would be a second change riding along with the first.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RUNG 2B · ONECYCLE · THE MATHS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What that looks like over 30 epochs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176" y="1783080"/>
            <a:ext cx="7807343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89788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B7582"/>
                </a:solidFill>
                <a:latin typeface="Helvetica Neue"/>
              </a:rPr>
              <a:t>Sampled once per epoch, so the peak reads at epoch 8 rather than 7.5. Against rung 2a's flat 1e-3: OneCycle spends the middle of training well above it, and the end far below.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RUNG 2B · ONECYCLE · WHY IT SHOULD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Each phase of the cycle does a different job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C222B"/>
                </a:solidFill>
                <a:latin typeface="Helvetica Neue"/>
              </a:rPr>
              <a:t>WARM-UP — a random network produces large, badly-aimed gradients. Starting small keeps the first few hundred steps from destroying the initialisation.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900" b="1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C222B"/>
                </a:solidFill>
                <a:latin typeface="Helvetica Neue"/>
              </a:rPr>
              <a:t>HIGH MIDDLE — big steps cover distance fast, and the noise they add acts as a mild regulariser: the weights cannot settle into a sharp, narrow minimum.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900" b="1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C222B"/>
                </a:solidFill>
                <a:latin typeface="Helvetica Neue"/>
              </a:rPr>
              <a:t>ANNEAL TO ZERO — once it is in the right basin, shrinking the step lets it walk down to the bottom instead of rattling across it.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900" b="1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582"/>
                </a:solidFill>
                <a:latin typeface="Helvetica Neue"/>
              </a:rPr>
              <a:t>Only safe at a peak of 3e-3 because BatchNorm is already there.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RUNG 2B · ONECYCLE · THE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val 0.811 → 0.832  (+2.1 points) for zero 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736" y="1783080"/>
            <a:ext cx="8034223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89788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B7582"/>
                </a:solidFill>
                <a:latin typeface="Helvetica Neue"/>
              </a:rPr>
              <a:t>Same architecture, same data, same 30 epochs. Only the learning-rate schedule moved. We swept the peak; 3e-3 and 1e-2 landed within noise of each other, so we kept 3e-3.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RUNG 2B · ONECYCLE · THE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Build it once, step it every batch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6B7582"/>
                </a:solidFill>
                <a:latin typeface="Menlo"/>
              </a:rPr>
              <a:t>part7_improving_cnn.py  ·  train()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21408"/>
            <a:ext cx="106372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optimizer = torch.optim.AdamW(model.parameters(), lr=lr, weight_decay=5e-4)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C2551E"/>
                </a:solidFill>
                <a:latin typeface="Menlo"/>
              </a:rPr>
              <a:t>  scheduler = torch.optim.lr_scheduler.OneCycleLR(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C2551E"/>
                </a:solidFill>
                <a:latin typeface="Menlo"/>
              </a:rPr>
              <a:t>      optimizer, max_lr=lr, epochs=epochs,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C2551E"/>
                </a:solidFill>
                <a:latin typeface="Menlo"/>
              </a:rPr>
              <a:t>      steps_per_epoch=len(train_loader),   # -&gt; 352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C2551E"/>
                </a:solidFill>
                <a:latin typeface="Menlo"/>
              </a:rPr>
              <a:t>      pct_start=0.25, cycle_momentum=False)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for images, labels in train_loader: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    ...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    optimizer.step()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C2551E"/>
                </a:solidFill>
                <a:latin typeface="Menlo"/>
              </a:rPr>
              <a:t>      scheduler.step()        # every BATCH, not every epoch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25312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6B7582"/>
                </a:solidFill>
                <a:latin typeface="Helvetica Neue"/>
              </a:rPr>
              <a:t>steps_per_epoch x epochs is how OneCycle knows the length of the cycle; get it wrong and the schedule ends in the wrong place. cycle_momentum=False stops it also cycling AdamW's beta1 — that would be a second change riding along with the first.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Still a ceiling — so the model is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C222B"/>
                </a:solidFill>
                <a:latin typeface="Helvetica Neue"/>
              </a:rPr>
              <a:t>After three rungs:  train 0.867,  val 0.832,  gap 0.034.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900" b="1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C222B"/>
                </a:solidFill>
                <a:latin typeface="Helvetica Neue"/>
              </a:rPr>
              <a:t>The gap is 3 points. The model still cannot fit its own training images, so this is the same diagnosis as part 6 — a ceiling, not overfitting.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700" b="0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C222B"/>
                </a:solidFill>
                <a:latin typeface="Helvetica Neue"/>
              </a:rPr>
              <a:t>But the two cheap fixes are spent: all 45,000 images are in use, and training is healthy. What is left is the model itself.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700" b="0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582"/>
                </a:solidFill>
                <a:latin typeface="Helvetica Neue"/>
              </a:rPr>
              <a:t>Part 6's architecture: three conv layers, at most 64 channels, and 70% of its weights sitting in a fully-connected head.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C2551E"/>
                </a:solidFill>
                <a:latin typeface="Helvetica Neue"/>
              </a:rPr>
              <a:t>PART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743200"/>
            <a:ext cx="106372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1F4E79"/>
                </a:solidFill>
                <a:latin typeface="Helvetica Neue"/>
              </a:rPr>
              <a:t>Capacity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1920"/>
            <a:ext cx="2743200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20624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6B7582"/>
                </a:solidFill>
                <a:latin typeface="Helvetica Neue"/>
              </a:rPr>
              <a:t>Same rules, same validation split, same recipe. Only the architecture moves — first deeper, then wider.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RUNG 3B · DEEPER ·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The network does see the whole image. Look at where.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64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C222B"/>
                </a:solidFill>
                <a:latin typeface="Helvetica Neue"/>
              </a:rPr>
              <a:t>The final feature map is 64 channels on a 4×4 grid — a coarse, low-frequency summary of the entire picture. Coverage is not the problem.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900" b="1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C222B"/>
                </a:solidFill>
                <a:latin typeface="Helvetica Neue"/>
              </a:rPr>
              <a:t>But each of those 16 positions summarises only a 22×22 patch. Nothing in the convolutional stack ever relates two things more than 22 px apart. All longer-range structure is left to one dense layer: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700" b="0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      Linear(1024 → 128)   =   131,200 parameters   =   70% of the network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500" b="0">
              <a:solidFill>
                <a:srgbClr val="1C222B"/>
              </a:solidFill>
              <a:latin typeface="Menlo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C222B"/>
                </a:solidFill>
                <a:latin typeface="Helvetica Neue"/>
              </a:rPr>
              <a:t>That layer has no weight sharing — a dog's head top-left and the same head bottom-right are separate weights — and it combines the 16 positions in a single linear step, with no nonlinearity between them.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700" b="0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582"/>
                </a:solidFill>
                <a:latin typeface="Helvetica Neue"/>
              </a:rPr>
              <a:t>Rung 3b: two convs per stage. Widths unchanged, head unchanged.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RUNG 3B · DEEPER · THE MATHS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What one unit in the last stage sees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q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64208"/>
            <a:ext cx="3593592" cy="6888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1719072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0" b="0">
                <a:solidFill>
                  <a:srgbClr val="6B7582"/>
                </a:solidFill>
                <a:latin typeface="Helvetica Neue"/>
              </a:rPr>
              <a:t>Each layer widens the patch a unit responds to. The product is why pooling dominates: every 2×2 pool doubles the stride, so a 3×3 conv above one pool adds 4 px, above two pools 8 px.</a:t>
            </a:r>
          </a:p>
        </p:txBody>
      </p:sp>
      <p:pic>
        <p:nvPicPr>
          <p:cNvPr id="7" name="Picture 6" descr="r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775" y="2487168"/>
            <a:ext cx="6942144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870448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B7582"/>
                </a:solidFill>
                <a:latin typeface="Helvetica Neue"/>
              </a:rPr>
              <a:t>Blue: the receptive field after each layer. Orange: the final one. Two convs per stage is the first point at which a single unit integrates the whole frame.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RUNG 3B · DEEPER · THE MATHS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Operator by operator — the shapes match, the reach does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ha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016" y="1645920"/>
            <a:ext cx="9435662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89904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B7582"/>
                </a:solidFill>
                <a:latin typeface="Helvetica Neue"/>
              </a:rPr>
              <a:t>Generated by walking both networks, so these are the shapes PyTorch actually produces.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RUNG 3B · DEEPER · THE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val 0.832 → 0.883  (+5.1 points) for 83k 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736" y="1783080"/>
            <a:ext cx="8034223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89788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B7582"/>
                </a:solidFill>
                <a:latin typeface="Helvetica Neue"/>
              </a:rPr>
              <a:t>train 0.867 → 0.934: the ceiling lifts. gap 0.034 → 0.051 — the first sign of the other problem coming back.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RUNG 3B · DEEPER · THE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The architecture becomes two loops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6B7582"/>
                </a:solidFill>
                <a:latin typeface="Menlo"/>
              </a:rPr>
              <a:t>part8_bigger_cnn.py  ·  build_model(widths, convs)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21408"/>
            <a:ext cx="106372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layers, c_in = [], 3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for width in widths:                      # widths = (32, 64, 64)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C2551E"/>
                </a:solidFill>
                <a:latin typeface="Menlo"/>
              </a:rPr>
              <a:t>      for _ in range(convs):                # convs = 2   &lt;- rung 3b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        layers += [nn.Conv2d(c_in, width, 3, padding=1, bias=False),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                   nn.BatchNorm2d(width), nn.ReLU()]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        c_in = width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    layers.append(nn.MaxPool2d(2))        # one pool per STAGE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layers += [nn.Flatten(), nn.Dropout(0.5),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           nn.Linear(c_in * 4 * 4, 128), nn.ReLU(), nn.Linear(128, 10)]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25312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6B7582"/>
                </a:solidFill>
                <a:latin typeface="Helvetica Neue"/>
              </a:rPr>
              <a:t>The pool stays outside the inner loop, so depth grows without changing the spatial sizes — the head still sees 4x4. With convs=1 and the default widths this rebuilds rung 2b layer for layer, which is what makes the comparison fair.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RUNG 3C · WIDER ·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Depth is composition; width is vocabulary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C222B"/>
                </a:solidFill>
                <a:latin typeface="Helvetica Neue"/>
              </a:rPr>
              <a:t>Depth decides how many times features get combined. Width decides how many different features each level can hold at all.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900" b="1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C222B"/>
                </a:solidFill>
                <a:latin typeface="Helvetica Neue"/>
              </a:rPr>
              <a:t>Part 6's widths were 32, 64, 64 — and that last stage, 64 channels on a 4×4 grid, is what the entire classifier head has to work from. 1,024 numbers to describe an image.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700" b="0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C222B"/>
                </a:solidFill>
                <a:latin typeface="Helvetica Neue"/>
              </a:rPr>
              <a:t>Notice the third stage does not even widen over the second. There was no reason for that; it was a starter architecture.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700" b="0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582"/>
                </a:solidFill>
                <a:latin typeface="Helvetica Neue"/>
              </a:rPr>
              <a:t>Rung 3c: widths 32-64-64 → 64-128-256. Depth stays at two convs per stage.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RUNG 3C · WIDER · THE MATHS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Same depth, same sizes — only the number of features moves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wid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662" y="1627632"/>
            <a:ext cx="9038371" cy="4160520"/>
          </a:xfrm>
          <a:prstGeom prst="rect">
            <a:avLst/>
          </a:prstGeom>
        </p:spPr>
      </p:pic>
      <p:pic>
        <p:nvPicPr>
          <p:cNvPr id="6" name="Picture 5" descr="eq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961888"/>
            <a:ext cx="9019032" cy="38709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RUNG 3C · WIDER · WHY IT SHOULD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Read the shape column: that is what ‘more features’ means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64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C222B"/>
                </a:solidFill>
                <a:latin typeface="Helvetica Neue"/>
              </a:rPr>
              <a:t>Every spatial position carries a vector of feature values, one per channel. Widening lengthens that vector.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900" b="1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  stage 1   32 → 64 features per position, over a 32×32 grid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  stage 3   64 → 256 features per position, over a 4×4 grid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  head in   1,024 → 4,096 numbers describing the image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500" b="0">
              <a:solidFill>
                <a:srgbClr val="1C222B"/>
              </a:solidFill>
              <a:latin typeface="Menlo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C222B"/>
                </a:solidFill>
                <a:latin typeface="Helvetica Neue"/>
              </a:rPr>
              <a:t>The last stage was the bottleneck: 64 numbers per position is a narrow pipe, and everything the classifier is allowed to use has to fit through it. More channels means more edge orientations held early and more object parts held late.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700" b="0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582"/>
                </a:solidFill>
                <a:latin typeface="Helvetica Neue"/>
              </a:rPr>
              <a:t>And expect the train/val gap to widen. Capacity is exactly what overfitting is made of.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RUNG 3C · WIDER · THE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val 0.883 → 0.915  (+3.2 points) for 6× the 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736" y="1783080"/>
            <a:ext cx="8034223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89788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B7582"/>
                </a:solidFill>
                <a:latin typeface="Helvetica Neue"/>
              </a:rPr>
              <a:t>train 0.934 → 0.986. The ceiling is gone — the model now fits its training set almost perfectly. gap 0.051 → 0.071.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RUNG 3C · WIDER · THE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Same builder, one tuple 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6B7582"/>
                </a:solidFill>
                <a:latin typeface="Menlo"/>
              </a:rPr>
              <a:t>part8_bigger_cnn.py  ·  LADDER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21408"/>
            <a:ext cx="106372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LADDER = [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    arch_spec("3b_deeper", "3b: 2 convs per stage", convs=2),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C2551E"/>
                </a:solidFill>
                <a:latin typeface="Menlo"/>
              </a:rPr>
              <a:t>      arch_spec("3c_wider",  "3c: widths x2", convs=2,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C2551E"/>
                </a:solidFill>
                <a:latin typeface="Menlo"/>
              </a:rPr>
              <a:t>                widths=(64, 128, 256)),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]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def arch_spec(name, label, widths=(32, 64, 64), convs=1, epochs=30):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    s = spec(name, label, n_train=45000, bn=True,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             onecycle=True, lr=3e-3, epochs=epochs)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    s.update(widths=list(widths), convs=convs)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0">
                <a:solidFill>
                  <a:srgbClr val="1C222B"/>
                </a:solidFill>
                <a:latin typeface="Menlo"/>
              </a:rPr>
              <a:t>      return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25312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6B7582"/>
                </a:solidFill>
                <a:latin typeface="Helvetica Neue"/>
              </a:rPr>
              <a:t>Every rung is a dict, and the dict is what gets logged to trackio as the run config. One change per rung is enforced by the fact that arch_spec carries rung 2b's entire recipe and only the named argument differs.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DEPTH VS WIDTH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Accuracy per parameter, across all six rungs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799" y="1783080"/>
            <a:ext cx="8388096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89788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B7582"/>
                </a:solidFill>
                <a:latin typeface="Helvetica Neue"/>
              </a:rPr>
              <a:t>Rungs 0 → 2b gained 10 points at constant size. 3b bought 5 points for 44% more parameters; 3c bought 3 points for 6×.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WHERE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The ceiling is gone. The gap is back.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736" y="1783080"/>
            <a:ext cx="8034223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89788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B7582"/>
                </a:solidFill>
                <a:latin typeface="Helvetica Neue"/>
              </a:rPr>
              <a:t>Rung 3c: train 0.986, val 0.915, test 0.914. A 7-point gap — the same problem part 6 opened with, on a much better model.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THE ARC OF WEEK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We have been here before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22394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B7582"/>
                </a:solidFill>
                <a:latin typeface="Helvetica Neue"/>
              </a:rPr>
              <a:t>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6653" y="1874519"/>
            <a:ext cx="36390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B7582"/>
                </a:solidFill>
                <a:latin typeface="Helvetica Neue"/>
              </a:rPr>
              <a:t>what happened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55700" y="1874519"/>
            <a:ext cx="12596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B7582"/>
                </a:solidFill>
                <a:latin typeface="Helvetica Neue"/>
              </a:rPr>
              <a:t>train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15370" y="1874519"/>
            <a:ext cx="12596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B7582"/>
                </a:solidFill>
                <a:latin typeface="Helvetica Neue"/>
              </a:rPr>
              <a:t>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75040" y="1874519"/>
            <a:ext cx="22394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B7582"/>
                </a:solidFill>
                <a:latin typeface="Helvetica Neue"/>
              </a:rPr>
              <a:t>diagnosis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286000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395728"/>
            <a:ext cx="22394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Helvetica Neue"/>
              </a:rPr>
              <a:t>6 (no dropout)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6653" y="2395728"/>
            <a:ext cx="36390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plain CNN, 18k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5700" y="2395728"/>
            <a:ext cx="12596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0.98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5370" y="2395728"/>
            <a:ext cx="12596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0.72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5040" y="2395728"/>
            <a:ext cx="22394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overfitting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816352"/>
            <a:ext cx="22394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Helvetica Neue"/>
              </a:rPr>
              <a:t>6 (config 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6653" y="2816352"/>
            <a:ext cx="36390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dropout + augmentation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5700" y="2816352"/>
            <a:ext cx="12596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0.765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5370" y="2816352"/>
            <a:ext cx="12596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0.734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5040" y="2816352"/>
            <a:ext cx="22394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underfitting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236976"/>
            <a:ext cx="22394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Helvetica Neue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6653" y="3236976"/>
            <a:ext cx="36390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data, BatchNorm, OneCycle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5700" y="3236976"/>
            <a:ext cx="12596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0.867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15370" y="3236976"/>
            <a:ext cx="12596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0.832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5040" y="3236976"/>
            <a:ext cx="22394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still a ceiling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657600"/>
            <a:ext cx="22394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Helvetica Neue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6653" y="3657600"/>
            <a:ext cx="36390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deeper, then wider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5700" y="3657600"/>
            <a:ext cx="12596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0.986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15370" y="3657600"/>
            <a:ext cx="125967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C2551E"/>
                </a:solidFill>
                <a:latin typeface="Menlo"/>
              </a:rPr>
              <a:t>0.915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75040" y="3657600"/>
            <a:ext cx="22394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overfitting again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806440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7582"/>
                </a:solidFill>
                <a:latin typeface="Helvetica Neue"/>
              </a:rPr>
              <a:t>Every fix creates the next problem. That is not a failure of the method — it is the method: diagnose, apply the matching tool, re-diagnose.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Close a 7-point gap — you already know how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64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C222B"/>
                </a:solidFill>
                <a:latin typeface="Helvetica Neue"/>
              </a:rPr>
              <a:t>Rung 3c leaves 7 points on the table. Part 6's toolbox is the right toolbox; the model is now big enough to survive it.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900" b="1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  LONGER      60 epochs instead of 30 — OneCycle rewards it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  DECAY       weight decay 5e-4 → 1e-2 (it is inactive today)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  SMOOTHING   label_smoothing=0.1 in CrossEntropyLoss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  CUTOUT      RandomErasing on top of crop + flip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  POLICIES    AutoAugment / TrivialAugmentWide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  MIXUP       blend image pairs and their labels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  TTA         average predictions over an image and its mirror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500" b="0">
              <a:solidFill>
                <a:srgbClr val="1C222B"/>
              </a:solidFill>
              <a:latin typeface="Menlo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582"/>
                </a:solidFill>
                <a:latin typeface="Helvetica Neue"/>
              </a:rPr>
              <a:t>One change at a time. Same 5,000 validation images. Target: 93–94%.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C2551E"/>
                </a:solidFill>
                <a:latin typeface="Helvetica Neue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743200"/>
            <a:ext cx="106372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1F4E79"/>
                </a:solidFill>
                <a:latin typeface="Helvetica Neue"/>
              </a:rPr>
              <a:t>The instruments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1920"/>
            <a:ext cx="2743200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20624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6B7582"/>
                </a:solidFill>
                <a:latin typeface="Helvetica Neue"/>
              </a:rPr>
              <a:t>Accuracy tells you where you ended up. These four tell you what happened on the way, and they are all logged to trackio.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BACKUP · INSTRUMENT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Validation loss sees it coming. Accuracy does not.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val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522" y="1783080"/>
            <a:ext cx="9356651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89788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B7582"/>
                </a:solidFill>
                <a:latin typeface="Helvetica Neue"/>
              </a:rPr>
              <a:t>Rung 3c. From epoch 18 validation loss is flat while training loss keeps falling — 0.17 to 0.04, nearly 5×. Validation accuracy went on creeping up for 9 more epochs, so accuracy alone says 'still improving'.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BACKUP · INSTRUMENT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What that gap actually means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C222B"/>
                </a:solidFill>
                <a:latin typeface="Helvetica Neue"/>
              </a:rPr>
              <a:t>Accuracy only asks whether the top-scoring class was right. Loss asks how confident the model was.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900" b="1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C222B"/>
                </a:solidFill>
                <a:latin typeface="Helvetica Neue"/>
              </a:rPr>
              <a:t>After epoch 18 the extra training is not fixing validation images — it is making the model more certain about training images it already had right. That is overfitting in progress, and the accuracy curve cannot see it.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700" b="0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  loss gap      epoch 18  0.19    →    epoch 30  0.29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  accuracy gap  epoch 18  0.061   →    epoch 30  0.074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500" b="0">
              <a:solidFill>
                <a:srgbClr val="1C222B"/>
              </a:solidFill>
              <a:latin typeface="Menlo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582"/>
                </a:solidFill>
                <a:latin typeface="Helvetica Neue"/>
              </a:rPr>
              <a:t>Worth being precise: in none of our six runs did validation loss actually turn back UP within 30 epochs, so early stopping never fired. It flattens. Train for 60 epochs — the first item on your menu — and you will see the turn.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BACKUP · INSTRUMENT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Gradient norm — the dying-network light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783080"/>
            <a:ext cx="877824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89788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B7582"/>
                </a:solidFill>
                <a:latin typeface="Helvetica Neue"/>
              </a:rPr>
              <a:t>Logged every 20 batches; faint lines are raw, bold is a rolling mean. None of our runs broke, so read this as the healthy baseline: steady, order 1–8, and falling at the end of 2b as OneCycle anneals.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BACKUP · INSTRUMENT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What a broken run looks like instead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C222B"/>
                </a:solidFill>
                <a:latin typeface="Helvetica Neue"/>
              </a:rPr>
              <a:t>This is a warning light, not a score. It is worth nothing on a good run and everything on a bad one.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900" b="1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  → 0        dead ReLUs, or vanishing gradients in a deep stack.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             The network has stopped learning; loss goes flat.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500" b="0">
              <a:solidFill>
                <a:srgbClr val="1C222B"/>
              </a:solidFill>
              <a:latin typeface="Menlo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  → huge     the learning rate is too high, or a bad batch.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             Usually followed by NaN loss a few steps later.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500" b="0">
              <a:solidFill>
                <a:srgbClr val="1C222B"/>
              </a:solidFill>
              <a:latin typeface="Menlo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C222B"/>
                </a:solidFill>
                <a:latin typeface="Helvetica Neue"/>
              </a:rPr>
              <a:t>Both show up in the gradient norm well before they show up in validation accuracy — which is the whole reason to log it.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700" b="0">
              <a:solidFill>
                <a:srgbClr val="1C222B"/>
              </a:solidFill>
              <a:latin typeface="Helvetica Neue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582"/>
                </a:solidFill>
                <a:latin typeface="Helvetica Neue"/>
              </a:rPr>
              <a:t>This is also how you would debug a OneCycle peak set too high: the norm blows up during warm-up, not at the end.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BACKUP · INSTRUMENT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Activation scale — what BatchNorm actually fixes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304" y="1783080"/>
            <a:ext cx="9231086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89788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B7582"/>
                </a:solidFill>
                <a:latin typeface="Helvetica Neue"/>
              </a:rPr>
              <a:t>Pre-activation standard deviation per conv stage, measured on a fixed probe batch each epoch. Without BatchNorm the scales drift apart as training moves the weights; with it they hold.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BACKUP · INSTRUMENT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Weight norm — is weight decay doing anything?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w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893" y="1783080"/>
            <a:ext cx="8407908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89788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B7582"/>
                </a:solidFill>
                <a:latin typeface="Helvetica Neue"/>
              </a:rPr>
              <a:t>||w|| over all parameters. It climbs steadily, which tells us the 5e-4 weight decay is effectively inactive at these learning rates — which is why 'raise the decay' is on the menu for you to try.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2551E"/>
                </a:solidFill>
                <a:latin typeface="Helvetica Neue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4E79"/>
                </a:solidFill>
                <a:latin typeface="Helvetica Neue"/>
              </a:rPr>
              <a:t>Running it yourself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15240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64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  cd week3_cnn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500" b="0">
              <a:solidFill>
                <a:srgbClr val="1C222B"/>
              </a:solidFill>
              <a:latin typeface="Menlo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  python part7_improving_cnn.py --ladder     # rungs 0 → 2b, ~15 min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  python part8_bigger_cnn.py  --ladder       # rungs 3b, 3c, ~18 min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  python part8_bigger_cnn.py  --story        # the staircase, from results/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500" b="0">
              <a:solidFill>
                <a:srgbClr val="1C222B"/>
              </a:solidFill>
              <a:latin typeface="Menlo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  python part7_improving_cnn.py --data-curve # rung 1 in depth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  python part7_improving_cnn.py --lr-sweep   # rung 2a in depth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500" b="0">
              <a:solidFill>
                <a:srgbClr val="1C222B"/>
              </a:solidFill>
              <a:latin typeface="Menlo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C222B"/>
                </a:solidFill>
                <a:latin typeface="Menlo"/>
              </a:rPr>
              <a:t>  trackio show --project "week3-cnn"          # every curve, live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1500" b="0">
              <a:solidFill>
                <a:srgbClr val="1C222B"/>
              </a:solidFill>
              <a:latin typeface="Menlo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6B7582"/>
                </a:solidFill>
                <a:latin typeface="Helvetica Neue"/>
              </a:rPr>
              <a:t>Each run writes checkpoints/&lt;rung&gt;.pt and results/&lt;rung&gt;.json. --story redraws the whole ladder from those JSONs without retraining.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4764</Words>
  <Application>Microsoft Macintosh PowerPoint</Application>
  <PresentationFormat>Widescreen</PresentationFormat>
  <Paragraphs>442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Calibri</vt:lpstr>
      <vt:lpstr>Helvetica Neue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Weishan Weng</cp:lastModifiedBy>
  <cp:revision>1</cp:revision>
  <dcterms:created xsi:type="dcterms:W3CDTF">2013-01-27T09:14:16Z</dcterms:created>
  <dcterms:modified xsi:type="dcterms:W3CDTF">2026-09-18T08:21:08Z</dcterms:modified>
  <cp:category/>
</cp:coreProperties>
</file>