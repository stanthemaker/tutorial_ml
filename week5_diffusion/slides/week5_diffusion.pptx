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44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THE PROBLEM</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Generating has no single right answer</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783080"/>
            <a:ext cx="10637215" cy="457200"/>
          </a:xfrm>
          <a:prstGeom prst="rect">
            <a:avLst/>
          </a:prstGeom>
          <a:noFill/>
        </p:spPr>
        <p:txBody>
          <a:bodyPr wrap="square">
            <a:spAutoFit/>
          </a:bodyPr>
          <a:lstStyle/>
          <a:p>
            <a:pPr algn="l">
              <a:lnSpc>
                <a:spcPct val="115000"/>
              </a:lnSpc>
              <a:spcAft>
                <a:spcPts val="600"/>
              </a:spcAft>
            </a:pPr>
            <a:r>
              <a:rPr sz="1800" b="1">
                <a:solidFill>
                  <a:srgbClr val="1C222B"/>
                </a:solidFill>
                <a:latin typeface="Helvetica Neue"/>
              </a:rPr>
              <a:t>What we want: new images of a digit we choose -- not copies of the training set.</a:t>
            </a:r>
          </a:p>
        </p:txBody>
      </p:sp>
      <p:sp>
        <p:nvSpPr>
          <p:cNvPr id="6" name="TextBox 5"/>
          <p:cNvSpPr txBox="1"/>
          <p:nvPr/>
        </p:nvSpPr>
        <p:spPr>
          <a:xfrm>
            <a:off x="777240" y="2192274"/>
            <a:ext cx="10637215" cy="457200"/>
          </a:xfrm>
          <a:prstGeom prst="rect">
            <a:avLst/>
          </a:prstGeom>
          <a:noFill/>
        </p:spPr>
        <p:txBody>
          <a:bodyPr wrap="square">
            <a:spAutoFit/>
          </a:bodyPr>
          <a:lstStyle/>
          <a:p>
            <a:pPr algn="l">
              <a:lnSpc>
                <a:spcPct val="115000"/>
              </a:lnSpc>
              <a:spcAft>
                <a:spcPts val="600"/>
              </a:spcAft>
            </a:pPr>
            <a:r>
              <a:rPr sz="1700" b="0">
                <a:solidFill>
                  <a:srgbClr val="1C222B"/>
                </a:solidFill>
                <a:latin typeface="Helvetica Neue"/>
              </a:rPr>
              <a:t>Weeks 3 and 4 had one correct answer per input (a class, a mask). We compared the output to it: that was the loss.</a:t>
            </a:r>
          </a:p>
        </p:txBody>
      </p:sp>
      <p:sp>
        <p:nvSpPr>
          <p:cNvPr id="7" name="TextBox 6"/>
          <p:cNvSpPr txBox="1"/>
          <p:nvPr/>
        </p:nvSpPr>
        <p:spPr>
          <a:xfrm>
            <a:off x="777240" y="2835148"/>
            <a:ext cx="10637215" cy="457200"/>
          </a:xfrm>
          <a:prstGeom prst="rect">
            <a:avLst/>
          </a:prstGeom>
          <a:noFill/>
        </p:spPr>
        <p:txBody>
          <a:bodyPr wrap="square">
            <a:spAutoFit/>
          </a:bodyPr>
          <a:lstStyle/>
          <a:p>
            <a:pPr algn="l">
              <a:lnSpc>
                <a:spcPct val="115000"/>
              </a:lnSpc>
              <a:spcAft>
                <a:spcPts val="600"/>
              </a:spcAft>
            </a:pPr>
            <a:r>
              <a:rPr sz="1700" b="0">
                <a:solidFill>
                  <a:srgbClr val="1C222B"/>
                </a:solidFill>
                <a:latin typeface="Helvetica Neue"/>
              </a:rPr>
              <a:t>"Draw a 7" has millions of correct answers. There is nothing to compare the output to.</a:t>
            </a:r>
          </a:p>
        </p:txBody>
      </p:sp>
      <p:sp>
        <p:nvSpPr>
          <p:cNvPr id="8" name="TextBox 7"/>
          <p:cNvSpPr txBox="1"/>
          <p:nvPr/>
        </p:nvSpPr>
        <p:spPr>
          <a:xfrm>
            <a:off x="777240" y="3458336"/>
            <a:ext cx="10637215" cy="457200"/>
          </a:xfrm>
          <a:prstGeom prst="rect">
            <a:avLst/>
          </a:prstGeom>
          <a:noFill/>
        </p:spPr>
        <p:txBody>
          <a:bodyPr wrap="square">
            <a:spAutoFit/>
          </a:bodyPr>
          <a:lstStyle/>
          <a:p>
            <a:pPr algn="l">
              <a:lnSpc>
                <a:spcPct val="115000"/>
              </a:lnSpc>
              <a:spcAft>
                <a:spcPts val="600"/>
              </a:spcAft>
            </a:pPr>
            <a:r>
              <a:rPr sz="1800" b="1">
                <a:solidFill>
                  <a:srgbClr val="1C222B"/>
                </a:solidFill>
                <a:latin typeface="Helvetica Neue"/>
              </a:rPr>
              <a:t>The idea: destroying an image is easy. Learn to undo it.</a:t>
            </a:r>
          </a:p>
        </p:txBody>
      </p:sp>
      <p:sp>
        <p:nvSpPr>
          <p:cNvPr id="9" name="TextBox 8"/>
          <p:cNvSpPr txBox="1"/>
          <p:nvPr/>
        </p:nvSpPr>
        <p:spPr>
          <a:xfrm>
            <a:off x="777240" y="3867530"/>
            <a:ext cx="10637215" cy="457200"/>
          </a:xfrm>
          <a:prstGeom prst="rect">
            <a:avLst/>
          </a:prstGeom>
          <a:noFill/>
        </p:spPr>
        <p:txBody>
          <a:bodyPr wrap="square">
            <a:spAutoFit/>
          </a:bodyPr>
          <a:lstStyle/>
          <a:p>
            <a:pPr algn="l">
              <a:lnSpc>
                <a:spcPct val="115000"/>
              </a:lnSpc>
              <a:spcAft>
                <a:spcPts val="600"/>
              </a:spcAft>
            </a:pPr>
            <a:r>
              <a:rPr sz="1700" b="0">
                <a:solidFill>
                  <a:srgbClr val="1C222B"/>
                </a:solidFill>
                <a:latin typeface="Helvetica Neue"/>
              </a:rPr>
              <a:t>Add noise, a little at a time, until only noise is left. We know exactly which noise we added, so "find the noise" DOES have one right answer: an ordinary supervised problem.</a:t>
            </a:r>
          </a:p>
        </p:txBody>
      </p:sp>
      <p:sp>
        <p:nvSpPr>
          <p:cNvPr id="10" name="TextBox 9"/>
          <p:cNvSpPr txBox="1"/>
          <p:nvPr/>
        </p:nvSpPr>
        <p:spPr>
          <a:xfrm>
            <a:off x="777240" y="4510404"/>
            <a:ext cx="10637215" cy="457200"/>
          </a:xfrm>
          <a:prstGeom prst="rect">
            <a:avLst/>
          </a:prstGeom>
          <a:noFill/>
        </p:spPr>
        <p:txBody>
          <a:bodyPr wrap="square">
            <a:spAutoFit/>
          </a:bodyPr>
          <a:lstStyle/>
          <a:p>
            <a:pPr algn="l">
              <a:lnSpc>
                <a:spcPct val="115000"/>
              </a:lnSpc>
              <a:spcAft>
                <a:spcPts val="600"/>
              </a:spcAft>
            </a:pPr>
            <a:r>
              <a:rPr sz="1700" b="0">
                <a:solidFill>
                  <a:srgbClr val="1C222B"/>
                </a:solidFill>
                <a:latin typeface="Helvetica Neue"/>
              </a:rPr>
              <a:t>To generate: start from pure noise and remove noise step by step until a digit is left.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ADDING NOISE (THE FORWARD PROCESS)</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Any noise level in one formula</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eq1.png"/>
          <p:cNvPicPr>
            <a:picLocks noChangeAspect="1"/>
          </p:cNvPicPr>
          <p:nvPr/>
        </p:nvPicPr>
        <p:blipFill>
          <a:blip r:embed="rId2"/>
          <a:stretch>
            <a:fillRect/>
          </a:stretch>
        </p:blipFill>
        <p:spPr>
          <a:xfrm>
            <a:off x="1143000" y="1783080"/>
            <a:ext cx="7473696" cy="429768"/>
          </a:xfrm>
          <a:prstGeom prst="rect">
            <a:avLst/>
          </a:prstGeom>
        </p:spPr>
      </p:pic>
      <p:sp>
        <p:nvSpPr>
          <p:cNvPr id="6" name="TextBox 5"/>
          <p:cNvSpPr txBox="1"/>
          <p:nvPr/>
        </p:nvSpPr>
        <p:spPr>
          <a:xfrm>
            <a:off x="777240" y="2450592"/>
            <a:ext cx="10637215" cy="457200"/>
          </a:xfrm>
          <a:prstGeom prst="rect">
            <a:avLst/>
          </a:prstGeom>
          <a:noFill/>
        </p:spPr>
        <p:txBody>
          <a:bodyPr wrap="square">
            <a:spAutoFit/>
          </a:bodyPr>
          <a:lstStyle/>
          <a:p>
            <a:pPr algn="l">
              <a:lnSpc>
                <a:spcPct val="115000"/>
              </a:lnSpc>
              <a:spcAft>
                <a:spcPts val="600"/>
              </a:spcAft>
            </a:pPr>
            <a:r>
              <a:rPr sz="1500" b="0">
                <a:solidFill>
                  <a:srgbClr val="6B7582"/>
                </a:solidFill>
                <a:latin typeface="Helvetica Neue"/>
              </a:rPr>
              <a:t>beta_t (beta): how much noise step t adds -- a fixed list of 1000 numbers, rising from 0.0001 to 0.02.   alpha_t = 1 - beta_t: how much of the image that step keeps.   alpha-bar_t: the product of all alphas up to t = how much of the original digit is left.</a:t>
            </a:r>
          </a:p>
        </p:txBody>
      </p:sp>
      <p:pic>
        <p:nvPicPr>
          <p:cNvPr id="7" name="Picture 6" descr="eq2.png"/>
          <p:cNvPicPr>
            <a:picLocks noChangeAspect="1"/>
          </p:cNvPicPr>
          <p:nvPr/>
        </p:nvPicPr>
        <p:blipFill>
          <a:blip r:embed="rId3"/>
          <a:stretch>
            <a:fillRect/>
          </a:stretch>
        </p:blipFill>
        <p:spPr>
          <a:xfrm>
            <a:off x="1143000" y="3391280"/>
            <a:ext cx="6312408" cy="527304"/>
          </a:xfrm>
          <a:prstGeom prst="rect">
            <a:avLst/>
          </a:prstGeom>
        </p:spPr>
      </p:pic>
      <p:sp>
        <p:nvSpPr>
          <p:cNvPr id="8" name="TextBox 7"/>
          <p:cNvSpPr txBox="1"/>
          <p:nvPr/>
        </p:nvSpPr>
        <p:spPr>
          <a:xfrm>
            <a:off x="777240" y="4156328"/>
            <a:ext cx="10637215" cy="457200"/>
          </a:xfrm>
          <a:prstGeom prst="rect">
            <a:avLst/>
          </a:prstGeom>
          <a:noFill/>
        </p:spPr>
        <p:txBody>
          <a:bodyPr wrap="square">
            <a:spAutoFit/>
          </a:bodyPr>
          <a:lstStyle/>
          <a:p>
            <a:pPr algn="l">
              <a:lnSpc>
                <a:spcPct val="115000"/>
              </a:lnSpc>
              <a:spcAft>
                <a:spcPts val="600"/>
              </a:spcAft>
            </a:pPr>
            <a:r>
              <a:rPr sz="1500" b="0">
                <a:solidFill>
                  <a:srgbClr val="6B7582"/>
                </a:solidFill>
                <a:latin typeface="Helvetica Neue"/>
              </a:rPr>
              <a:t>x_0: the clean digit, pixels in [-1, 1].   epsilon: random noise, one number per pixel drawn from a bell curve with mean 0 and spread 1.   x_t: the digit at noise level t.</a:t>
            </a:r>
          </a:p>
        </p:txBody>
      </p:sp>
      <p:sp>
        <p:nvSpPr>
          <p:cNvPr id="9" name="TextBox 8"/>
          <p:cNvSpPr txBox="1"/>
          <p:nvPr/>
        </p:nvSpPr>
        <p:spPr>
          <a:xfrm>
            <a:off x="777240" y="4877942"/>
            <a:ext cx="10637215" cy="457200"/>
          </a:xfrm>
          <a:prstGeom prst="rect">
            <a:avLst/>
          </a:prstGeom>
          <a:noFill/>
        </p:spPr>
        <p:txBody>
          <a:bodyPr wrap="square">
            <a:spAutoFit/>
          </a:bodyPr>
          <a:lstStyle/>
          <a:p>
            <a:pPr algn="l">
              <a:lnSpc>
                <a:spcPct val="115000"/>
              </a:lnSpc>
              <a:spcAft>
                <a:spcPts val="600"/>
              </a:spcAft>
            </a:pPr>
            <a:r>
              <a:rPr sz="1700" b="0">
                <a:solidFill>
                  <a:srgbClr val="1C222B"/>
                </a:solidFill>
                <a:latin typeface="Helvetica Neue"/>
              </a:rPr>
              <a:t>No loop: any level t is reached in one line. So training can pick a random t for every image in the batch.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ADDING NOISE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A real training digit at eight noise levels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wd.png"/>
          <p:cNvPicPr>
            <a:picLocks noChangeAspect="1"/>
          </p:cNvPicPr>
          <p:nvPr/>
        </p:nvPicPr>
        <p:blipFill>
          <a:blip r:embed="rId2"/>
          <a:stretch>
            <a:fillRect/>
          </a:stretch>
        </p:blipFill>
        <p:spPr>
          <a:xfrm>
            <a:off x="228600" y="1691640"/>
            <a:ext cx="11734495" cy="1922671"/>
          </a:xfrm>
          <a:prstGeom prst="rect">
            <a:avLst/>
          </a:prstGeom>
        </p:spPr>
      </p:pic>
      <p:pic>
        <p:nvPicPr>
          <p:cNvPr id="6" name="Picture 5" descr="sched.png"/>
          <p:cNvPicPr>
            <a:picLocks noChangeAspect="1"/>
          </p:cNvPicPr>
          <p:nvPr/>
        </p:nvPicPr>
        <p:blipFill>
          <a:blip r:embed="rId3"/>
          <a:stretch>
            <a:fillRect/>
          </a:stretch>
        </p:blipFill>
        <p:spPr>
          <a:xfrm>
            <a:off x="3122503" y="3705751"/>
            <a:ext cx="5946689" cy="2240280"/>
          </a:xfrm>
          <a:prstGeom prst="rect">
            <a:avLst/>
          </a:prstGeom>
        </p:spPr>
      </p:pic>
      <p:sp>
        <p:nvSpPr>
          <p:cNvPr id="7" name="TextBox 6"/>
          <p:cNvSpPr txBox="1"/>
          <p:nvPr/>
        </p:nvSpPr>
        <p:spPr>
          <a:xfrm>
            <a:off x="777240" y="61264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Top: x_t computed with the formula above.  Bottom: the two weights in the formula. By t = 999 the digit is gone.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TRAINING</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One training step: where each input comes from, and what learns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train_flow.png"/>
          <p:cNvPicPr>
            <a:picLocks noChangeAspect="1"/>
          </p:cNvPicPr>
          <p:nvPr/>
        </p:nvPicPr>
        <p:blipFill>
          <a:blip r:embed="rId2"/>
          <a:stretch>
            <a:fillRect/>
          </a:stretch>
        </p:blipFill>
        <p:spPr>
          <a:xfrm>
            <a:off x="1951471" y="1645920"/>
            <a:ext cx="8288753" cy="434340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The label table is a weight like any other: backprop changes row 7 whenever the training digit is a 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TRAINING</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How t and y become e, and where e goes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embed.png"/>
          <p:cNvPicPr>
            <a:picLocks noChangeAspect="1"/>
          </p:cNvPicPr>
          <p:nvPr/>
        </p:nvPicPr>
        <p:blipFill>
          <a:blip r:embed="rId2"/>
          <a:stretch>
            <a:fillRect/>
          </a:stretch>
        </p:blipFill>
        <p:spPr>
          <a:xfrm>
            <a:off x="2309476" y="1691640"/>
            <a:ext cx="7572742" cy="2331720"/>
          </a:xfrm>
          <a:prstGeom prst="rect">
            <a:avLst/>
          </a:prstGeom>
        </p:spPr>
      </p:pic>
      <p:pic>
        <p:nvPicPr>
          <p:cNvPr id="6" name="Picture 5" descr="block.png"/>
          <p:cNvPicPr>
            <a:picLocks noChangeAspect="1"/>
          </p:cNvPicPr>
          <p:nvPr/>
        </p:nvPicPr>
        <p:blipFill>
          <a:blip r:embed="rId3"/>
          <a:stretch>
            <a:fillRect/>
          </a:stretch>
        </p:blipFill>
        <p:spPr>
          <a:xfrm>
            <a:off x="2603982" y="4114800"/>
            <a:ext cx="6983730" cy="1783080"/>
          </a:xfrm>
          <a:prstGeom prst="rect">
            <a:avLst/>
          </a:prstGeom>
        </p:spPr>
      </p:pic>
      <p:sp>
        <p:nvSpPr>
          <p:cNvPr id="7" name="TextBox 6"/>
          <p:cNvSpPr txBox="1"/>
          <p:nvPr/>
        </p:nvSpPr>
        <p:spPr>
          <a:xfrm>
            <a:off x="777240" y="61264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Top: t -&gt; sin/cos (fixed) -&gt; MLP (learned); y -&gt; its row of the table (learned). Their sum is e.  Bottom: inside every block, a learned Linear turns e into one number per channel, added at every pixel.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THE LOSS</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Predict the noise; the error is plain MSE</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eq3.png"/>
          <p:cNvPicPr>
            <a:picLocks noChangeAspect="1"/>
          </p:cNvPicPr>
          <p:nvPr/>
        </p:nvPicPr>
        <p:blipFill>
          <a:blip r:embed="rId2"/>
          <a:stretch>
            <a:fillRect/>
          </a:stretch>
        </p:blipFill>
        <p:spPr>
          <a:xfrm>
            <a:off x="1143000" y="1783080"/>
            <a:ext cx="5727192" cy="512064"/>
          </a:xfrm>
          <a:prstGeom prst="rect">
            <a:avLst/>
          </a:prstGeom>
        </p:spPr>
      </p:pic>
      <p:sp>
        <p:nvSpPr>
          <p:cNvPr id="6" name="TextBox 5"/>
          <p:cNvSpPr txBox="1"/>
          <p:nvPr/>
        </p:nvSpPr>
        <p:spPr>
          <a:xfrm>
            <a:off x="777240" y="2532888"/>
            <a:ext cx="10637215" cy="457200"/>
          </a:xfrm>
          <a:prstGeom prst="rect">
            <a:avLst/>
          </a:prstGeom>
          <a:noFill/>
        </p:spPr>
        <p:txBody>
          <a:bodyPr wrap="square">
            <a:spAutoFit/>
          </a:bodyPr>
          <a:lstStyle/>
          <a:p>
            <a:pPr algn="l">
              <a:lnSpc>
                <a:spcPct val="115000"/>
              </a:lnSpc>
              <a:spcAft>
                <a:spcPts val="600"/>
              </a:spcAft>
            </a:pPr>
            <a:r>
              <a:rPr sz="1500" b="0">
                <a:solidFill>
                  <a:srgbClr val="6B7582"/>
                </a:solidFill>
                <a:latin typeface="Helvetica Neue"/>
              </a:rPr>
              <a:t>epsilon_theta: the U-Net (theta = its weights), taking the noisy digit, the level and the label.   E[...]: the average over digits x_0, labels y, random levels t and random noise epsilon.   ||...||^2: squared error over all 32 x 32 pixels -- MSE.</a:t>
            </a:r>
          </a:p>
        </p:txBody>
      </p:sp>
      <p:sp>
        <p:nvSpPr>
          <p:cNvPr id="7" name="TextBox 6"/>
          <p:cNvSpPr txBox="1"/>
          <p:nvPr/>
        </p:nvSpPr>
        <p:spPr>
          <a:xfrm>
            <a:off x="777240" y="3519296"/>
            <a:ext cx="10637215" cy="457200"/>
          </a:xfrm>
          <a:prstGeom prst="rect">
            <a:avLst/>
          </a:prstGeom>
          <a:noFill/>
        </p:spPr>
        <p:txBody>
          <a:bodyPr wrap="square">
            <a:spAutoFit/>
          </a:bodyPr>
          <a:lstStyle/>
          <a:p>
            <a:pPr algn="l">
              <a:lnSpc>
                <a:spcPct val="115000"/>
              </a:lnSpc>
              <a:spcAft>
                <a:spcPts val="600"/>
              </a:spcAft>
            </a:pPr>
            <a:r>
              <a:rPr sz="1700" b="0">
                <a:solidFill>
                  <a:srgbClr val="1C222B"/>
                </a:solidFill>
                <a:latin typeface="Helvetica Neue"/>
              </a:rPr>
              <a:t>Why the noise and not the clean digit? The next two slides.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WHY PREDICT THE NOISE (1/2)</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Knowing the noise = knowing the digit</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eq4.png"/>
          <p:cNvPicPr>
            <a:picLocks noChangeAspect="1"/>
          </p:cNvPicPr>
          <p:nvPr/>
        </p:nvPicPr>
        <p:blipFill>
          <a:blip r:embed="rId2"/>
          <a:stretch>
            <a:fillRect/>
          </a:stretch>
        </p:blipFill>
        <p:spPr>
          <a:xfrm>
            <a:off x="1143000" y="1783080"/>
            <a:ext cx="5833872" cy="493776"/>
          </a:xfrm>
          <a:prstGeom prst="rect">
            <a:avLst/>
          </a:prstGeom>
        </p:spPr>
      </p:pic>
      <p:sp>
        <p:nvSpPr>
          <p:cNvPr id="6" name="TextBox 5"/>
          <p:cNvSpPr txBox="1"/>
          <p:nvPr/>
        </p:nvSpPr>
        <p:spPr>
          <a:xfrm>
            <a:off x="777240" y="2514600"/>
            <a:ext cx="10637215" cy="457200"/>
          </a:xfrm>
          <a:prstGeom prst="rect">
            <a:avLst/>
          </a:prstGeom>
          <a:noFill/>
        </p:spPr>
        <p:txBody>
          <a:bodyPr wrap="square">
            <a:spAutoFit/>
          </a:bodyPr>
          <a:lstStyle/>
          <a:p>
            <a:pPr algn="l">
              <a:lnSpc>
                <a:spcPct val="115000"/>
              </a:lnSpc>
              <a:spcAft>
                <a:spcPts val="600"/>
              </a:spcAft>
            </a:pPr>
            <a:r>
              <a:rPr sz="1700" b="0">
                <a:solidFill>
                  <a:srgbClr val="1C222B"/>
                </a:solidFill>
                <a:latin typeface="Helvetica Neue"/>
              </a:rPr>
              <a:t>The model already has x_t (its input) and t. That is one equation with two unknowns, x_0 and epsilon. Know one, and the other follows:</a:t>
            </a:r>
          </a:p>
        </p:txBody>
      </p:sp>
      <p:pic>
        <p:nvPicPr>
          <p:cNvPr id="7" name="Picture 6" descr="eq5.png"/>
          <p:cNvPicPr>
            <a:picLocks noChangeAspect="1"/>
          </p:cNvPicPr>
          <p:nvPr/>
        </p:nvPicPr>
        <p:blipFill>
          <a:blip r:embed="rId3"/>
          <a:stretch>
            <a:fillRect/>
          </a:stretch>
        </p:blipFill>
        <p:spPr>
          <a:xfrm>
            <a:off x="1143000" y="3157474"/>
            <a:ext cx="4139183" cy="679704"/>
          </a:xfrm>
          <a:prstGeom prst="rect">
            <a:avLst/>
          </a:prstGeom>
        </p:spPr>
      </p:pic>
      <p:pic>
        <p:nvPicPr>
          <p:cNvPr id="8" name="Picture 7" descr="eq6.png"/>
          <p:cNvPicPr>
            <a:picLocks noChangeAspect="1"/>
          </p:cNvPicPr>
          <p:nvPr/>
        </p:nvPicPr>
        <p:blipFill>
          <a:blip r:embed="rId4"/>
          <a:stretch>
            <a:fillRect/>
          </a:stretch>
        </p:blipFill>
        <p:spPr>
          <a:xfrm>
            <a:off x="1143000" y="4074922"/>
            <a:ext cx="3855720" cy="679704"/>
          </a:xfrm>
          <a:prstGeom prst="rect">
            <a:avLst/>
          </a:prstGeom>
        </p:spPr>
      </p:pic>
      <p:sp>
        <p:nvSpPr>
          <p:cNvPr id="9" name="TextBox 8"/>
          <p:cNvSpPr txBox="1"/>
          <p:nvPr/>
        </p:nvSpPr>
        <p:spPr>
          <a:xfrm>
            <a:off x="777240" y="4992370"/>
            <a:ext cx="10637215" cy="457200"/>
          </a:xfrm>
          <a:prstGeom prst="rect">
            <a:avLst/>
          </a:prstGeom>
          <a:noFill/>
        </p:spPr>
        <p:txBody>
          <a:bodyPr wrap="square">
            <a:spAutoFit/>
          </a:bodyPr>
          <a:lstStyle/>
          <a:p>
            <a:pPr algn="l">
              <a:lnSpc>
                <a:spcPct val="115000"/>
              </a:lnSpc>
              <a:spcAft>
                <a:spcPts val="600"/>
              </a:spcAft>
            </a:pPr>
            <a:r>
              <a:rPr sz="1700" b="0">
                <a:solidFill>
                  <a:srgbClr val="1C222B"/>
                </a:solidFill>
                <a:latin typeface="Helvetica Neue"/>
              </a:rPr>
              <a:t>So a model that outputs the noise has also told us its guess for the digit. The two choices do not differ in what the model knows. They differ in what the loss punishes.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WHY PREDICT THE NOISE (2/2)</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What the loss cares about</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eq7.png"/>
          <p:cNvPicPr>
            <a:picLocks noChangeAspect="1"/>
          </p:cNvPicPr>
          <p:nvPr/>
        </p:nvPicPr>
        <p:blipFill>
          <a:blip r:embed="rId2"/>
          <a:stretch>
            <a:fillRect/>
          </a:stretch>
        </p:blipFill>
        <p:spPr>
          <a:xfrm>
            <a:off x="4158844" y="1645920"/>
            <a:ext cx="3874007" cy="481583"/>
          </a:xfrm>
          <a:prstGeom prst="rect">
            <a:avLst/>
          </a:prstGeom>
        </p:spPr>
      </p:pic>
      <p:pic>
        <p:nvPicPr>
          <p:cNvPr id="6" name="Picture 5" descr="weight.png"/>
          <p:cNvPicPr>
            <a:picLocks noChangeAspect="1"/>
          </p:cNvPicPr>
          <p:nvPr/>
        </p:nvPicPr>
        <p:blipFill>
          <a:blip r:embed="rId3"/>
          <a:stretch>
            <a:fillRect/>
          </a:stretch>
        </p:blipFill>
        <p:spPr>
          <a:xfrm>
            <a:off x="2836434" y="2331720"/>
            <a:ext cx="6518827" cy="2514600"/>
          </a:xfrm>
          <a:prstGeom prst="rect">
            <a:avLst/>
          </a:prstGeom>
        </p:spPr>
      </p:pic>
      <p:sp>
        <p:nvSpPr>
          <p:cNvPr id="7" name="TextBox 6"/>
          <p:cNvSpPr txBox="1"/>
          <p:nvPr/>
        </p:nvSpPr>
        <p:spPr>
          <a:xfrm>
            <a:off x="777240" y="4892040"/>
            <a:ext cx="10637215" cy="1508760"/>
          </a:xfrm>
          <a:prstGeom prst="rect">
            <a:avLst/>
          </a:prstGeom>
          <a:noFill/>
        </p:spPr>
        <p:txBody>
          <a:bodyPr wrap="square">
            <a:spAutoFit/>
          </a:bodyPr>
          <a:lstStyle/>
          <a:p>
            <a:pPr algn="l">
              <a:lnSpc>
                <a:spcPct val="115000"/>
              </a:lnSpc>
              <a:spcAft>
                <a:spcPts val="600"/>
              </a:spcAft>
            </a:pPr>
            <a:r>
              <a:rPr sz="1350" b="0">
                <a:solidFill>
                  <a:srgbClr val="1C222B"/>
                </a:solidFill>
                <a:latin typeface="Helvetica Neue"/>
              </a:rPr>
              <a:t>Predict the noise: a small mistake on a NEARLY CLEAN image costs a lot (left of the curve). The network spends its effort on fine details -- stroke edges, thickness, clean background.</a:t>
            </a:r>
          </a:p>
          <a:p>
            <a:pPr algn="l">
              <a:lnSpc>
                <a:spcPct val="115000"/>
              </a:lnSpc>
              <a:spcAft>
                <a:spcPts val="600"/>
              </a:spcAft>
            </a:pPr>
            <a:r>
              <a:rPr sz="1350" b="0">
                <a:solidFill>
                  <a:srgbClr val="1C222B"/>
                </a:solidFill>
                <a:latin typeface="Helvetica Neue"/>
              </a:rPr>
              <a:t>Predict the digit: the same small mistake costs almost nothing. The loss is dominated by very noisy images, where the digit must be guessed from almost pure noise -- the best possible answer is a blurry average, and the loss keeps pushing on a task that cannot be solved.</a:t>
            </a:r>
          </a:p>
          <a:p>
            <a:pPr algn="l">
              <a:lnSpc>
                <a:spcPct val="115000"/>
              </a:lnSpc>
              <a:spcAft>
                <a:spcPts val="600"/>
              </a:spcAft>
            </a:pPr>
            <a:r>
              <a:rPr sz="1550" b="1">
                <a:solidFill>
                  <a:srgbClr val="1C222B"/>
                </a:solidFill>
                <a:latin typeface="Helvetica Neue"/>
              </a:rPr>
              <a:t>Predicting the noise makes the loss care most about the details that decide how the final digit looks.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TRAINING</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One training step: the whole algorithm</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737360"/>
            <a:ext cx="10637215" cy="292608"/>
          </a:xfrm>
          <a:prstGeom prst="rect">
            <a:avLst/>
          </a:prstGeom>
          <a:noFill/>
        </p:spPr>
        <p:txBody>
          <a:bodyPr wrap="square">
            <a:spAutoFit/>
          </a:bodyPr>
          <a:lstStyle/>
          <a:p>
            <a:pPr algn="l">
              <a:lnSpc>
                <a:spcPct val="100000"/>
              </a:lnSpc>
              <a:spcAft>
                <a:spcPts val="600"/>
              </a:spcAft>
            </a:pPr>
            <a:r>
              <a:rPr sz="1350" b="1">
                <a:solidFill>
                  <a:srgbClr val="6B7582"/>
                </a:solidFill>
                <a:latin typeface="Menlo"/>
              </a:rPr>
              <a:t>part1_unet_diffusion.py</a:t>
            </a:r>
          </a:p>
        </p:txBody>
      </p:sp>
      <p:sp>
        <p:nvSpPr>
          <p:cNvPr id="6" name="TextBox 5"/>
          <p:cNvSpPr txBox="1"/>
          <p:nvPr/>
        </p:nvSpPr>
        <p:spPr>
          <a:xfrm>
            <a:off x="777240" y="2121408"/>
            <a:ext cx="10637215" cy="4114800"/>
          </a:xfrm>
          <a:prstGeom prst="rect">
            <a:avLst/>
          </a:prstGeom>
          <a:noFill/>
        </p:spPr>
        <p:txBody>
          <a:bodyPr wrap="square">
            <a:spAutoFit/>
          </a:bodyPr>
          <a:lstStyle/>
          <a:p>
            <a:pPr algn="l">
              <a:lnSpc>
                <a:spcPct val="108000"/>
              </a:lnSpc>
              <a:spcAft>
                <a:spcPts val="600"/>
              </a:spcAft>
            </a:pPr>
            <a:r>
              <a:rPr sz="1450" b="0">
                <a:solidFill>
                  <a:srgbClr val="1C222B"/>
                </a:solidFill>
                <a:latin typeface="Menlo"/>
              </a:rPr>
              <a:t>  t = torch.randint(0, sched.T, (len(x0),), device=device)   # a random level per image</a:t>
            </a:r>
          </a:p>
          <a:p>
            <a:pPr algn="l">
              <a:lnSpc>
                <a:spcPct val="108000"/>
              </a:lnSpc>
              <a:spcAft>
                <a:spcPts val="600"/>
              </a:spcAft>
            </a:pPr>
            <a:r>
              <a:rPr sz="1450" b="0">
                <a:solidFill>
                  <a:srgbClr val="1C222B"/>
                </a:solidFill>
                <a:latin typeface="Menlo"/>
              </a:rPr>
              <a:t>  noise = torch.randn_like(x0)                                # random noise</a:t>
            </a:r>
          </a:p>
          <a:p>
            <a:pPr algn="l">
              <a:lnSpc>
                <a:spcPct val="108000"/>
              </a:lnSpc>
              <a:spcAft>
                <a:spcPts val="600"/>
              </a:spcAft>
            </a:pPr>
            <a:r>
              <a:rPr sz="1450" b="0">
                <a:solidFill>
                  <a:srgbClr val="1C222B"/>
                </a:solidFill>
                <a:latin typeface="Menlo"/>
              </a:rPr>
              <a:t>  x_t = sched.add_noise(x0, t, noise)                         # the forward formula</a:t>
            </a:r>
          </a:p>
          <a:p>
            <a:pPr algn="l">
              <a:lnSpc>
                <a:spcPct val="108000"/>
              </a:lnSpc>
              <a:spcAft>
                <a:spcPts val="600"/>
              </a:spcAft>
            </a:pPr>
            <a:r>
              <a:rPr sz="1450" b="1">
                <a:solidFill>
                  <a:srgbClr val="C2551E"/>
                </a:solidFill>
                <a:latin typeface="Menlo"/>
              </a:rPr>
              <a:t>  loss = F.mse_loss(model(x_t, t, y), noise)                 # find the noise</a:t>
            </a:r>
          </a:p>
          <a:p>
            <a:pPr algn="l">
              <a:lnSpc>
                <a:spcPct val="108000"/>
              </a:lnSpc>
              <a:spcAft>
                <a:spcPts val="600"/>
              </a:spcAft>
            </a:pPr>
            <a:r>
              <a:rPr sz="1450" b="0">
                <a:solidFill>
                  <a:srgbClr val="1C222B"/>
                </a:solidFill>
                <a:latin typeface="Menlo"/>
              </a:rPr>
              <a:t>  </a:t>
            </a:r>
          </a:p>
          <a:p>
            <a:pPr algn="l">
              <a:lnSpc>
                <a:spcPct val="108000"/>
              </a:lnSpc>
              <a:spcAft>
                <a:spcPts val="600"/>
              </a:spcAft>
            </a:pPr>
            <a:r>
              <a:rPr sz="1450" b="0">
                <a:solidFill>
                  <a:srgbClr val="1C222B"/>
                </a:solidFill>
                <a:latin typeface="Menlo"/>
              </a:rPr>
              <a:t>  opt.zero_grad(set_to_none=True)</a:t>
            </a:r>
          </a:p>
          <a:p>
            <a:pPr algn="l">
              <a:lnSpc>
                <a:spcPct val="108000"/>
              </a:lnSpc>
              <a:spcAft>
                <a:spcPts val="600"/>
              </a:spcAft>
            </a:pPr>
            <a:r>
              <a:rPr sz="1450" b="0">
                <a:solidFill>
                  <a:srgbClr val="1C222B"/>
                </a:solidFill>
                <a:latin typeface="Menlo"/>
              </a:rPr>
              <a:t>  loss.backward()</a:t>
            </a:r>
          </a:p>
          <a:p>
            <a:pPr algn="l">
              <a:lnSpc>
                <a:spcPct val="108000"/>
              </a:lnSpc>
              <a:spcAft>
                <a:spcPts val="600"/>
              </a:spcAft>
            </a:pPr>
            <a:r>
              <a:rPr sz="1450" b="0">
                <a:solidFill>
                  <a:srgbClr val="1C222B"/>
                </a:solidFill>
                <a:latin typeface="Menlo"/>
              </a:rPr>
              <a:t>  opt.step()</a:t>
            </a:r>
          </a:p>
        </p:txBody>
      </p:sp>
      <p:sp>
        <p:nvSpPr>
          <p:cNvPr id="7" name="TextBox 6"/>
          <p:cNvSpPr txBox="1"/>
          <p:nvPr/>
        </p:nvSpPr>
        <p:spPr>
          <a:xfrm>
            <a:off x="777240" y="5925312"/>
            <a:ext cx="10637215" cy="640080"/>
          </a:xfrm>
          <a:prstGeom prst="rect">
            <a:avLst/>
          </a:prstGeom>
          <a:noFill/>
        </p:spPr>
        <p:txBody>
          <a:bodyPr wrap="square">
            <a:spAutoFit/>
          </a:bodyPr>
          <a:lstStyle/>
          <a:p>
            <a:pPr algn="l">
              <a:lnSpc>
                <a:spcPct val="115000"/>
              </a:lnSpc>
              <a:spcAft>
                <a:spcPts val="600"/>
              </a:spcAft>
            </a:pPr>
            <a:r>
              <a:rPr sz="1450" b="0">
                <a:solidFill>
                  <a:srgbClr val="6B7582"/>
                </a:solidFill>
                <a:latin typeface="Helvetica Neue"/>
              </a:rPr>
              <a:t>Two extras, a few lines each: label dropout (10% of labels replaced by "no label", used later for guidance) and EMA, a second copy of the weights that is a slowly moving average of the trained ones. Its samples are cleaner; the checkpoint stores 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RESULTS: TRAINING</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The loss falls, then flattens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oss.png"/>
          <p:cNvPicPr>
            <a:picLocks noChangeAspect="1"/>
          </p:cNvPicPr>
          <p:nvPr/>
        </p:nvPicPr>
        <p:blipFill>
          <a:blip r:embed="rId2"/>
          <a:stretch>
            <a:fillRect/>
          </a:stretch>
        </p:blipFill>
        <p:spPr>
          <a:xfrm>
            <a:off x="3456054" y="1783080"/>
            <a:ext cx="5279586" cy="3749039"/>
          </a:xfrm>
          <a:prstGeom prst="rect">
            <a:avLst/>
          </a:prstGeom>
        </p:spPr>
      </p:pic>
      <p:sp>
        <p:nvSpPr>
          <p:cNvPr id="6" name="TextBox 5"/>
          <p:cNvSpPr txBox="1"/>
          <p:nvPr/>
        </p:nvSpPr>
        <p:spPr>
          <a:xfrm>
            <a:off x="777240" y="56692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20 epochs, 32 min on this Mac, 4,586,449 parameters. Live: trackio show --project week5-diffusion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INFERENCE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Generating a 7: same network, run in a loop, nothing learns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nfer_flow.png"/>
          <p:cNvPicPr>
            <a:picLocks noChangeAspect="1"/>
          </p:cNvPicPr>
          <p:nvPr/>
        </p:nvPicPr>
        <p:blipFill>
          <a:blip r:embed="rId2"/>
          <a:stretch>
            <a:fillRect/>
          </a:stretch>
        </p:blipFill>
        <p:spPr>
          <a:xfrm>
            <a:off x="1951471" y="1645920"/>
            <a:ext cx="8288753" cy="434340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The seed decides WHICH 7 (slant, thickness). The label decides THAT it is a 7. The model always runs forward; only t counts down.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RESULTS: INFERENCE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Noise on the left, digit on the right</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trajectory_ddpm.png"/>
          <p:cNvPicPr>
            <a:picLocks noChangeAspect="1"/>
          </p:cNvPicPr>
          <p:nvPr/>
        </p:nvPicPr>
        <p:blipFill>
          <a:blip r:embed="rId2"/>
          <a:stretch>
            <a:fillRect/>
          </a:stretch>
        </p:blipFill>
        <p:spPr>
          <a:xfrm>
            <a:off x="4084167" y="1783080"/>
            <a:ext cx="4023360" cy="402336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One row per requested digit, 0-9. Columns: 10 evenly spaced moments of the 1000-step loop from the previous slide.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RESULTS: INFERENCE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Ask for each digit, get eight new ones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amples_ddpm_w1.png"/>
          <p:cNvPicPr>
            <a:picLocks noChangeAspect="1"/>
          </p:cNvPicPr>
          <p:nvPr/>
        </p:nvPicPr>
        <p:blipFill>
          <a:blip r:embed="rId2"/>
          <a:stretch>
            <a:fillRect/>
          </a:stretch>
        </p:blipFill>
        <p:spPr>
          <a:xfrm>
            <a:off x="4484150" y="1783080"/>
            <a:ext cx="3223394" cy="402336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Row k: y = k, eight different seeds. Same trained model, 1000-step loop, nothing else. 80 digits x 1000 steps took 58 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2377440"/>
            <a:ext cx="10637215" cy="365760"/>
          </a:xfrm>
          <a:prstGeom prst="rect">
            <a:avLst/>
          </a:prstGeom>
          <a:noFill/>
        </p:spPr>
        <p:txBody>
          <a:bodyPr wrap="square">
            <a:spAutoFit/>
          </a:bodyPr>
          <a:lstStyle/>
          <a:p>
            <a:pPr algn="l">
              <a:lnSpc>
                <a:spcPct val="100000"/>
              </a:lnSpc>
              <a:spcAft>
                <a:spcPts val="600"/>
              </a:spcAft>
            </a:pPr>
            <a:r>
              <a:rPr sz="1400" b="1">
                <a:solidFill>
                  <a:srgbClr val="C2551E"/>
                </a:solidFill>
                <a:latin typeface="Helvetica Neue"/>
              </a:rPr>
              <a:t>PART 2</a:t>
            </a:r>
          </a:p>
        </p:txBody>
      </p:sp>
      <p:sp>
        <p:nvSpPr>
          <p:cNvPr id="3" name="TextBox 2"/>
          <p:cNvSpPr txBox="1"/>
          <p:nvPr/>
        </p:nvSpPr>
        <p:spPr>
          <a:xfrm>
            <a:off x="777240" y="2743200"/>
            <a:ext cx="10637215" cy="1097280"/>
          </a:xfrm>
          <a:prstGeom prst="rect">
            <a:avLst/>
          </a:prstGeom>
          <a:noFill/>
        </p:spPr>
        <p:txBody>
          <a:bodyPr wrap="square">
            <a:spAutoFit/>
          </a:bodyPr>
          <a:lstStyle/>
          <a:p>
            <a:pPr algn="l">
              <a:lnSpc>
                <a:spcPct val="100000"/>
              </a:lnSpc>
              <a:spcAft>
                <a:spcPts val="600"/>
              </a:spcAft>
            </a:pPr>
            <a:r>
              <a:rPr sz="4000" b="1">
                <a:solidFill>
                  <a:srgbClr val="1F4E79"/>
                </a:solidFill>
                <a:latin typeface="Helvetica Neue"/>
              </a:rPr>
              <a:t>Swap the U-Net for a transformer</a:t>
            </a:r>
          </a:p>
        </p:txBody>
      </p:sp>
      <p:sp>
        <p:nvSpPr>
          <p:cNvPr id="4" name="Rectangle 3"/>
          <p:cNvSpPr/>
          <p:nvPr/>
        </p:nvSpPr>
        <p:spPr>
          <a:xfrm>
            <a:off x="777240" y="3931920"/>
            <a:ext cx="2743200"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4206240"/>
            <a:ext cx="8961120" cy="1097280"/>
          </a:xfrm>
          <a:prstGeom prst="rect">
            <a:avLst/>
          </a:prstGeom>
          <a:noFill/>
        </p:spPr>
        <p:txBody>
          <a:bodyPr wrap="square">
            <a:spAutoFit/>
          </a:bodyPr>
          <a:lstStyle/>
          <a:p>
            <a:pPr algn="l">
              <a:lnSpc>
                <a:spcPct val="120000"/>
              </a:lnSpc>
              <a:spcAft>
                <a:spcPts val="600"/>
              </a:spcAft>
            </a:pPr>
            <a:r>
              <a:rPr sz="1800" b="0">
                <a:solidFill>
                  <a:srgbClr val="6B7582"/>
                </a:solidFill>
                <a:latin typeface="Helvetica Neue"/>
              </a:rPr>
              <a:t>Same noise, same loss, same training loop, same samplers, same e. Only the network that predicts the noise changes -- sized to the same parameter count: 4,654,852 vs the U-Net's 4,586,449.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THE MODEL</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From an image to tokens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atches.png"/>
          <p:cNvPicPr>
            <a:picLocks noChangeAspect="1"/>
          </p:cNvPicPr>
          <p:nvPr/>
        </p:nvPicPr>
        <p:blipFill>
          <a:blip r:embed="rId2"/>
          <a:stretch>
            <a:fillRect/>
          </a:stretch>
        </p:blipFill>
        <p:spPr>
          <a:xfrm>
            <a:off x="662235" y="1783080"/>
            <a:ext cx="10867225" cy="3749039"/>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A token is one patch, described by numbers the network works with. The same Linear is used for every patch. The position table gives each patch its own learned row, so the network knows where the patch sits.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ATTENTION (1/2)</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Every token takes a weighted mix of all tokens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783080"/>
            <a:ext cx="10637215" cy="457200"/>
          </a:xfrm>
          <a:prstGeom prst="rect">
            <a:avLst/>
          </a:prstGeom>
          <a:noFill/>
        </p:spPr>
        <p:txBody>
          <a:bodyPr wrap="square">
            <a:spAutoFit/>
          </a:bodyPr>
          <a:lstStyle/>
          <a:p>
            <a:pPr algn="l">
              <a:lnSpc>
                <a:spcPct val="115000"/>
              </a:lnSpc>
              <a:spcAft>
                <a:spcPts val="600"/>
              </a:spcAft>
            </a:pPr>
            <a:r>
              <a:rPr sz="1800" b="1">
                <a:solidFill>
                  <a:srgbClr val="1C222B"/>
                </a:solidFill>
                <a:latin typeface="Helvetica Neue"/>
              </a:rPr>
              <a:t>A transformer works on tokens: rows of d numbers, each describing one piece of the input (ours: one 2 x 2 patch of the image, so N = 256 and d = 176).</a:t>
            </a:r>
          </a:p>
        </p:txBody>
      </p:sp>
      <p:sp>
        <p:nvSpPr>
          <p:cNvPr id="6" name="TextBox 5"/>
          <p:cNvSpPr txBox="1"/>
          <p:nvPr/>
        </p:nvSpPr>
        <p:spPr>
          <a:xfrm>
            <a:off x="777240" y="2455164"/>
            <a:ext cx="10637215" cy="457200"/>
          </a:xfrm>
          <a:prstGeom prst="rect">
            <a:avLst/>
          </a:prstGeom>
          <a:noFill/>
        </p:spPr>
        <p:txBody>
          <a:bodyPr wrap="square">
            <a:spAutoFit/>
          </a:bodyPr>
          <a:lstStyle/>
          <a:p>
            <a:pPr algn="l">
              <a:lnSpc>
                <a:spcPct val="115000"/>
              </a:lnSpc>
              <a:spcAft>
                <a:spcPts val="600"/>
              </a:spcAft>
            </a:pPr>
            <a:r>
              <a:rPr sz="1700" b="0">
                <a:solidFill>
                  <a:srgbClr val="1C222B"/>
                </a:solidFill>
                <a:latin typeface="Helvetica Neue"/>
              </a:rPr>
              <a:t>In attention, each token asks a question, every token offers an answer, and how well they match decides how much of each answer to take.</a:t>
            </a:r>
          </a:p>
        </p:txBody>
      </p:sp>
      <p:pic>
        <p:nvPicPr>
          <p:cNvPr id="7" name="Picture 6" descr="eq8.png"/>
          <p:cNvPicPr>
            <a:picLocks noChangeAspect="1"/>
          </p:cNvPicPr>
          <p:nvPr/>
        </p:nvPicPr>
        <p:blipFill>
          <a:blip r:embed="rId2"/>
          <a:stretch>
            <a:fillRect/>
          </a:stretch>
        </p:blipFill>
        <p:spPr>
          <a:xfrm>
            <a:off x="1143000" y="3098038"/>
            <a:ext cx="5455920" cy="381000"/>
          </a:xfrm>
          <a:prstGeom prst="rect">
            <a:avLst/>
          </a:prstGeom>
        </p:spPr>
      </p:pic>
      <p:sp>
        <p:nvSpPr>
          <p:cNvPr id="8" name="TextBox 7"/>
          <p:cNvSpPr txBox="1"/>
          <p:nvPr/>
        </p:nvSpPr>
        <p:spPr>
          <a:xfrm>
            <a:off x="777240" y="3716782"/>
            <a:ext cx="10637215" cy="457200"/>
          </a:xfrm>
          <a:prstGeom prst="rect">
            <a:avLst/>
          </a:prstGeom>
          <a:noFill/>
        </p:spPr>
        <p:txBody>
          <a:bodyPr wrap="square">
            <a:spAutoFit/>
          </a:bodyPr>
          <a:lstStyle/>
          <a:p>
            <a:pPr algn="l">
              <a:lnSpc>
                <a:spcPct val="115000"/>
              </a:lnSpc>
              <a:spcAft>
                <a:spcPts val="600"/>
              </a:spcAft>
            </a:pPr>
            <a:r>
              <a:rPr sz="1500" b="0">
                <a:solidFill>
                  <a:srgbClr val="6B7582"/>
                </a:solidFill>
                <a:latin typeface="Helvetica Neue"/>
              </a:rPr>
              <a:t>h: the N tokens, an N x d table.   W_Q, W_K, W_V: learned d x d matrices, the same for every token.   Q (query): what each token is looking for.   K (key): what each token contains.   V (value): what each token passes on when it is chosen.</a:t>
            </a:r>
          </a:p>
        </p:txBody>
      </p:sp>
      <p:pic>
        <p:nvPicPr>
          <p:cNvPr id="9" name="Picture 8" descr="eq9.png"/>
          <p:cNvPicPr>
            <a:picLocks noChangeAspect="1"/>
          </p:cNvPicPr>
          <p:nvPr/>
        </p:nvPicPr>
        <p:blipFill>
          <a:blip r:embed="rId3"/>
          <a:stretch>
            <a:fillRect/>
          </a:stretch>
        </p:blipFill>
        <p:spPr>
          <a:xfrm>
            <a:off x="1143000" y="4520310"/>
            <a:ext cx="4096512" cy="646176"/>
          </a:xfrm>
          <a:prstGeom prst="rect">
            <a:avLst/>
          </a:prstGeom>
        </p:spPr>
      </p:pic>
      <p:sp>
        <p:nvSpPr>
          <p:cNvPr id="10" name="TextBox 9"/>
          <p:cNvSpPr txBox="1"/>
          <p:nvPr/>
        </p:nvSpPr>
        <p:spPr>
          <a:xfrm>
            <a:off x="777240" y="5404230"/>
            <a:ext cx="10637215" cy="457200"/>
          </a:xfrm>
          <a:prstGeom prst="rect">
            <a:avLst/>
          </a:prstGeom>
          <a:noFill/>
        </p:spPr>
        <p:txBody>
          <a:bodyPr wrap="square">
            <a:spAutoFit/>
          </a:bodyPr>
          <a:lstStyle/>
          <a:p>
            <a:pPr algn="l">
              <a:lnSpc>
                <a:spcPct val="115000"/>
              </a:lnSpc>
              <a:spcAft>
                <a:spcPts val="600"/>
              </a:spcAft>
            </a:pPr>
            <a:r>
              <a:rPr sz="1500" b="0">
                <a:solidFill>
                  <a:srgbClr val="6B7582"/>
                </a:solidFill>
                <a:latin typeface="Helvetica Neue"/>
              </a:rPr>
              <a:t>Q K^T: an N x N table of match scores (dot products), one per pair of tokens.   / sqrt(d): stops the scores growing with d, so softmax does not put all the weight on one token.   softmax: each row becomes positive weights that sum to 1.   x V: each token's output is a weighted average of all the tokens' values.</a:t>
            </a:r>
          </a:p>
        </p:txBody>
      </p:sp>
      <p:sp>
        <p:nvSpPr>
          <p:cNvPr id="11" name="TextBox 10"/>
          <p:cNvSpPr txBox="1"/>
          <p:nvPr/>
        </p:nvSpPr>
        <p:spPr>
          <a:xfrm>
            <a:off x="777240" y="6207758"/>
            <a:ext cx="10637215" cy="457200"/>
          </a:xfrm>
          <a:prstGeom prst="rect">
            <a:avLst/>
          </a:prstGeom>
          <a:noFill/>
        </p:spPr>
        <p:txBody>
          <a:bodyPr wrap="square">
            <a:spAutoFit/>
          </a:bodyPr>
          <a:lstStyle/>
          <a:p>
            <a:pPr algn="l">
              <a:lnSpc>
                <a:spcPct val="115000"/>
              </a:lnSpc>
              <a:spcAft>
                <a:spcPts val="600"/>
              </a:spcAft>
            </a:pPr>
            <a:r>
              <a:rPr sz="1700" b="0">
                <a:solidFill>
                  <a:srgbClr val="1C222B"/>
                </a:solidFill>
                <a:latin typeface="Helvetica Neue"/>
              </a:rPr>
              <a:t>Unlike a convolution's fixed 3 x 3 window, attention decides from the input which tokens to mix.</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ATTENTION (2/2)</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The same formula, on 4 tokens of 3 numbers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ttn_toy.png"/>
          <p:cNvPicPr>
            <a:picLocks noChangeAspect="1"/>
          </p:cNvPicPr>
          <p:nvPr/>
        </p:nvPicPr>
        <p:blipFill>
          <a:blip r:embed="rId2"/>
          <a:stretch>
            <a:fillRect/>
          </a:stretch>
        </p:blipFill>
        <p:spPr>
          <a:xfrm>
            <a:off x="689713" y="1645920"/>
            <a:ext cx="10812268" cy="416052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Toy numbers: random tokens and random W_Q, W_K, W_V (seed 0). Token 3 (orange): output = 0.36 v1 + 0.07 v2 + 0.51 v3 + 0.06 v4  (v_j = row j of V). Each row of weights is different: every token decides for itself whom to listen to.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WHY ATTENTION</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What attention offers that a convolution does not</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783080"/>
            <a:ext cx="10637215" cy="457200"/>
          </a:xfrm>
          <a:prstGeom prst="rect">
            <a:avLst/>
          </a:prstGeom>
          <a:noFill/>
        </p:spPr>
        <p:txBody>
          <a:bodyPr wrap="square">
            <a:spAutoFit/>
          </a:bodyPr>
          <a:lstStyle/>
          <a:p>
            <a:pPr algn="l">
              <a:lnSpc>
                <a:spcPct val="115000"/>
              </a:lnSpc>
              <a:spcAft>
                <a:spcPts val="600"/>
              </a:spcAft>
            </a:pPr>
            <a:r>
              <a:rPr sz="1700" b="0">
                <a:solidFill>
                  <a:srgbClr val="1C222B"/>
                </a:solidFill>
                <a:latin typeface="Helvetica Neue"/>
              </a:rPr>
              <a:t>1.  The whole image in one step. A 3 x 3 convolution sees only its neighbours; to see far, a CNN needs many layers or must shrink the image (the U-Net goes down to 4 x 4). Attention lets every patch use every other patch, in every block.</a:t>
            </a:r>
          </a:p>
        </p:txBody>
      </p:sp>
      <p:sp>
        <p:nvSpPr>
          <p:cNvPr id="6" name="TextBox 5"/>
          <p:cNvSpPr txBox="1"/>
          <p:nvPr/>
        </p:nvSpPr>
        <p:spPr>
          <a:xfrm>
            <a:off x="777240" y="2674239"/>
            <a:ext cx="10637215" cy="457200"/>
          </a:xfrm>
          <a:prstGeom prst="rect">
            <a:avLst/>
          </a:prstGeom>
          <a:noFill/>
        </p:spPr>
        <p:txBody>
          <a:bodyPr wrap="square">
            <a:spAutoFit/>
          </a:bodyPr>
          <a:lstStyle/>
          <a:p>
            <a:pPr algn="l">
              <a:lnSpc>
                <a:spcPct val="115000"/>
              </a:lnSpc>
              <a:spcAft>
                <a:spcPts val="600"/>
              </a:spcAft>
            </a:pPr>
            <a:r>
              <a:rPr sz="1700" b="0">
                <a:solidFill>
                  <a:srgbClr val="1C222B"/>
                </a:solidFill>
                <a:latin typeface="Helvetica Neue"/>
              </a:rPr>
              <a:t>2.  The mixing is chosen by the input. A convolution applies the same weights to every image. Attention computes its weights from the tokens themselves (previous slide).</a:t>
            </a:r>
          </a:p>
        </p:txBody>
      </p:sp>
      <p:sp>
        <p:nvSpPr>
          <p:cNvPr id="7" name="TextBox 6"/>
          <p:cNvSpPr txBox="1"/>
          <p:nvPr/>
        </p:nvSpPr>
        <p:spPr>
          <a:xfrm>
            <a:off x="777240" y="3317113"/>
            <a:ext cx="10637215" cy="457200"/>
          </a:xfrm>
          <a:prstGeom prst="rect">
            <a:avLst/>
          </a:prstGeom>
          <a:noFill/>
        </p:spPr>
        <p:txBody>
          <a:bodyPr wrap="square">
            <a:spAutoFit/>
          </a:bodyPr>
          <a:lstStyle/>
          <a:p>
            <a:pPr algn="l">
              <a:lnSpc>
                <a:spcPct val="115000"/>
              </a:lnSpc>
              <a:spcAft>
                <a:spcPts val="600"/>
              </a:spcAft>
            </a:pPr>
            <a:r>
              <a:rPr sz="1700" b="0">
                <a:solidFill>
                  <a:srgbClr val="1C222B"/>
                </a:solidFill>
                <a:latin typeface="Helvetica Neue"/>
              </a:rPr>
              <a:t>3.  Few built-in assumptions, so it keeps improving with more data. A convolution assumes nearby pixels matter most, which helps when data is scarce. Attention must learn even which patches are neighbours (the position table), so it needs more data, but given a lot of data and a bigger model it keeps getting better.</a:t>
            </a:r>
          </a:p>
        </p:txBody>
      </p:sp>
      <p:sp>
        <p:nvSpPr>
          <p:cNvPr id="8" name="TextBox 7"/>
          <p:cNvSpPr txBox="1"/>
          <p:nvPr/>
        </p:nvSpPr>
        <p:spPr>
          <a:xfrm>
            <a:off x="777240" y="4456556"/>
            <a:ext cx="10637215" cy="457200"/>
          </a:xfrm>
          <a:prstGeom prst="rect">
            <a:avLst/>
          </a:prstGeom>
          <a:noFill/>
        </p:spPr>
        <p:txBody>
          <a:bodyPr wrap="square">
            <a:spAutoFit/>
          </a:bodyPr>
          <a:lstStyle/>
          <a:p>
            <a:pPr algn="l">
              <a:lnSpc>
                <a:spcPct val="115000"/>
              </a:lnSpc>
              <a:spcAft>
                <a:spcPts val="600"/>
              </a:spcAft>
            </a:pPr>
            <a:r>
              <a:rPr sz="1700" b="0">
                <a:solidFill>
                  <a:srgbClr val="1C222B"/>
                </a:solidFill>
                <a:latin typeface="Helvetica Neue"/>
              </a:rPr>
              <a:t>4.  One design for every kind of input. Words, image patches and sound all become tokens, and tokens of different kinds can attend to each other: image patches can look at the words of a prompt.</a:t>
            </a:r>
          </a:p>
        </p:txBody>
      </p:sp>
      <p:sp>
        <p:nvSpPr>
          <p:cNvPr id="9" name="TextBox 8"/>
          <p:cNvSpPr txBox="1"/>
          <p:nvPr/>
        </p:nvSpPr>
        <p:spPr>
          <a:xfrm>
            <a:off x="777240" y="5099430"/>
            <a:ext cx="10637215" cy="457200"/>
          </a:xfrm>
          <a:prstGeom prst="rect">
            <a:avLst/>
          </a:prstGeom>
          <a:noFill/>
        </p:spPr>
        <p:txBody>
          <a:bodyPr wrap="square">
            <a:spAutoFit/>
          </a:bodyPr>
          <a:lstStyle/>
          <a:p>
            <a:pPr algn="l">
              <a:lnSpc>
                <a:spcPct val="115000"/>
              </a:lnSpc>
              <a:spcAft>
                <a:spcPts val="600"/>
              </a:spcAft>
            </a:pPr>
            <a:r>
              <a:rPr sz="1700" b="0">
                <a:solidFill>
                  <a:srgbClr val="1C222B"/>
                </a:solidFill>
                <a:latin typeface="Helvetica Neue"/>
              </a:rPr>
              <a:t>5.  Mostly large matrix multiplications, which GPUs are built for.</a:t>
            </a:r>
          </a:p>
        </p:txBody>
      </p:sp>
      <p:sp>
        <p:nvSpPr>
          <p:cNvPr id="10" name="TextBox 9"/>
          <p:cNvSpPr txBox="1"/>
          <p:nvPr/>
        </p:nvSpPr>
        <p:spPr>
          <a:xfrm>
            <a:off x="777240" y="5494018"/>
            <a:ext cx="10637215" cy="457200"/>
          </a:xfrm>
          <a:prstGeom prst="rect">
            <a:avLst/>
          </a:prstGeom>
          <a:noFill/>
        </p:spPr>
        <p:txBody>
          <a:bodyPr wrap="square">
            <a:spAutoFit/>
          </a:bodyPr>
          <a:lstStyle/>
          <a:p>
            <a:pPr algn="l">
              <a:lnSpc>
                <a:spcPct val="115000"/>
              </a:lnSpc>
              <a:spcAft>
                <a:spcPts val="600"/>
              </a:spcAft>
            </a:pPr>
            <a:r>
              <a:rPr sz="1500" b="0">
                <a:solidFill>
                  <a:srgbClr val="6B7582"/>
                </a:solidFill>
                <a:latin typeface="Helvetica Neue"/>
              </a:rPr>
              <a:t>The price: every token is scored against every token. Our 256 tokens give a 256 x 256 table of 65,536 scores; one token per pixel would give 1,024 x 1,024 = 1,048,576. That is why the image is cut into 2 x 2 patches. On a dataset as small as ours, point 3 works against it: see the results.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THE MODEL</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One transformer block: attention, then an MLP</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lain_block.png"/>
          <p:cNvPicPr>
            <a:picLocks noChangeAspect="1"/>
          </p:cNvPicPr>
          <p:nvPr/>
        </p:nvPicPr>
        <p:blipFill>
          <a:blip r:embed="rId2"/>
          <a:stretch>
            <a:fillRect/>
          </a:stretch>
        </p:blipFill>
        <p:spPr>
          <a:xfrm>
            <a:off x="1081887" y="1783080"/>
            <a:ext cx="10027920" cy="2103120"/>
          </a:xfrm>
          <a:prstGeom prst="rect">
            <a:avLst/>
          </a:prstGeom>
        </p:spPr>
      </p:pic>
      <p:sp>
        <p:nvSpPr>
          <p:cNvPr id="6" name="TextBox 5"/>
          <p:cNvSpPr txBox="1"/>
          <p:nvPr/>
        </p:nvSpPr>
        <p:spPr>
          <a:xfrm>
            <a:off x="777240" y="4069080"/>
            <a:ext cx="10637215" cy="2331720"/>
          </a:xfrm>
          <a:prstGeom prst="rect">
            <a:avLst/>
          </a:prstGeom>
          <a:noFill/>
        </p:spPr>
        <p:txBody>
          <a:bodyPr wrap="square">
            <a:spAutoFit/>
          </a:bodyPr>
          <a:lstStyle/>
          <a:p>
            <a:pPr algn="l">
              <a:lnSpc>
                <a:spcPct val="115000"/>
              </a:lnSpc>
              <a:spcAft>
                <a:spcPts val="600"/>
              </a:spcAft>
            </a:pPr>
            <a:r>
              <a:rPr sz="1450" b="0">
                <a:solidFill>
                  <a:srgbClr val="1C222B"/>
                </a:solidFill>
                <a:latin typeface="Helvetica Neue"/>
              </a:rPr>
              <a:t>LN (LayerNorm): rescales each token's 176 numbers to average 0, spread 1, so every block gets inputs in the same range.</a:t>
            </a:r>
          </a:p>
          <a:p>
            <a:pPr algn="l">
              <a:lnSpc>
                <a:spcPct val="115000"/>
              </a:lnSpc>
              <a:spcAft>
                <a:spcPts val="600"/>
              </a:spcAft>
            </a:pPr>
            <a:r>
              <a:rPr sz="1450" b="0">
                <a:solidFill>
                  <a:srgbClr val="1C222B"/>
                </a:solidFill>
                <a:latin typeface="Helvetica Neue"/>
              </a:rPr>
              <a:t>Attention: the tokens exchange information (attention slides).   MLP: two Linear layers with a GELU between them, applied to each token on its own, the same weights for all tokens.</a:t>
            </a:r>
          </a:p>
          <a:p>
            <a:pPr algn="l">
              <a:lnSpc>
                <a:spcPct val="115000"/>
              </a:lnSpc>
              <a:spcAft>
                <a:spcPts val="600"/>
              </a:spcAft>
            </a:pPr>
            <a:r>
              <a:rPr sz="1450" b="0">
                <a:solidFill>
                  <a:srgbClr val="1C222B"/>
                </a:solidFill>
                <a:latin typeface="Helvetica Neue"/>
              </a:rPr>
              <a:t>Residual: each half's output is added onto its input, so a block only has to learn a change, and the gradient reaches early blocks directly.</a:t>
            </a:r>
          </a:p>
          <a:p>
            <a:pPr algn="l">
              <a:lnSpc>
                <a:spcPct val="115000"/>
              </a:lnSpc>
              <a:spcAft>
                <a:spcPts val="600"/>
              </a:spcAft>
            </a:pPr>
            <a:r>
              <a:rPr sz="1450" b="0">
                <a:solidFill>
                  <a:srgbClr val="1C222B"/>
                </a:solidFill>
                <a:latin typeface="Helvetica Neue"/>
              </a:rPr>
              <a:t>Shape in = shape out, so blocks stack: the whole network is this block, repeated.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THE MODEL</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Image in, image out: tokens never change order</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dit.png"/>
          <p:cNvPicPr>
            <a:picLocks noChangeAspect="1"/>
          </p:cNvPicPr>
          <p:nvPr/>
        </p:nvPicPr>
        <p:blipFill>
          <a:blip r:embed="rId2"/>
          <a:stretch>
            <a:fillRect/>
          </a:stretch>
        </p:blipFill>
        <p:spPr>
          <a:xfrm>
            <a:off x="243687" y="1920240"/>
            <a:ext cx="11704320" cy="301752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Row i is always patch i: no block reorders the tokens. So at the end, Linear 176 -&gt; 4 turns each token into the predicted noise for its own 2 x 2 pixels, and each patch goes back to its place (token 74: grid row 4, column 10, so pixel rows 8-9, columns 20-21). Unlike the U-Net, nothing shrinks: all 256 patches stay at full detail in every block.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THE MODEL</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The position table: a learned address for each patch</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osition.png"/>
          <p:cNvPicPr>
            <a:picLocks noChangeAspect="1"/>
          </p:cNvPicPr>
          <p:nvPr/>
        </p:nvPicPr>
        <p:blipFill>
          <a:blip r:embed="rId2"/>
          <a:stretch>
            <a:fillRect/>
          </a:stretch>
        </p:blipFill>
        <p:spPr>
          <a:xfrm>
            <a:off x="1062648" y="1691640"/>
            <a:ext cx="10066398" cy="365760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Attention compares only what tokens contain, never where they sit. A and B contain the same 4 numbers, so without the table they would be the same token. Adding row 17 vs row 218 makes them differ. Nobody told the table which patches are neighbours: after training, rows of neighbouring patches have similarity 0.76 on average, rows 6 or more grid steps apart 0.08.</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THE COST</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Same parameters, not the same compute</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874519"/>
            <a:ext cx="4875390" cy="365760"/>
          </a:xfrm>
          <a:prstGeom prst="rect">
            <a:avLst/>
          </a:prstGeom>
          <a:noFill/>
        </p:spPr>
        <p:txBody>
          <a:bodyPr wrap="square">
            <a:spAutoFit/>
          </a:bodyPr>
          <a:lstStyle/>
          <a:p>
            <a:pPr algn="l">
              <a:lnSpc>
                <a:spcPct val="100000"/>
              </a:lnSpc>
              <a:spcAft>
                <a:spcPts val="600"/>
              </a:spcAft>
            </a:pPr>
            <a:endParaRPr/>
          </a:p>
        </p:txBody>
      </p:sp>
      <p:sp>
        <p:nvSpPr>
          <p:cNvPr id="6" name="TextBox 5"/>
          <p:cNvSpPr txBox="1"/>
          <p:nvPr/>
        </p:nvSpPr>
        <p:spPr>
          <a:xfrm>
            <a:off x="5652630" y="1874519"/>
            <a:ext cx="2659303"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U-Net (Part 1)</a:t>
            </a:r>
          </a:p>
        </p:txBody>
      </p:sp>
      <p:sp>
        <p:nvSpPr>
          <p:cNvPr id="7" name="TextBox 6"/>
          <p:cNvSpPr txBox="1"/>
          <p:nvPr/>
        </p:nvSpPr>
        <p:spPr>
          <a:xfrm>
            <a:off x="8311933" y="1874519"/>
            <a:ext cx="3102521"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transformer (Part 2)</a:t>
            </a:r>
          </a:p>
        </p:txBody>
      </p:sp>
      <p:sp>
        <p:nvSpPr>
          <p:cNvPr id="8" name="Rectangle 7"/>
          <p:cNvSpPr/>
          <p:nvPr/>
        </p:nvSpPr>
        <p:spPr>
          <a:xfrm>
            <a:off x="777240" y="2285999"/>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395726"/>
            <a:ext cx="4875390" cy="365760"/>
          </a:xfrm>
          <a:prstGeom prst="rect">
            <a:avLst/>
          </a:prstGeom>
          <a:noFill/>
        </p:spPr>
        <p:txBody>
          <a:bodyPr wrap="square">
            <a:spAutoFit/>
          </a:bodyPr>
          <a:lstStyle/>
          <a:p>
            <a:pPr algn="l">
              <a:lnSpc>
                <a:spcPct val="100000"/>
              </a:lnSpc>
              <a:spcAft>
                <a:spcPts val="600"/>
              </a:spcAft>
            </a:pPr>
            <a:r>
              <a:rPr sz="1500" b="0">
                <a:solidFill>
                  <a:srgbClr val="1C222B"/>
                </a:solidFill>
                <a:latin typeface="Helvetica Neue"/>
              </a:rPr>
              <a:t>parameters</a:t>
            </a:r>
          </a:p>
        </p:txBody>
      </p:sp>
      <p:sp>
        <p:nvSpPr>
          <p:cNvPr id="10" name="TextBox 9"/>
          <p:cNvSpPr txBox="1"/>
          <p:nvPr/>
        </p:nvSpPr>
        <p:spPr>
          <a:xfrm>
            <a:off x="5652630" y="2395726"/>
            <a:ext cx="2659303"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4,586,449</a:t>
            </a:r>
          </a:p>
        </p:txBody>
      </p:sp>
      <p:sp>
        <p:nvSpPr>
          <p:cNvPr id="11" name="TextBox 10"/>
          <p:cNvSpPr txBox="1"/>
          <p:nvPr/>
        </p:nvSpPr>
        <p:spPr>
          <a:xfrm>
            <a:off x="8311933" y="2395726"/>
            <a:ext cx="3102521"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4,654,852</a:t>
            </a:r>
          </a:p>
        </p:txBody>
      </p:sp>
      <p:sp>
        <p:nvSpPr>
          <p:cNvPr id="12" name="TextBox 11"/>
          <p:cNvSpPr txBox="1"/>
          <p:nvPr/>
        </p:nvSpPr>
        <p:spPr>
          <a:xfrm>
            <a:off x="777240" y="2816350"/>
            <a:ext cx="4875390" cy="365760"/>
          </a:xfrm>
          <a:prstGeom prst="rect">
            <a:avLst/>
          </a:prstGeom>
          <a:noFill/>
        </p:spPr>
        <p:txBody>
          <a:bodyPr wrap="square">
            <a:spAutoFit/>
          </a:bodyPr>
          <a:lstStyle/>
          <a:p>
            <a:pPr algn="l">
              <a:lnSpc>
                <a:spcPct val="100000"/>
              </a:lnSpc>
              <a:spcAft>
                <a:spcPts val="600"/>
              </a:spcAft>
            </a:pPr>
            <a:r>
              <a:rPr sz="1500" b="0">
                <a:solidFill>
                  <a:srgbClr val="1C222B"/>
                </a:solidFill>
                <a:latin typeface="Helvetica Neue"/>
              </a:rPr>
              <a:t>compute per image, forward (GFLOPs)</a:t>
            </a:r>
          </a:p>
        </p:txBody>
      </p:sp>
      <p:sp>
        <p:nvSpPr>
          <p:cNvPr id="13" name="TextBox 12"/>
          <p:cNvSpPr txBox="1"/>
          <p:nvPr/>
        </p:nvSpPr>
        <p:spPr>
          <a:xfrm>
            <a:off x="5652630" y="2816350"/>
            <a:ext cx="2659303"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0.65</a:t>
            </a:r>
          </a:p>
        </p:txBody>
      </p:sp>
      <p:sp>
        <p:nvSpPr>
          <p:cNvPr id="14" name="TextBox 13"/>
          <p:cNvSpPr txBox="1"/>
          <p:nvPr/>
        </p:nvSpPr>
        <p:spPr>
          <a:xfrm>
            <a:off x="8311933" y="2816350"/>
            <a:ext cx="3102521" cy="365760"/>
          </a:xfrm>
          <a:prstGeom prst="rect">
            <a:avLst/>
          </a:prstGeom>
          <a:noFill/>
        </p:spPr>
        <p:txBody>
          <a:bodyPr wrap="square">
            <a:spAutoFit/>
          </a:bodyPr>
          <a:lstStyle/>
          <a:p>
            <a:pPr algn="l">
              <a:lnSpc>
                <a:spcPct val="100000"/>
              </a:lnSpc>
              <a:spcAft>
                <a:spcPts val="600"/>
              </a:spcAft>
            </a:pPr>
            <a:r>
              <a:rPr sz="1500" b="1">
                <a:solidFill>
                  <a:srgbClr val="C2551E"/>
                </a:solidFill>
                <a:latin typeface="Menlo"/>
              </a:rPr>
              <a:t>1.53</a:t>
            </a:r>
          </a:p>
        </p:txBody>
      </p:sp>
      <p:sp>
        <p:nvSpPr>
          <p:cNvPr id="15" name="TextBox 14"/>
          <p:cNvSpPr txBox="1"/>
          <p:nvPr/>
        </p:nvSpPr>
        <p:spPr>
          <a:xfrm>
            <a:off x="777240" y="3236974"/>
            <a:ext cx="4875390" cy="365760"/>
          </a:xfrm>
          <a:prstGeom prst="rect">
            <a:avLst/>
          </a:prstGeom>
          <a:noFill/>
        </p:spPr>
        <p:txBody>
          <a:bodyPr wrap="square">
            <a:spAutoFit/>
          </a:bodyPr>
          <a:lstStyle/>
          <a:p>
            <a:pPr algn="l">
              <a:lnSpc>
                <a:spcPct val="100000"/>
              </a:lnSpc>
              <a:spcAft>
                <a:spcPts val="600"/>
              </a:spcAft>
            </a:pPr>
            <a:r>
              <a:rPr sz="1500" b="0">
                <a:solidFill>
                  <a:srgbClr val="1C222B"/>
                </a:solidFill>
                <a:latin typeface="Helvetica Neue"/>
              </a:rPr>
              <a:t>seconds per training epoch (average)</a:t>
            </a:r>
          </a:p>
        </p:txBody>
      </p:sp>
      <p:sp>
        <p:nvSpPr>
          <p:cNvPr id="16" name="TextBox 15"/>
          <p:cNvSpPr txBox="1"/>
          <p:nvPr/>
        </p:nvSpPr>
        <p:spPr>
          <a:xfrm>
            <a:off x="5652630" y="3236974"/>
            <a:ext cx="2659303"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96</a:t>
            </a:r>
          </a:p>
        </p:txBody>
      </p:sp>
      <p:sp>
        <p:nvSpPr>
          <p:cNvPr id="17" name="TextBox 16"/>
          <p:cNvSpPr txBox="1"/>
          <p:nvPr/>
        </p:nvSpPr>
        <p:spPr>
          <a:xfrm>
            <a:off x="8311933" y="3236974"/>
            <a:ext cx="3102521" cy="365760"/>
          </a:xfrm>
          <a:prstGeom prst="rect">
            <a:avLst/>
          </a:prstGeom>
          <a:noFill/>
        </p:spPr>
        <p:txBody>
          <a:bodyPr wrap="square">
            <a:spAutoFit/>
          </a:bodyPr>
          <a:lstStyle/>
          <a:p>
            <a:pPr algn="l">
              <a:lnSpc>
                <a:spcPct val="100000"/>
              </a:lnSpc>
              <a:spcAft>
                <a:spcPts val="600"/>
              </a:spcAft>
            </a:pPr>
            <a:r>
              <a:rPr sz="1500" b="1">
                <a:solidFill>
                  <a:srgbClr val="C2551E"/>
                </a:solidFill>
                <a:latin typeface="Menlo"/>
              </a:rPr>
              <a:t>413</a:t>
            </a:r>
          </a:p>
        </p:txBody>
      </p:sp>
      <p:sp>
        <p:nvSpPr>
          <p:cNvPr id="18" name="TextBox 17"/>
          <p:cNvSpPr txBox="1"/>
          <p:nvPr/>
        </p:nvSpPr>
        <p:spPr>
          <a:xfrm>
            <a:off x="777240" y="3657598"/>
            <a:ext cx="4875390" cy="365760"/>
          </a:xfrm>
          <a:prstGeom prst="rect">
            <a:avLst/>
          </a:prstGeom>
          <a:noFill/>
        </p:spPr>
        <p:txBody>
          <a:bodyPr wrap="square">
            <a:spAutoFit/>
          </a:bodyPr>
          <a:lstStyle/>
          <a:p>
            <a:pPr algn="l">
              <a:lnSpc>
                <a:spcPct val="100000"/>
              </a:lnSpc>
              <a:spcAft>
                <a:spcPts val="600"/>
              </a:spcAft>
            </a:pPr>
            <a:r>
              <a:rPr sz="1500" b="0">
                <a:solidFill>
                  <a:srgbClr val="1C222B"/>
                </a:solidFill>
                <a:latin typeface="Helvetica Neue"/>
              </a:rPr>
              <a:t>minutes for 20 epochs</a:t>
            </a:r>
          </a:p>
        </p:txBody>
      </p:sp>
      <p:sp>
        <p:nvSpPr>
          <p:cNvPr id="19" name="TextBox 18"/>
          <p:cNvSpPr txBox="1"/>
          <p:nvPr/>
        </p:nvSpPr>
        <p:spPr>
          <a:xfrm>
            <a:off x="5652630" y="3657598"/>
            <a:ext cx="2659303"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32</a:t>
            </a:r>
          </a:p>
        </p:txBody>
      </p:sp>
      <p:sp>
        <p:nvSpPr>
          <p:cNvPr id="20" name="TextBox 19"/>
          <p:cNvSpPr txBox="1"/>
          <p:nvPr/>
        </p:nvSpPr>
        <p:spPr>
          <a:xfrm>
            <a:off x="8311933" y="3657598"/>
            <a:ext cx="3102521" cy="365760"/>
          </a:xfrm>
          <a:prstGeom prst="rect">
            <a:avLst/>
          </a:prstGeom>
          <a:noFill/>
        </p:spPr>
        <p:txBody>
          <a:bodyPr wrap="square">
            <a:spAutoFit/>
          </a:bodyPr>
          <a:lstStyle/>
          <a:p>
            <a:pPr algn="l">
              <a:lnSpc>
                <a:spcPct val="100000"/>
              </a:lnSpc>
              <a:spcAft>
                <a:spcPts val="600"/>
              </a:spcAft>
            </a:pPr>
            <a:r>
              <a:rPr sz="1500" b="1">
                <a:solidFill>
                  <a:srgbClr val="C2551E"/>
                </a:solidFill>
                <a:latin typeface="Menlo"/>
              </a:rPr>
              <a:t>138</a:t>
            </a:r>
          </a:p>
        </p:txBody>
      </p:sp>
      <p:sp>
        <p:nvSpPr>
          <p:cNvPr id="21" name="TextBox 20"/>
          <p:cNvSpPr txBox="1"/>
          <p:nvPr/>
        </p:nvSpPr>
        <p:spPr>
          <a:xfrm>
            <a:off x="777240" y="5806440"/>
            <a:ext cx="10637215" cy="640080"/>
          </a:xfrm>
          <a:prstGeom prst="rect">
            <a:avLst/>
          </a:prstGeom>
          <a:noFill/>
        </p:spPr>
        <p:txBody>
          <a:bodyPr wrap="square">
            <a:spAutoFit/>
          </a:bodyPr>
          <a:lstStyle/>
          <a:p>
            <a:pPr algn="l">
              <a:lnSpc>
                <a:spcPct val="115000"/>
              </a:lnSpc>
              <a:spcAft>
                <a:spcPts val="600"/>
              </a:spcAft>
            </a:pPr>
            <a:r>
              <a:rPr sz="1400" b="0">
                <a:solidFill>
                  <a:srgbClr val="6B7582"/>
                </a:solidFill>
                <a:latin typeface="Helvetica Neue"/>
              </a:rPr>
              <a:t>GFLOPs: billions of multiplications and additions to process one image once, counted by PyTorch. Every transformer weight is used on all 256 tokens; the U-Net's widest layers only run on 4 x 4 = 16 positions. Attention is also slower per GFLOP than convolution on this Mac's GPU. Transformer epoch 17: the Mac went to sleep mid-epoch, so its time is the average of the other epochs.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RESULTS</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Training loss: per epoch, and per minute</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oss_compare.png"/>
          <p:cNvPicPr>
            <a:picLocks noChangeAspect="1"/>
          </p:cNvPicPr>
          <p:nvPr/>
        </p:nvPicPr>
        <p:blipFill>
          <a:blip r:embed="rId2"/>
          <a:stretch>
            <a:fillRect/>
          </a:stretch>
        </p:blipFill>
        <p:spPr>
          <a:xfrm>
            <a:off x="1265699" y="1783080"/>
            <a:ext cx="9660297" cy="356616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Transformer: 20 epochs (stopped after epoch 13, then continued from the saved weights: the small bump at epoch 14), final loss 0.0182. U-Net: 20 epochs, final loss 0.0183. Same data, same loss, same recipe, so the numbers compare directly. Transformer epoch 17: the Mac went to sleep mid-epoch, so its time is the average of the other epochs.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RESULTS</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The transformer's digits, epoch by epoch</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grids2.png"/>
          <p:cNvPicPr>
            <a:picLocks noChangeAspect="1"/>
          </p:cNvPicPr>
          <p:nvPr/>
        </p:nvPicPr>
        <p:blipFill>
          <a:blip r:embed="rId2"/>
          <a:stretch>
            <a:fillRect/>
          </a:stretch>
        </p:blipFill>
        <p:spPr>
          <a:xfrm>
            <a:off x="1404589" y="1783080"/>
            <a:ext cx="9382516" cy="3749039"/>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Rows are digits 0-9, same starting noise after every epoch (50-step sampler with guidance w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2340</Words>
  <Application>Microsoft Macintosh PowerPoint</Application>
  <PresentationFormat>Widescreen</PresentationFormat>
  <Paragraphs>118</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Helvetica Neue</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Weishan Weng</cp:lastModifiedBy>
  <cp:revision>1</cp:revision>
  <dcterms:created xsi:type="dcterms:W3CDTF">2013-01-27T09:14:16Z</dcterms:created>
  <dcterms:modified xsi:type="dcterms:W3CDTF">2026-10-10T01:37:19Z</dcterms:modified>
  <cp:category/>
</cp:coreProperties>
</file>