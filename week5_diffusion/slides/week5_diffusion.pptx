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3" r:id="rId16"/>
    <p:sldId id="270" r:id="rId17"/>
    <p:sldId id="271" r:id="rId18"/>
    <p:sldId id="272"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143"/>
    <p:restoredTop sz="94618"/>
  </p:normalViewPr>
  <p:slideViewPr>
    <p:cSldViewPr snapToGrid="0" snapToObjects="1">
      <p:cViewPr varScale="1">
        <p:scale>
          <a:sx n="210" d="100"/>
          <a:sy n="210" d="100"/>
        </p:scale>
        <p:origin x="117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THE PROBLEM</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Generating has no single right answer</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783080"/>
            <a:ext cx="10637215" cy="457200"/>
          </a:xfrm>
          <a:prstGeom prst="rect">
            <a:avLst/>
          </a:prstGeom>
          <a:noFill/>
        </p:spPr>
        <p:txBody>
          <a:bodyPr wrap="square">
            <a:spAutoFit/>
          </a:bodyPr>
          <a:lstStyle/>
          <a:p>
            <a:pPr algn="l">
              <a:lnSpc>
                <a:spcPct val="115000"/>
              </a:lnSpc>
              <a:spcAft>
                <a:spcPts val="600"/>
              </a:spcAft>
            </a:pPr>
            <a:r>
              <a:rPr sz="1800" b="1">
                <a:solidFill>
                  <a:srgbClr val="1C222B"/>
                </a:solidFill>
                <a:latin typeface="Helvetica Neue"/>
              </a:rPr>
              <a:t>What we want: new images of a digit we choose -- not copies of the training set.</a:t>
            </a:r>
          </a:p>
        </p:txBody>
      </p:sp>
      <p:sp>
        <p:nvSpPr>
          <p:cNvPr id="6" name="TextBox 5"/>
          <p:cNvSpPr txBox="1"/>
          <p:nvPr/>
        </p:nvSpPr>
        <p:spPr>
          <a:xfrm>
            <a:off x="777240" y="2192274"/>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Weeks 3 and 4 had one correct answer per input (a class, a mask). We compared the output to it: that was the loss.</a:t>
            </a:r>
          </a:p>
        </p:txBody>
      </p:sp>
      <p:sp>
        <p:nvSpPr>
          <p:cNvPr id="7" name="TextBox 6"/>
          <p:cNvSpPr txBox="1"/>
          <p:nvPr/>
        </p:nvSpPr>
        <p:spPr>
          <a:xfrm>
            <a:off x="777240" y="2835148"/>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"Draw a 7" has millions of correct answers. There is nothing to compare the output to.</a:t>
            </a:r>
          </a:p>
        </p:txBody>
      </p:sp>
      <p:sp>
        <p:nvSpPr>
          <p:cNvPr id="8" name="TextBox 7"/>
          <p:cNvSpPr txBox="1"/>
          <p:nvPr/>
        </p:nvSpPr>
        <p:spPr>
          <a:xfrm>
            <a:off x="777240" y="3458336"/>
            <a:ext cx="10637215" cy="457200"/>
          </a:xfrm>
          <a:prstGeom prst="rect">
            <a:avLst/>
          </a:prstGeom>
          <a:noFill/>
        </p:spPr>
        <p:txBody>
          <a:bodyPr wrap="square">
            <a:spAutoFit/>
          </a:bodyPr>
          <a:lstStyle/>
          <a:p>
            <a:pPr algn="l">
              <a:lnSpc>
                <a:spcPct val="115000"/>
              </a:lnSpc>
              <a:spcAft>
                <a:spcPts val="600"/>
              </a:spcAft>
            </a:pPr>
            <a:r>
              <a:rPr sz="1800" b="1">
                <a:solidFill>
                  <a:srgbClr val="1C222B"/>
                </a:solidFill>
                <a:latin typeface="Helvetica Neue"/>
              </a:rPr>
              <a:t>The idea: destroying an image is easy. Learn to undo it.</a:t>
            </a:r>
          </a:p>
        </p:txBody>
      </p:sp>
      <p:sp>
        <p:nvSpPr>
          <p:cNvPr id="9" name="TextBox 8"/>
          <p:cNvSpPr txBox="1"/>
          <p:nvPr/>
        </p:nvSpPr>
        <p:spPr>
          <a:xfrm>
            <a:off x="777240" y="3867530"/>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Add noise, a little at a time, until only noise is left. We know exactly which noise we added, so "find the noise" DOES have one right answer: an ordinary supervised problem.</a:t>
            </a:r>
          </a:p>
        </p:txBody>
      </p:sp>
      <p:sp>
        <p:nvSpPr>
          <p:cNvPr id="10" name="TextBox 9"/>
          <p:cNvSpPr txBox="1"/>
          <p:nvPr/>
        </p:nvSpPr>
        <p:spPr>
          <a:xfrm>
            <a:off x="777240" y="4510404"/>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To generate: start from pure noise and remove noise step by step until a digit is left.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ADDING NOISE (THE FORWARD PROCESS)</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Any noise level in one formula</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q1.png"/>
          <p:cNvPicPr>
            <a:picLocks noChangeAspect="1"/>
          </p:cNvPicPr>
          <p:nvPr/>
        </p:nvPicPr>
        <p:blipFill>
          <a:blip r:embed="rId2"/>
          <a:stretch>
            <a:fillRect/>
          </a:stretch>
        </p:blipFill>
        <p:spPr>
          <a:xfrm>
            <a:off x="1143000" y="1783080"/>
            <a:ext cx="7473696" cy="429768"/>
          </a:xfrm>
          <a:prstGeom prst="rect">
            <a:avLst/>
          </a:prstGeom>
        </p:spPr>
      </p:pic>
      <p:sp>
        <p:nvSpPr>
          <p:cNvPr id="6" name="TextBox 5"/>
          <p:cNvSpPr txBox="1"/>
          <p:nvPr/>
        </p:nvSpPr>
        <p:spPr>
          <a:xfrm>
            <a:off x="777240" y="2450592"/>
            <a:ext cx="10637215" cy="457200"/>
          </a:xfrm>
          <a:prstGeom prst="rect">
            <a:avLst/>
          </a:prstGeom>
          <a:noFill/>
        </p:spPr>
        <p:txBody>
          <a:bodyPr wrap="square">
            <a:spAutoFit/>
          </a:bodyPr>
          <a:lstStyle/>
          <a:p>
            <a:pPr algn="l">
              <a:lnSpc>
                <a:spcPct val="115000"/>
              </a:lnSpc>
              <a:spcAft>
                <a:spcPts val="600"/>
              </a:spcAft>
            </a:pPr>
            <a:r>
              <a:rPr sz="1500" b="0">
                <a:solidFill>
                  <a:srgbClr val="6B7582"/>
                </a:solidFill>
                <a:latin typeface="Helvetica Neue"/>
              </a:rPr>
              <a:t>beta_t (beta): how much noise step t adds -- a fixed list of 1000 numbers, rising from 0.0001 to 0.02.   alpha_t = 1 - beta_t: how much of the image that step keeps.   alpha-bar_t: the product of all alphas up to t = how much of the original digit is left.</a:t>
            </a:r>
          </a:p>
        </p:txBody>
      </p:sp>
      <p:pic>
        <p:nvPicPr>
          <p:cNvPr id="7" name="Picture 6" descr="eq2.png"/>
          <p:cNvPicPr>
            <a:picLocks noChangeAspect="1"/>
          </p:cNvPicPr>
          <p:nvPr/>
        </p:nvPicPr>
        <p:blipFill>
          <a:blip r:embed="rId3"/>
          <a:stretch>
            <a:fillRect/>
          </a:stretch>
        </p:blipFill>
        <p:spPr>
          <a:xfrm>
            <a:off x="1143000" y="3391280"/>
            <a:ext cx="6312408" cy="527304"/>
          </a:xfrm>
          <a:prstGeom prst="rect">
            <a:avLst/>
          </a:prstGeom>
        </p:spPr>
      </p:pic>
      <p:sp>
        <p:nvSpPr>
          <p:cNvPr id="8" name="TextBox 7"/>
          <p:cNvSpPr txBox="1"/>
          <p:nvPr/>
        </p:nvSpPr>
        <p:spPr>
          <a:xfrm>
            <a:off x="777240" y="4156328"/>
            <a:ext cx="10637215" cy="457200"/>
          </a:xfrm>
          <a:prstGeom prst="rect">
            <a:avLst/>
          </a:prstGeom>
          <a:noFill/>
        </p:spPr>
        <p:txBody>
          <a:bodyPr wrap="square">
            <a:spAutoFit/>
          </a:bodyPr>
          <a:lstStyle/>
          <a:p>
            <a:pPr algn="l">
              <a:lnSpc>
                <a:spcPct val="115000"/>
              </a:lnSpc>
              <a:spcAft>
                <a:spcPts val="600"/>
              </a:spcAft>
            </a:pPr>
            <a:r>
              <a:rPr sz="1500" b="0">
                <a:solidFill>
                  <a:srgbClr val="6B7582"/>
                </a:solidFill>
                <a:latin typeface="Helvetica Neue"/>
              </a:rPr>
              <a:t>x_0: the clean digit, pixels in [-1, 1].   epsilon: random noise, one number per pixel drawn from a bell curve with mean 0 and spread 1.   x_t: the digit at noise level t.</a:t>
            </a:r>
          </a:p>
        </p:txBody>
      </p:sp>
      <p:sp>
        <p:nvSpPr>
          <p:cNvPr id="9" name="TextBox 8"/>
          <p:cNvSpPr txBox="1"/>
          <p:nvPr/>
        </p:nvSpPr>
        <p:spPr>
          <a:xfrm>
            <a:off x="777240" y="4877942"/>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No loop: any level t is reached in one line. So training can pick a random t for every image in the batch.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ADDING NOISE</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A real training digit at eight noise levels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wd.png"/>
          <p:cNvPicPr>
            <a:picLocks noChangeAspect="1"/>
          </p:cNvPicPr>
          <p:nvPr/>
        </p:nvPicPr>
        <p:blipFill>
          <a:blip r:embed="rId2"/>
          <a:stretch>
            <a:fillRect/>
          </a:stretch>
        </p:blipFill>
        <p:spPr>
          <a:xfrm>
            <a:off x="228600" y="1691640"/>
            <a:ext cx="11734495" cy="1922671"/>
          </a:xfrm>
          <a:prstGeom prst="rect">
            <a:avLst/>
          </a:prstGeom>
        </p:spPr>
      </p:pic>
      <p:pic>
        <p:nvPicPr>
          <p:cNvPr id="6" name="Picture 5" descr="sched.png"/>
          <p:cNvPicPr>
            <a:picLocks noChangeAspect="1"/>
          </p:cNvPicPr>
          <p:nvPr/>
        </p:nvPicPr>
        <p:blipFill>
          <a:blip r:embed="rId3"/>
          <a:stretch>
            <a:fillRect/>
          </a:stretch>
        </p:blipFill>
        <p:spPr>
          <a:xfrm>
            <a:off x="3122503" y="3705751"/>
            <a:ext cx="5946689" cy="2240280"/>
          </a:xfrm>
          <a:prstGeom prst="rect">
            <a:avLst/>
          </a:prstGeom>
        </p:spPr>
      </p:pic>
      <p:sp>
        <p:nvSpPr>
          <p:cNvPr id="7" name="TextBox 6"/>
          <p:cNvSpPr txBox="1"/>
          <p:nvPr/>
        </p:nvSpPr>
        <p:spPr>
          <a:xfrm>
            <a:off x="777240" y="61264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Top: x_t computed with the formula above.  Bottom: the two weights in the formula. By t = 999 the digit is gone.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TRAINING</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One training step: where each input comes from, and what learns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rain_flow.png"/>
          <p:cNvPicPr>
            <a:picLocks noChangeAspect="1"/>
          </p:cNvPicPr>
          <p:nvPr/>
        </p:nvPicPr>
        <p:blipFill>
          <a:blip r:embed="rId2"/>
          <a:stretch>
            <a:fillRect/>
          </a:stretch>
        </p:blipFill>
        <p:spPr>
          <a:xfrm>
            <a:off x="1951471" y="1645920"/>
            <a:ext cx="8288753" cy="434340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The label table is a weight like any other: backprop changes row 7 whenever the training digit is a 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TRAINING</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How t and y become e, and where e goes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mbed.png"/>
          <p:cNvPicPr>
            <a:picLocks noChangeAspect="1"/>
          </p:cNvPicPr>
          <p:nvPr/>
        </p:nvPicPr>
        <p:blipFill>
          <a:blip r:embed="rId2"/>
          <a:stretch>
            <a:fillRect/>
          </a:stretch>
        </p:blipFill>
        <p:spPr>
          <a:xfrm>
            <a:off x="2309476" y="1691640"/>
            <a:ext cx="7572742" cy="2331720"/>
          </a:xfrm>
          <a:prstGeom prst="rect">
            <a:avLst/>
          </a:prstGeom>
        </p:spPr>
      </p:pic>
      <p:pic>
        <p:nvPicPr>
          <p:cNvPr id="6" name="Picture 5" descr="block.png"/>
          <p:cNvPicPr>
            <a:picLocks noChangeAspect="1"/>
          </p:cNvPicPr>
          <p:nvPr/>
        </p:nvPicPr>
        <p:blipFill>
          <a:blip r:embed="rId3"/>
          <a:stretch>
            <a:fillRect/>
          </a:stretch>
        </p:blipFill>
        <p:spPr>
          <a:xfrm>
            <a:off x="2603982" y="4114800"/>
            <a:ext cx="6983730" cy="1783080"/>
          </a:xfrm>
          <a:prstGeom prst="rect">
            <a:avLst/>
          </a:prstGeom>
        </p:spPr>
      </p:pic>
      <p:sp>
        <p:nvSpPr>
          <p:cNvPr id="7" name="TextBox 6"/>
          <p:cNvSpPr txBox="1"/>
          <p:nvPr/>
        </p:nvSpPr>
        <p:spPr>
          <a:xfrm>
            <a:off x="777240" y="61264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Top: t -&gt; sin/cos (fixed) -&gt; MLP (learned); y -&gt; its row of the table (learned). Their sum is e.  Bottom: inside every block, a learned Linear turns e into one number per channel, added at every pixel.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THE LOSS</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Predict the noise; the error is plain MSE</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q3.png"/>
          <p:cNvPicPr>
            <a:picLocks noChangeAspect="1"/>
          </p:cNvPicPr>
          <p:nvPr/>
        </p:nvPicPr>
        <p:blipFill>
          <a:blip r:embed="rId2"/>
          <a:stretch>
            <a:fillRect/>
          </a:stretch>
        </p:blipFill>
        <p:spPr>
          <a:xfrm>
            <a:off x="1143000" y="1783080"/>
            <a:ext cx="5727192" cy="512064"/>
          </a:xfrm>
          <a:prstGeom prst="rect">
            <a:avLst/>
          </a:prstGeom>
        </p:spPr>
      </p:pic>
      <p:sp>
        <p:nvSpPr>
          <p:cNvPr id="6" name="TextBox 5"/>
          <p:cNvSpPr txBox="1"/>
          <p:nvPr/>
        </p:nvSpPr>
        <p:spPr>
          <a:xfrm>
            <a:off x="777240" y="2532888"/>
            <a:ext cx="10637215" cy="457200"/>
          </a:xfrm>
          <a:prstGeom prst="rect">
            <a:avLst/>
          </a:prstGeom>
          <a:noFill/>
        </p:spPr>
        <p:txBody>
          <a:bodyPr wrap="square">
            <a:spAutoFit/>
          </a:bodyPr>
          <a:lstStyle/>
          <a:p>
            <a:pPr algn="l">
              <a:lnSpc>
                <a:spcPct val="115000"/>
              </a:lnSpc>
              <a:spcAft>
                <a:spcPts val="600"/>
              </a:spcAft>
            </a:pPr>
            <a:r>
              <a:rPr sz="1500" b="0">
                <a:solidFill>
                  <a:srgbClr val="6B7582"/>
                </a:solidFill>
                <a:latin typeface="Helvetica Neue"/>
              </a:rPr>
              <a:t>epsilon_theta: the U-Net (theta = its weights), taking the noisy digit, the level and the label.   E[...]: the average over digits x_0, labels y, random levels t and random noise epsilon.   ||...||^2: squared error over all 32 x 32 pixels -- MSE.</a:t>
            </a:r>
          </a:p>
        </p:txBody>
      </p:sp>
      <p:sp>
        <p:nvSpPr>
          <p:cNvPr id="7" name="TextBox 6"/>
          <p:cNvSpPr txBox="1"/>
          <p:nvPr/>
        </p:nvSpPr>
        <p:spPr>
          <a:xfrm>
            <a:off x="777240" y="3519296"/>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Why the noise and not the clean digit? The next two slides.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WHY PREDICT THE NOISE (1/2)</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Knowing the noise = knowing the digit</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q4.png"/>
          <p:cNvPicPr>
            <a:picLocks noChangeAspect="1"/>
          </p:cNvPicPr>
          <p:nvPr/>
        </p:nvPicPr>
        <p:blipFill>
          <a:blip r:embed="rId2"/>
          <a:stretch>
            <a:fillRect/>
          </a:stretch>
        </p:blipFill>
        <p:spPr>
          <a:xfrm>
            <a:off x="1143000" y="1783080"/>
            <a:ext cx="5833872" cy="493776"/>
          </a:xfrm>
          <a:prstGeom prst="rect">
            <a:avLst/>
          </a:prstGeom>
        </p:spPr>
      </p:pic>
      <p:sp>
        <p:nvSpPr>
          <p:cNvPr id="6" name="TextBox 5"/>
          <p:cNvSpPr txBox="1"/>
          <p:nvPr/>
        </p:nvSpPr>
        <p:spPr>
          <a:xfrm>
            <a:off x="777240" y="2514600"/>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The model already has x_t (its input) and t. That is one equation with two unknowns, x_0 and epsilon. Know one, and the other follows:</a:t>
            </a:r>
          </a:p>
        </p:txBody>
      </p:sp>
      <p:pic>
        <p:nvPicPr>
          <p:cNvPr id="7" name="Picture 6" descr="eq5.png"/>
          <p:cNvPicPr>
            <a:picLocks noChangeAspect="1"/>
          </p:cNvPicPr>
          <p:nvPr/>
        </p:nvPicPr>
        <p:blipFill>
          <a:blip r:embed="rId3"/>
          <a:stretch>
            <a:fillRect/>
          </a:stretch>
        </p:blipFill>
        <p:spPr>
          <a:xfrm>
            <a:off x="1143000" y="3157474"/>
            <a:ext cx="4139183" cy="679704"/>
          </a:xfrm>
          <a:prstGeom prst="rect">
            <a:avLst/>
          </a:prstGeom>
        </p:spPr>
      </p:pic>
      <p:pic>
        <p:nvPicPr>
          <p:cNvPr id="8" name="Picture 7" descr="eq6.png"/>
          <p:cNvPicPr>
            <a:picLocks noChangeAspect="1"/>
          </p:cNvPicPr>
          <p:nvPr/>
        </p:nvPicPr>
        <p:blipFill>
          <a:blip r:embed="rId4"/>
          <a:stretch>
            <a:fillRect/>
          </a:stretch>
        </p:blipFill>
        <p:spPr>
          <a:xfrm>
            <a:off x="1143000" y="4074922"/>
            <a:ext cx="3855720" cy="679704"/>
          </a:xfrm>
          <a:prstGeom prst="rect">
            <a:avLst/>
          </a:prstGeom>
        </p:spPr>
      </p:pic>
      <p:sp>
        <p:nvSpPr>
          <p:cNvPr id="9" name="TextBox 8"/>
          <p:cNvSpPr txBox="1"/>
          <p:nvPr/>
        </p:nvSpPr>
        <p:spPr>
          <a:xfrm>
            <a:off x="777240" y="4992370"/>
            <a:ext cx="10637215" cy="457200"/>
          </a:xfrm>
          <a:prstGeom prst="rect">
            <a:avLst/>
          </a:prstGeom>
          <a:noFill/>
        </p:spPr>
        <p:txBody>
          <a:bodyPr wrap="square">
            <a:spAutoFit/>
          </a:bodyPr>
          <a:lstStyle/>
          <a:p>
            <a:pPr algn="l">
              <a:lnSpc>
                <a:spcPct val="115000"/>
              </a:lnSpc>
              <a:spcAft>
                <a:spcPts val="600"/>
              </a:spcAft>
            </a:pPr>
            <a:r>
              <a:rPr sz="1700" b="0">
                <a:solidFill>
                  <a:srgbClr val="1C222B"/>
                </a:solidFill>
                <a:latin typeface="Helvetica Neue"/>
              </a:rPr>
              <a:t>So a model that outputs the noise has also told us its guess for the digit. The two choices do not differ in what the model knows. They differ in what the loss punishes.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WHY PREDICT THE NOISE (2/2)</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What the loss cares about</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q7.png"/>
          <p:cNvPicPr>
            <a:picLocks noChangeAspect="1"/>
          </p:cNvPicPr>
          <p:nvPr/>
        </p:nvPicPr>
        <p:blipFill>
          <a:blip r:embed="rId2"/>
          <a:stretch>
            <a:fillRect/>
          </a:stretch>
        </p:blipFill>
        <p:spPr>
          <a:xfrm>
            <a:off x="4158844" y="1645920"/>
            <a:ext cx="3874007" cy="481583"/>
          </a:xfrm>
          <a:prstGeom prst="rect">
            <a:avLst/>
          </a:prstGeom>
        </p:spPr>
      </p:pic>
      <p:pic>
        <p:nvPicPr>
          <p:cNvPr id="6" name="Picture 5" descr="weight.png"/>
          <p:cNvPicPr>
            <a:picLocks noChangeAspect="1"/>
          </p:cNvPicPr>
          <p:nvPr/>
        </p:nvPicPr>
        <p:blipFill>
          <a:blip r:embed="rId3"/>
          <a:stretch>
            <a:fillRect/>
          </a:stretch>
        </p:blipFill>
        <p:spPr>
          <a:xfrm>
            <a:off x="2836434" y="2331720"/>
            <a:ext cx="6518827" cy="2514600"/>
          </a:xfrm>
          <a:prstGeom prst="rect">
            <a:avLst/>
          </a:prstGeom>
        </p:spPr>
      </p:pic>
      <p:sp>
        <p:nvSpPr>
          <p:cNvPr id="7" name="TextBox 6"/>
          <p:cNvSpPr txBox="1"/>
          <p:nvPr/>
        </p:nvSpPr>
        <p:spPr>
          <a:xfrm>
            <a:off x="777240" y="4892040"/>
            <a:ext cx="10637215" cy="1508760"/>
          </a:xfrm>
          <a:prstGeom prst="rect">
            <a:avLst/>
          </a:prstGeom>
          <a:noFill/>
        </p:spPr>
        <p:txBody>
          <a:bodyPr wrap="square">
            <a:spAutoFit/>
          </a:bodyPr>
          <a:lstStyle/>
          <a:p>
            <a:pPr algn="l">
              <a:lnSpc>
                <a:spcPct val="115000"/>
              </a:lnSpc>
              <a:spcAft>
                <a:spcPts val="600"/>
              </a:spcAft>
            </a:pPr>
            <a:r>
              <a:rPr sz="1350" b="0">
                <a:solidFill>
                  <a:srgbClr val="1C222B"/>
                </a:solidFill>
                <a:latin typeface="Helvetica Neue"/>
              </a:rPr>
              <a:t>Predict the noise: a small mistake on a NEARLY CLEAN image costs a lot (left of the curve). The network spends its effort on fine details -- stroke edges, thickness, clean background.</a:t>
            </a:r>
          </a:p>
          <a:p>
            <a:pPr algn="l">
              <a:lnSpc>
                <a:spcPct val="115000"/>
              </a:lnSpc>
              <a:spcAft>
                <a:spcPts val="600"/>
              </a:spcAft>
            </a:pPr>
            <a:r>
              <a:rPr sz="1350" b="0">
                <a:solidFill>
                  <a:srgbClr val="1C222B"/>
                </a:solidFill>
                <a:latin typeface="Helvetica Neue"/>
              </a:rPr>
              <a:t>Predict the digit: the same small mistake costs almost nothing. The loss is dominated by very noisy images, where the digit must be guessed from almost pure noise -- the best possible answer is a blurry average, and the loss keeps pushing on a task that cannot be solved.</a:t>
            </a:r>
          </a:p>
          <a:p>
            <a:pPr algn="l">
              <a:lnSpc>
                <a:spcPct val="115000"/>
              </a:lnSpc>
              <a:spcAft>
                <a:spcPts val="600"/>
              </a:spcAft>
            </a:pPr>
            <a:r>
              <a:rPr sz="1550" b="1">
                <a:solidFill>
                  <a:srgbClr val="1C222B"/>
                </a:solidFill>
                <a:latin typeface="Helvetica Neue"/>
              </a:rPr>
              <a:t>Predicting the noise makes the loss care most about the details that decide how the final digit looks.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TRAINING</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One training step: the whole algorithm</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737360"/>
            <a:ext cx="10637215" cy="292608"/>
          </a:xfrm>
          <a:prstGeom prst="rect">
            <a:avLst/>
          </a:prstGeom>
          <a:noFill/>
        </p:spPr>
        <p:txBody>
          <a:bodyPr wrap="square">
            <a:spAutoFit/>
          </a:bodyPr>
          <a:lstStyle/>
          <a:p>
            <a:pPr algn="l">
              <a:lnSpc>
                <a:spcPct val="100000"/>
              </a:lnSpc>
              <a:spcAft>
                <a:spcPts val="600"/>
              </a:spcAft>
            </a:pPr>
            <a:r>
              <a:rPr sz="1350" b="1">
                <a:solidFill>
                  <a:srgbClr val="6B7582"/>
                </a:solidFill>
                <a:latin typeface="Menlo"/>
              </a:rPr>
              <a:t>part1_unet_diffusion.py</a:t>
            </a:r>
          </a:p>
        </p:txBody>
      </p:sp>
      <p:sp>
        <p:nvSpPr>
          <p:cNvPr id="6" name="TextBox 5"/>
          <p:cNvSpPr txBox="1"/>
          <p:nvPr/>
        </p:nvSpPr>
        <p:spPr>
          <a:xfrm>
            <a:off x="777240" y="2121408"/>
            <a:ext cx="10637215" cy="4114800"/>
          </a:xfrm>
          <a:prstGeom prst="rect">
            <a:avLst/>
          </a:prstGeom>
          <a:noFill/>
        </p:spPr>
        <p:txBody>
          <a:bodyPr wrap="square">
            <a:spAutoFit/>
          </a:bodyPr>
          <a:lstStyle/>
          <a:p>
            <a:pPr algn="l">
              <a:lnSpc>
                <a:spcPct val="108000"/>
              </a:lnSpc>
              <a:spcAft>
                <a:spcPts val="600"/>
              </a:spcAft>
            </a:pPr>
            <a:r>
              <a:rPr sz="1450" b="0">
                <a:solidFill>
                  <a:srgbClr val="1C222B"/>
                </a:solidFill>
                <a:latin typeface="Menlo"/>
              </a:rPr>
              <a:t>  t = torch.randint(0, sched.T, (len(x0),), device=device)   # a random level per image</a:t>
            </a:r>
          </a:p>
          <a:p>
            <a:pPr algn="l">
              <a:lnSpc>
                <a:spcPct val="108000"/>
              </a:lnSpc>
              <a:spcAft>
                <a:spcPts val="600"/>
              </a:spcAft>
            </a:pPr>
            <a:r>
              <a:rPr sz="1450" b="0">
                <a:solidFill>
                  <a:srgbClr val="1C222B"/>
                </a:solidFill>
                <a:latin typeface="Menlo"/>
              </a:rPr>
              <a:t>  noise = torch.randn_like(x0)                                # random noise</a:t>
            </a:r>
          </a:p>
          <a:p>
            <a:pPr algn="l">
              <a:lnSpc>
                <a:spcPct val="108000"/>
              </a:lnSpc>
              <a:spcAft>
                <a:spcPts val="600"/>
              </a:spcAft>
            </a:pPr>
            <a:r>
              <a:rPr sz="1450" b="0">
                <a:solidFill>
                  <a:srgbClr val="1C222B"/>
                </a:solidFill>
                <a:latin typeface="Menlo"/>
              </a:rPr>
              <a:t>  x_t = sched.add_noise(x0, t, noise)                         # the forward formula</a:t>
            </a:r>
          </a:p>
          <a:p>
            <a:pPr algn="l">
              <a:lnSpc>
                <a:spcPct val="108000"/>
              </a:lnSpc>
              <a:spcAft>
                <a:spcPts val="600"/>
              </a:spcAft>
            </a:pPr>
            <a:r>
              <a:rPr sz="1450" b="1">
                <a:solidFill>
                  <a:srgbClr val="C2551E"/>
                </a:solidFill>
                <a:latin typeface="Menlo"/>
              </a:rPr>
              <a:t>  loss = F.mse_loss(model(x_t, t, y), noise)                 # find the noise</a:t>
            </a:r>
          </a:p>
          <a:p>
            <a:pPr algn="l">
              <a:lnSpc>
                <a:spcPct val="108000"/>
              </a:lnSpc>
              <a:spcAft>
                <a:spcPts val="600"/>
              </a:spcAft>
            </a:pPr>
            <a:r>
              <a:rPr sz="1450" b="0">
                <a:solidFill>
                  <a:srgbClr val="1C222B"/>
                </a:solidFill>
                <a:latin typeface="Menlo"/>
              </a:rPr>
              <a:t>  </a:t>
            </a:r>
          </a:p>
          <a:p>
            <a:pPr algn="l">
              <a:lnSpc>
                <a:spcPct val="108000"/>
              </a:lnSpc>
              <a:spcAft>
                <a:spcPts val="600"/>
              </a:spcAft>
            </a:pPr>
            <a:r>
              <a:rPr sz="1450" b="0">
                <a:solidFill>
                  <a:srgbClr val="1C222B"/>
                </a:solidFill>
                <a:latin typeface="Menlo"/>
              </a:rPr>
              <a:t>  opt.zero_grad(set_to_none=True)</a:t>
            </a:r>
          </a:p>
          <a:p>
            <a:pPr algn="l">
              <a:lnSpc>
                <a:spcPct val="108000"/>
              </a:lnSpc>
              <a:spcAft>
                <a:spcPts val="600"/>
              </a:spcAft>
            </a:pPr>
            <a:r>
              <a:rPr sz="1450" b="0">
                <a:solidFill>
                  <a:srgbClr val="1C222B"/>
                </a:solidFill>
                <a:latin typeface="Menlo"/>
              </a:rPr>
              <a:t>  loss.backward()</a:t>
            </a:r>
          </a:p>
          <a:p>
            <a:pPr algn="l">
              <a:lnSpc>
                <a:spcPct val="108000"/>
              </a:lnSpc>
              <a:spcAft>
                <a:spcPts val="600"/>
              </a:spcAft>
            </a:pPr>
            <a:r>
              <a:rPr sz="1450" b="0">
                <a:solidFill>
                  <a:srgbClr val="1C222B"/>
                </a:solidFill>
                <a:latin typeface="Menlo"/>
              </a:rPr>
              <a:t>  opt.step()</a:t>
            </a:r>
          </a:p>
        </p:txBody>
      </p:sp>
      <p:sp>
        <p:nvSpPr>
          <p:cNvPr id="7" name="TextBox 6"/>
          <p:cNvSpPr txBox="1"/>
          <p:nvPr/>
        </p:nvSpPr>
        <p:spPr>
          <a:xfrm>
            <a:off x="777240" y="5925312"/>
            <a:ext cx="10637215" cy="640080"/>
          </a:xfrm>
          <a:prstGeom prst="rect">
            <a:avLst/>
          </a:prstGeom>
          <a:noFill/>
        </p:spPr>
        <p:txBody>
          <a:bodyPr wrap="square">
            <a:spAutoFit/>
          </a:bodyPr>
          <a:lstStyle/>
          <a:p>
            <a:pPr algn="l">
              <a:lnSpc>
                <a:spcPct val="115000"/>
              </a:lnSpc>
              <a:spcAft>
                <a:spcPts val="600"/>
              </a:spcAft>
            </a:pPr>
            <a:r>
              <a:rPr sz="1450" b="0">
                <a:solidFill>
                  <a:srgbClr val="6B7582"/>
                </a:solidFill>
                <a:latin typeface="Helvetica Neue"/>
              </a:rPr>
              <a:t>Two extras, a few lines each: label dropout (10% of labels replaced by "no label", used later for guidance) and EMA, a second copy of the weights that is a slowly moving average of the trained ones. Its samples are cleaner; the checkpoint stores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RESULTS: TRAINING</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The loss falls, then flattens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ss.png"/>
          <p:cNvPicPr>
            <a:picLocks noChangeAspect="1"/>
          </p:cNvPicPr>
          <p:nvPr/>
        </p:nvPicPr>
        <p:blipFill>
          <a:blip r:embed="rId2"/>
          <a:stretch>
            <a:fillRect/>
          </a:stretch>
        </p:blipFill>
        <p:spPr>
          <a:xfrm>
            <a:off x="3456054" y="1783080"/>
            <a:ext cx="5279586" cy="3749039"/>
          </a:xfrm>
          <a:prstGeom prst="rect">
            <a:avLst/>
          </a:prstGeom>
        </p:spPr>
      </p:pic>
      <p:sp>
        <p:nvSpPr>
          <p:cNvPr id="6" name="TextBox 5"/>
          <p:cNvSpPr txBox="1"/>
          <p:nvPr/>
        </p:nvSpPr>
        <p:spPr>
          <a:xfrm>
            <a:off x="777240" y="56692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20 epochs, 32 min on this Mac, 4,586,449 parameters. Live: trackio show --project week5-diffusion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INFERENCE</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Generating a 7: same network, run in a loop, nothing learns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nfer_flow.png"/>
          <p:cNvPicPr>
            <a:picLocks noChangeAspect="1"/>
          </p:cNvPicPr>
          <p:nvPr/>
        </p:nvPicPr>
        <p:blipFill>
          <a:blip r:embed="rId2"/>
          <a:stretch>
            <a:fillRect/>
          </a:stretch>
        </p:blipFill>
        <p:spPr>
          <a:xfrm>
            <a:off x="1951471" y="1645920"/>
            <a:ext cx="8288753" cy="434340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The seed decides WHICH 7 (slant, thickness). The label decides THAT it is a 7. The model always runs forward; only t counts down.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RESULTS: INFERENCE</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Noise on the left, digit on the right</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rajectory_ddpm.png"/>
          <p:cNvPicPr>
            <a:picLocks noChangeAspect="1"/>
          </p:cNvPicPr>
          <p:nvPr/>
        </p:nvPicPr>
        <p:blipFill>
          <a:blip r:embed="rId2"/>
          <a:stretch>
            <a:fillRect/>
          </a:stretch>
        </p:blipFill>
        <p:spPr>
          <a:xfrm>
            <a:off x="4084167" y="1783080"/>
            <a:ext cx="4023360" cy="402336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One row per requested digit, 0-9. Columns: 10 evenly spaced moments of the 1000-step loop from the previous slide.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RESULTS: INFERENCE</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Ask for each digit, get eight new ones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amples_ddpm_w1.png"/>
          <p:cNvPicPr>
            <a:picLocks noChangeAspect="1"/>
          </p:cNvPicPr>
          <p:nvPr/>
        </p:nvPicPr>
        <p:blipFill>
          <a:blip r:embed="rId2"/>
          <a:stretch>
            <a:fillRect/>
          </a:stretch>
        </p:blipFill>
        <p:spPr>
          <a:xfrm>
            <a:off x="4484150" y="1783080"/>
            <a:ext cx="3223394" cy="402336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Row k: y = k, eight different seeds. Same trained model, 1000-step loop, nothing else. 80 digits x 1000 steps took 58 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2377440"/>
            <a:ext cx="10637215" cy="365760"/>
          </a:xfrm>
          <a:prstGeom prst="rect">
            <a:avLst/>
          </a:prstGeom>
          <a:noFill/>
        </p:spPr>
        <p:txBody>
          <a:bodyPr wrap="square">
            <a:spAutoFit/>
          </a:bodyPr>
          <a:lstStyle/>
          <a:p>
            <a:pPr algn="l">
              <a:lnSpc>
                <a:spcPct val="100000"/>
              </a:lnSpc>
              <a:spcAft>
                <a:spcPts val="600"/>
              </a:spcAft>
            </a:pPr>
            <a:r>
              <a:rPr sz="1400" b="1">
                <a:solidFill>
                  <a:srgbClr val="C2551E"/>
                </a:solidFill>
                <a:latin typeface="Helvetica Neue"/>
              </a:rPr>
              <a:t>PART 2</a:t>
            </a:r>
          </a:p>
        </p:txBody>
      </p:sp>
      <p:sp>
        <p:nvSpPr>
          <p:cNvPr id="3" name="TextBox 2"/>
          <p:cNvSpPr txBox="1"/>
          <p:nvPr/>
        </p:nvSpPr>
        <p:spPr>
          <a:xfrm>
            <a:off x="777240" y="2743200"/>
            <a:ext cx="10637215" cy="1097280"/>
          </a:xfrm>
          <a:prstGeom prst="rect">
            <a:avLst/>
          </a:prstGeom>
          <a:noFill/>
        </p:spPr>
        <p:txBody>
          <a:bodyPr wrap="square">
            <a:spAutoFit/>
          </a:bodyPr>
          <a:lstStyle/>
          <a:p>
            <a:pPr algn="l">
              <a:lnSpc>
                <a:spcPct val="100000"/>
              </a:lnSpc>
              <a:spcAft>
                <a:spcPts val="600"/>
              </a:spcAft>
            </a:pPr>
            <a:r>
              <a:rPr sz="4000" b="1">
                <a:solidFill>
                  <a:srgbClr val="1F4E79"/>
                </a:solidFill>
                <a:latin typeface="Helvetica Neue"/>
              </a:rPr>
              <a:t>Swap the U-Net for a transformer</a:t>
            </a:r>
          </a:p>
        </p:txBody>
      </p:sp>
      <p:sp>
        <p:nvSpPr>
          <p:cNvPr id="4" name="Rectangle 3"/>
          <p:cNvSpPr/>
          <p:nvPr/>
        </p:nvSpPr>
        <p:spPr>
          <a:xfrm>
            <a:off x="777240" y="3931920"/>
            <a:ext cx="2743200"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4206240"/>
            <a:ext cx="8961120" cy="1097280"/>
          </a:xfrm>
          <a:prstGeom prst="rect">
            <a:avLst/>
          </a:prstGeom>
          <a:noFill/>
        </p:spPr>
        <p:txBody>
          <a:bodyPr wrap="square">
            <a:spAutoFit/>
          </a:bodyPr>
          <a:lstStyle/>
          <a:p>
            <a:pPr algn="l">
              <a:lnSpc>
                <a:spcPct val="120000"/>
              </a:lnSpc>
              <a:spcAft>
                <a:spcPts val="600"/>
              </a:spcAft>
            </a:pPr>
            <a:r>
              <a:rPr sz="1800" b="0">
                <a:solidFill>
                  <a:srgbClr val="6B7582"/>
                </a:solidFill>
                <a:latin typeface="Helvetica Neue"/>
              </a:rPr>
              <a:t>Same noise, same loss, same training loop, same samplers, same e. Only the network that predicts the noise changes -- sized to the same parameter count: 4,654,852 vs the U-Net's 4,586,449.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THE MODEL</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From an image to tokens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tches.png"/>
          <p:cNvPicPr>
            <a:picLocks noChangeAspect="1"/>
          </p:cNvPicPr>
          <p:nvPr/>
        </p:nvPicPr>
        <p:blipFill>
          <a:blip r:embed="rId2"/>
          <a:stretch>
            <a:fillRect/>
          </a:stretch>
        </p:blipFill>
        <p:spPr>
          <a:xfrm>
            <a:off x="662235" y="1783080"/>
            <a:ext cx="10867225" cy="3749039"/>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A token is one patch, described by numbers the network works with. The same Linear is used for every patch. The position table gives each patch its own learned row, so the network knows where the patch sits.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ATTENTION (1/3)</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Every token takes a weighted mix of all tokens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783080"/>
            <a:ext cx="10637215" cy="457200"/>
          </a:xfrm>
          <a:prstGeom prst="rect">
            <a:avLst/>
          </a:prstGeom>
          <a:noFill/>
        </p:spPr>
        <p:txBody>
          <a:bodyPr wrap="square">
            <a:spAutoFit/>
          </a:bodyPr>
          <a:lstStyle/>
          <a:p>
            <a:pPr algn="l">
              <a:lnSpc>
                <a:spcPct val="115000"/>
              </a:lnSpc>
              <a:spcAft>
                <a:spcPts val="600"/>
              </a:spcAft>
            </a:pPr>
            <a:r>
              <a:rPr sz="1800" b="1">
                <a:solidFill>
                  <a:srgbClr val="1C222B"/>
                </a:solidFill>
                <a:latin typeface="Helvetica Neue"/>
              </a:rPr>
              <a:t>A transformer works on tokens: rows of d numbers, each describing one piece of the input (ours, later: one 2 x 2 patch of the image).</a:t>
            </a:r>
          </a:p>
        </p:txBody>
      </p:sp>
      <p:sp>
        <p:nvSpPr>
          <p:cNvPr id="6" name="TextBox 5"/>
          <p:cNvSpPr txBox="1"/>
          <p:nvPr/>
        </p:nvSpPr>
        <p:spPr>
          <a:xfrm>
            <a:off x="777240" y="2455164"/>
            <a:ext cx="10637215" cy="457200"/>
          </a:xfrm>
          <a:prstGeom prst="rect">
            <a:avLst/>
          </a:prstGeom>
          <a:noFill/>
        </p:spPr>
        <p:txBody>
          <a:bodyPr wrap="square">
            <a:spAutoFit/>
          </a:bodyPr>
          <a:lstStyle/>
          <a:p>
            <a:pPr algn="l">
              <a:lnSpc>
                <a:spcPct val="115000"/>
              </a:lnSpc>
              <a:spcAft>
                <a:spcPts val="600"/>
              </a:spcAft>
            </a:pPr>
            <a:r>
              <a:rPr sz="1700" b="0" dirty="0">
                <a:solidFill>
                  <a:srgbClr val="1C222B"/>
                </a:solidFill>
                <a:latin typeface="Helvetica Neue"/>
              </a:rPr>
              <a:t>In attention, each token asks a question, every token offers an answer, and how well they match decides how much of each answer to take.</a:t>
            </a:r>
          </a:p>
        </p:txBody>
      </p:sp>
      <p:pic>
        <p:nvPicPr>
          <p:cNvPr id="7" name="Picture 6" descr="eq8.png"/>
          <p:cNvPicPr>
            <a:picLocks noChangeAspect="1"/>
          </p:cNvPicPr>
          <p:nvPr/>
        </p:nvPicPr>
        <p:blipFill>
          <a:blip r:embed="rId2"/>
          <a:stretch>
            <a:fillRect/>
          </a:stretch>
        </p:blipFill>
        <p:spPr>
          <a:xfrm>
            <a:off x="1143000" y="3098038"/>
            <a:ext cx="5455920" cy="381000"/>
          </a:xfrm>
          <a:prstGeom prst="rect">
            <a:avLst/>
          </a:prstGeom>
        </p:spPr>
      </p:pic>
      <p:sp>
        <p:nvSpPr>
          <p:cNvPr id="8" name="TextBox 7"/>
          <p:cNvSpPr txBox="1"/>
          <p:nvPr/>
        </p:nvSpPr>
        <p:spPr>
          <a:xfrm>
            <a:off x="777240" y="3716782"/>
            <a:ext cx="10637215" cy="457200"/>
          </a:xfrm>
          <a:prstGeom prst="rect">
            <a:avLst/>
          </a:prstGeom>
          <a:noFill/>
        </p:spPr>
        <p:txBody>
          <a:bodyPr wrap="square">
            <a:spAutoFit/>
          </a:bodyPr>
          <a:lstStyle/>
          <a:p>
            <a:pPr algn="l">
              <a:lnSpc>
                <a:spcPct val="115000"/>
              </a:lnSpc>
              <a:spcAft>
                <a:spcPts val="600"/>
              </a:spcAft>
            </a:pPr>
            <a:r>
              <a:rPr sz="1500" b="0">
                <a:solidFill>
                  <a:srgbClr val="6B7582"/>
                </a:solidFill>
                <a:latin typeface="Helvetica Neue"/>
              </a:rPr>
              <a:t>h: the N tokens, an N x d table.   W_Q, W_K, W_V: learned d x d matrices, the same for every token.   Q (query): what each token is looking for.   K (key): what each token contains.   V (value): what each token passes on when it is chosen.</a:t>
            </a:r>
          </a:p>
        </p:txBody>
      </p:sp>
      <p:pic>
        <p:nvPicPr>
          <p:cNvPr id="9" name="Picture 8" descr="eq9.png"/>
          <p:cNvPicPr>
            <a:picLocks noChangeAspect="1"/>
          </p:cNvPicPr>
          <p:nvPr/>
        </p:nvPicPr>
        <p:blipFill>
          <a:blip r:embed="rId3"/>
          <a:stretch>
            <a:fillRect/>
          </a:stretch>
        </p:blipFill>
        <p:spPr>
          <a:xfrm>
            <a:off x="1143000" y="4520310"/>
            <a:ext cx="4096512" cy="646176"/>
          </a:xfrm>
          <a:prstGeom prst="rect">
            <a:avLst/>
          </a:prstGeom>
        </p:spPr>
      </p:pic>
      <p:sp>
        <p:nvSpPr>
          <p:cNvPr id="10" name="TextBox 9"/>
          <p:cNvSpPr txBox="1"/>
          <p:nvPr/>
        </p:nvSpPr>
        <p:spPr>
          <a:xfrm>
            <a:off x="777240" y="5404230"/>
            <a:ext cx="10637215" cy="457200"/>
          </a:xfrm>
          <a:prstGeom prst="rect">
            <a:avLst/>
          </a:prstGeom>
          <a:noFill/>
        </p:spPr>
        <p:txBody>
          <a:bodyPr wrap="square">
            <a:spAutoFit/>
          </a:bodyPr>
          <a:lstStyle/>
          <a:p>
            <a:pPr algn="l">
              <a:lnSpc>
                <a:spcPct val="115000"/>
              </a:lnSpc>
              <a:spcAft>
                <a:spcPts val="600"/>
              </a:spcAft>
            </a:pPr>
            <a:r>
              <a:rPr sz="1500" b="0" dirty="0">
                <a:solidFill>
                  <a:srgbClr val="6B7582"/>
                </a:solidFill>
                <a:latin typeface="Helvetica Neue"/>
              </a:rPr>
              <a:t>Q K^T: an N x N table of match scores (dot products), one per pair of tokens.   / sqrt(d): stops the scores growing with d, so </a:t>
            </a:r>
            <a:r>
              <a:rPr sz="1500" b="0" dirty="0" err="1">
                <a:solidFill>
                  <a:srgbClr val="6B7582"/>
                </a:solidFill>
                <a:latin typeface="Helvetica Neue"/>
              </a:rPr>
              <a:t>softmax</a:t>
            </a:r>
            <a:r>
              <a:rPr sz="1500" b="0" dirty="0">
                <a:solidFill>
                  <a:srgbClr val="6B7582"/>
                </a:solidFill>
                <a:latin typeface="Helvetica Neue"/>
              </a:rPr>
              <a:t> does not put all the weight on one token.   </a:t>
            </a:r>
            <a:r>
              <a:rPr sz="1500" b="0" dirty="0" err="1">
                <a:solidFill>
                  <a:srgbClr val="6B7582"/>
                </a:solidFill>
                <a:latin typeface="Helvetica Neue"/>
              </a:rPr>
              <a:t>softmax</a:t>
            </a:r>
            <a:r>
              <a:rPr sz="1500" b="0" dirty="0">
                <a:solidFill>
                  <a:srgbClr val="6B7582"/>
                </a:solidFill>
                <a:latin typeface="Helvetica Neue"/>
              </a:rPr>
              <a:t>: each row becomes positive weights that sum to 1.   x V: each token's output is a weighted average of all the tokens' values.</a:t>
            </a:r>
          </a:p>
        </p:txBody>
      </p:sp>
      <p:sp>
        <p:nvSpPr>
          <p:cNvPr id="11" name="TextBox 10"/>
          <p:cNvSpPr txBox="1"/>
          <p:nvPr/>
        </p:nvSpPr>
        <p:spPr>
          <a:xfrm>
            <a:off x="777240" y="6207758"/>
            <a:ext cx="10637215" cy="457200"/>
          </a:xfrm>
          <a:prstGeom prst="rect">
            <a:avLst/>
          </a:prstGeom>
          <a:noFill/>
        </p:spPr>
        <p:txBody>
          <a:bodyPr wrap="square">
            <a:spAutoFit/>
          </a:bodyPr>
          <a:lstStyle/>
          <a:p>
            <a:pPr algn="l">
              <a:lnSpc>
                <a:spcPct val="115000"/>
              </a:lnSpc>
              <a:spcAft>
                <a:spcPts val="600"/>
              </a:spcAft>
            </a:pPr>
            <a:r>
              <a:rPr sz="1700" b="0" dirty="0">
                <a:solidFill>
                  <a:srgbClr val="1C222B"/>
                </a:solidFill>
                <a:latin typeface="Helvetica Neue"/>
              </a:rPr>
              <a:t>Unlike a convolution's fixed 3 x 3 window, attention decides from the input which tokens to mix.</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ATTENTION (2/3)</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The same formula, on 4 tokens of 3 numbers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ttn_toy.png"/>
          <p:cNvPicPr>
            <a:picLocks noChangeAspect="1"/>
          </p:cNvPicPr>
          <p:nvPr/>
        </p:nvPicPr>
        <p:blipFill>
          <a:blip r:embed="rId2"/>
          <a:stretch>
            <a:fillRect/>
          </a:stretch>
        </p:blipFill>
        <p:spPr>
          <a:xfrm>
            <a:off x="689713" y="1645920"/>
            <a:ext cx="10812268" cy="416052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Toy numbers: random tokens and random W_Q, W_K, W_V (seed 0). Token 3 (orange): output = 0.36 v1 + 0.07 v2 + 0.51 v3 + 0.06 v4  (v_j = row j of V). Each row of weights is different: every token decides for itself whom to listen to.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ATTENTION (3/3)</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Several heads, each with its own weights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eads.png"/>
          <p:cNvPicPr>
            <a:picLocks noChangeAspect="1"/>
          </p:cNvPicPr>
          <p:nvPr/>
        </p:nvPicPr>
        <p:blipFill>
          <a:blip r:embed="rId2"/>
          <a:stretch>
            <a:fillRect/>
          </a:stretch>
        </p:blipFill>
        <p:spPr>
          <a:xfrm>
            <a:off x="1455267" y="1691640"/>
            <a:ext cx="9281160" cy="2651760"/>
          </a:xfrm>
          <a:prstGeom prst="rect">
            <a:avLst/>
          </a:prstGeom>
        </p:spPr>
      </p:pic>
      <p:sp>
        <p:nvSpPr>
          <p:cNvPr id="6" name="TextBox 5"/>
          <p:cNvSpPr txBox="1"/>
          <p:nvPr/>
        </p:nvSpPr>
        <p:spPr>
          <a:xfrm>
            <a:off x="777240" y="4480560"/>
            <a:ext cx="10637215" cy="1920240"/>
          </a:xfrm>
          <a:prstGeom prst="rect">
            <a:avLst/>
          </a:prstGeom>
          <a:noFill/>
        </p:spPr>
        <p:txBody>
          <a:bodyPr wrap="square">
            <a:spAutoFit/>
          </a:bodyPr>
          <a:lstStyle/>
          <a:p>
            <a:pPr algn="l">
              <a:lnSpc>
                <a:spcPct val="115000"/>
              </a:lnSpc>
              <a:spcAft>
                <a:spcPts val="600"/>
              </a:spcAft>
            </a:pPr>
            <a:r>
              <a:rPr sz="1450" b="0">
                <a:solidFill>
                  <a:srgbClr val="1C222B"/>
                </a:solidFill>
                <a:latin typeface="Helvetica Neue"/>
              </a:rPr>
              <a:t>Q, K and V are cut into 4 slices of 44 numbers. Each slice (a head) runs the formula on its own, so it gets its own 256 x 256 weights: one head can follow the stroke while another looks at the neighbours. The d in sqrt(d) is the slice size, 44. Same number of weights as one big head.</a:t>
            </a:r>
          </a:p>
          <a:p>
            <a:pPr algn="l">
              <a:lnSpc>
                <a:spcPct val="115000"/>
              </a:lnSpc>
              <a:spcAft>
                <a:spcPts val="600"/>
              </a:spcAft>
            </a:pPr>
            <a:r>
              <a:rPr sz="1450" b="0">
                <a:solidFill>
                  <a:srgbClr val="1C222B"/>
                </a:solidFill>
                <a:latin typeface="Helvetica Neue"/>
              </a:rPr>
              <a:t>Cost: every head scores every pair of tokens, N x N. With our 256 tokens that is 65,536 scores per head per block. If every pixel were a token it would be 1,024 x 1,024 = 1,048,576. That is why the image is cut into 2 x 2 patches (next).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THE MODEL</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One transformer block: attention, then an MLP</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ain_block.png"/>
          <p:cNvPicPr>
            <a:picLocks noChangeAspect="1"/>
          </p:cNvPicPr>
          <p:nvPr/>
        </p:nvPicPr>
        <p:blipFill>
          <a:blip r:embed="rId2"/>
          <a:stretch>
            <a:fillRect/>
          </a:stretch>
        </p:blipFill>
        <p:spPr>
          <a:xfrm>
            <a:off x="1081887" y="1783080"/>
            <a:ext cx="10027920" cy="2103120"/>
          </a:xfrm>
          <a:prstGeom prst="rect">
            <a:avLst/>
          </a:prstGeom>
        </p:spPr>
      </p:pic>
      <p:sp>
        <p:nvSpPr>
          <p:cNvPr id="6" name="TextBox 5"/>
          <p:cNvSpPr txBox="1"/>
          <p:nvPr/>
        </p:nvSpPr>
        <p:spPr>
          <a:xfrm>
            <a:off x="777240" y="4069080"/>
            <a:ext cx="10637215" cy="2331720"/>
          </a:xfrm>
          <a:prstGeom prst="rect">
            <a:avLst/>
          </a:prstGeom>
          <a:noFill/>
        </p:spPr>
        <p:txBody>
          <a:bodyPr wrap="square">
            <a:spAutoFit/>
          </a:bodyPr>
          <a:lstStyle/>
          <a:p>
            <a:pPr algn="l">
              <a:lnSpc>
                <a:spcPct val="115000"/>
              </a:lnSpc>
              <a:spcAft>
                <a:spcPts val="600"/>
              </a:spcAft>
            </a:pPr>
            <a:r>
              <a:rPr sz="1450" b="0">
                <a:solidFill>
                  <a:srgbClr val="1C222B"/>
                </a:solidFill>
                <a:latin typeface="Helvetica Neue"/>
              </a:rPr>
              <a:t>LN (LayerNorm): rescales each token's 176 numbers to average 0, spread 1, so every block gets inputs in the same range.</a:t>
            </a:r>
          </a:p>
          <a:p>
            <a:pPr algn="l">
              <a:lnSpc>
                <a:spcPct val="115000"/>
              </a:lnSpc>
              <a:spcAft>
                <a:spcPts val="600"/>
              </a:spcAft>
            </a:pPr>
            <a:r>
              <a:rPr sz="1450" b="0">
                <a:solidFill>
                  <a:srgbClr val="1C222B"/>
                </a:solidFill>
                <a:latin typeface="Helvetica Neue"/>
              </a:rPr>
              <a:t>Attention: the tokens exchange information (previous slides).   MLP: two Linear layers with a GELU between them, applied to each token on its own, the same weights for all tokens.</a:t>
            </a:r>
          </a:p>
          <a:p>
            <a:pPr algn="l">
              <a:lnSpc>
                <a:spcPct val="115000"/>
              </a:lnSpc>
              <a:spcAft>
                <a:spcPts val="600"/>
              </a:spcAft>
            </a:pPr>
            <a:r>
              <a:rPr sz="1450" b="0">
                <a:solidFill>
                  <a:srgbClr val="1C222B"/>
                </a:solidFill>
                <a:latin typeface="Helvetica Neue"/>
              </a:rPr>
              <a:t>Residual: each half's output is added onto its input, so a block only has to learn a change, and the gradient reaches early blocks directly.</a:t>
            </a:r>
          </a:p>
          <a:p>
            <a:pPr algn="l">
              <a:lnSpc>
                <a:spcPct val="115000"/>
              </a:lnSpc>
              <a:spcAft>
                <a:spcPts val="600"/>
              </a:spcAft>
            </a:pPr>
            <a:r>
              <a:rPr sz="1450" b="0">
                <a:solidFill>
                  <a:srgbClr val="1C222B"/>
                </a:solidFill>
                <a:latin typeface="Helvetica Neue"/>
              </a:rPr>
              <a:t>Shape in = shape out, so blocks stack: the whole network is this block, repeated.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THE MODEL</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Tokens in, tokens out: the size never changes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it.png"/>
          <p:cNvPicPr>
            <a:picLocks noChangeAspect="1"/>
          </p:cNvPicPr>
          <p:nvPr/>
        </p:nvPicPr>
        <p:blipFill>
          <a:blip r:embed="rId2"/>
          <a:stretch>
            <a:fillRect/>
          </a:stretch>
        </p:blipFill>
        <p:spPr>
          <a:xfrm>
            <a:off x="243687" y="1920240"/>
            <a:ext cx="11704320" cy="301752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The U-Net shrinks the image to 4 x 4 to see far, then grows it back with skips. The transformer keeps all 256 patches at full detail in every block; attention lets any patch use any other patch directly.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HOW T AND Y GET IN</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e scales, shifts and gates every block</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eq10.png"/>
          <p:cNvPicPr>
            <a:picLocks noChangeAspect="1"/>
          </p:cNvPicPr>
          <p:nvPr/>
        </p:nvPicPr>
        <p:blipFill>
          <a:blip r:embed="rId2"/>
          <a:stretch>
            <a:fillRect/>
          </a:stretch>
        </p:blipFill>
        <p:spPr>
          <a:xfrm>
            <a:off x="2512923" y="1691640"/>
            <a:ext cx="7165848" cy="377952"/>
          </a:xfrm>
          <a:prstGeom prst="rect">
            <a:avLst/>
          </a:prstGeom>
        </p:spPr>
      </p:pic>
      <p:pic>
        <p:nvPicPr>
          <p:cNvPr id="6" name="Picture 5" descr="dit_block.png"/>
          <p:cNvPicPr>
            <a:picLocks noChangeAspect="1"/>
          </p:cNvPicPr>
          <p:nvPr/>
        </p:nvPicPr>
        <p:blipFill>
          <a:blip r:embed="rId3"/>
          <a:stretch>
            <a:fillRect/>
          </a:stretch>
        </p:blipFill>
        <p:spPr>
          <a:xfrm>
            <a:off x="1505602" y="2423160"/>
            <a:ext cx="9180490" cy="2971800"/>
          </a:xfrm>
          <a:prstGeom prst="rect">
            <a:avLst/>
          </a:prstGeom>
        </p:spPr>
      </p:pic>
      <p:sp>
        <p:nvSpPr>
          <p:cNvPr id="7" name="TextBox 6"/>
          <p:cNvSpPr txBox="1"/>
          <p:nvPr/>
        </p:nvSpPr>
        <p:spPr>
          <a:xfrm>
            <a:off x="777240" y="5440680"/>
            <a:ext cx="10637215" cy="960120"/>
          </a:xfrm>
          <a:prstGeom prst="rect">
            <a:avLst/>
          </a:prstGeom>
          <a:noFill/>
        </p:spPr>
        <p:txBody>
          <a:bodyPr wrap="square">
            <a:spAutoFit/>
          </a:bodyPr>
          <a:lstStyle/>
          <a:p>
            <a:pPr algn="l">
              <a:lnSpc>
                <a:spcPct val="115000"/>
              </a:lnSpc>
              <a:spcAft>
                <a:spcPts val="600"/>
              </a:spcAft>
            </a:pPr>
            <a:r>
              <a:rPr sz="1350" b="0">
                <a:solidFill>
                  <a:srgbClr val="1C222B"/>
                </a:solidFill>
                <a:latin typeface="Helvetica Neue"/>
              </a:rPr>
              <a:t>The one change to the block on the previous slides.   Circled dot: multiply number by number.   shift, scale, gate: made from e by one learned Linear per block.</a:t>
            </a:r>
          </a:p>
          <a:p>
            <a:pPr algn="l">
              <a:lnSpc>
                <a:spcPct val="115000"/>
              </a:lnSpc>
              <a:spcAft>
                <a:spcPts val="600"/>
              </a:spcAft>
            </a:pPr>
            <a:r>
              <a:rPr sz="1350" b="0">
                <a:solidFill>
                  <a:srgbClr val="1C222B"/>
                </a:solidFill>
                <a:latin typeface="Helvetica Neue"/>
              </a:rPr>
              <a:t>Part 1's U-Net block only ADDS e (a shift). Here e also scales, and gates how much each half changes the tokens. The gates start at 0, so every block starts as 'do nothing' and training switches it on. This is the DiT paper's recipe (Peebles &amp; Xie, 2023), which beat adding 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ATTENTION IN THE TRAINED MODEL</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Where one patch looks</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ttn.png"/>
          <p:cNvPicPr>
            <a:picLocks noChangeAspect="1"/>
          </p:cNvPicPr>
          <p:nvPr/>
        </p:nvPicPr>
        <p:blipFill>
          <a:blip r:embed="rId2"/>
          <a:stretch>
            <a:fillRect/>
          </a:stretch>
        </p:blipFill>
        <p:spPr>
          <a:xfrm>
            <a:off x="1997881" y="1737360"/>
            <a:ext cx="8195933" cy="384048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Real attention weights from Part 2's checkpoint (after epoch 7). Left: the query patch (orange box). Right: how much weight it gives every patch, one map per head.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THE COST</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Same parameters, not the same compute</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74519"/>
            <a:ext cx="4875390" cy="365760"/>
          </a:xfrm>
          <a:prstGeom prst="rect">
            <a:avLst/>
          </a:prstGeom>
          <a:noFill/>
        </p:spPr>
        <p:txBody>
          <a:bodyPr wrap="square">
            <a:spAutoFit/>
          </a:bodyPr>
          <a:lstStyle/>
          <a:p>
            <a:pPr algn="l">
              <a:lnSpc>
                <a:spcPct val="100000"/>
              </a:lnSpc>
              <a:spcAft>
                <a:spcPts val="600"/>
              </a:spcAft>
            </a:pPr>
            <a:endParaRPr/>
          </a:p>
        </p:txBody>
      </p:sp>
      <p:sp>
        <p:nvSpPr>
          <p:cNvPr id="6" name="TextBox 5"/>
          <p:cNvSpPr txBox="1"/>
          <p:nvPr/>
        </p:nvSpPr>
        <p:spPr>
          <a:xfrm>
            <a:off x="5652630" y="1874519"/>
            <a:ext cx="2659303" cy="365760"/>
          </a:xfrm>
          <a:prstGeom prst="rect">
            <a:avLst/>
          </a:prstGeom>
          <a:noFill/>
        </p:spPr>
        <p:txBody>
          <a:bodyPr wrap="square">
            <a:spAutoFit/>
          </a:bodyPr>
          <a:lstStyle/>
          <a:p>
            <a:pPr algn="l">
              <a:lnSpc>
                <a:spcPct val="100000"/>
              </a:lnSpc>
              <a:spcAft>
                <a:spcPts val="600"/>
              </a:spcAft>
            </a:pPr>
            <a:r>
              <a:rPr sz="1300" b="1">
                <a:solidFill>
                  <a:srgbClr val="6B7582"/>
                </a:solidFill>
                <a:latin typeface="Helvetica Neue"/>
              </a:rPr>
              <a:t>U-Net (Part 1)</a:t>
            </a:r>
          </a:p>
        </p:txBody>
      </p:sp>
      <p:sp>
        <p:nvSpPr>
          <p:cNvPr id="7" name="TextBox 6"/>
          <p:cNvSpPr txBox="1"/>
          <p:nvPr/>
        </p:nvSpPr>
        <p:spPr>
          <a:xfrm>
            <a:off x="8311933" y="1874519"/>
            <a:ext cx="3102521" cy="365760"/>
          </a:xfrm>
          <a:prstGeom prst="rect">
            <a:avLst/>
          </a:prstGeom>
          <a:noFill/>
        </p:spPr>
        <p:txBody>
          <a:bodyPr wrap="square">
            <a:spAutoFit/>
          </a:bodyPr>
          <a:lstStyle/>
          <a:p>
            <a:pPr algn="l">
              <a:lnSpc>
                <a:spcPct val="100000"/>
              </a:lnSpc>
              <a:spcAft>
                <a:spcPts val="600"/>
              </a:spcAft>
            </a:pPr>
            <a:r>
              <a:rPr sz="1300" b="1">
                <a:solidFill>
                  <a:srgbClr val="6B7582"/>
                </a:solidFill>
                <a:latin typeface="Helvetica Neue"/>
              </a:rPr>
              <a:t>transformer (Part 2)</a:t>
            </a:r>
          </a:p>
        </p:txBody>
      </p:sp>
      <p:sp>
        <p:nvSpPr>
          <p:cNvPr id="8" name="Rectangle 7"/>
          <p:cNvSpPr/>
          <p:nvPr/>
        </p:nvSpPr>
        <p:spPr>
          <a:xfrm>
            <a:off x="777240" y="2285999"/>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395726"/>
            <a:ext cx="4875390" cy="365760"/>
          </a:xfrm>
          <a:prstGeom prst="rect">
            <a:avLst/>
          </a:prstGeom>
          <a:noFill/>
        </p:spPr>
        <p:txBody>
          <a:bodyPr wrap="square">
            <a:spAutoFit/>
          </a:bodyPr>
          <a:lstStyle/>
          <a:p>
            <a:pPr algn="l">
              <a:lnSpc>
                <a:spcPct val="100000"/>
              </a:lnSpc>
              <a:spcAft>
                <a:spcPts val="600"/>
              </a:spcAft>
            </a:pPr>
            <a:r>
              <a:rPr sz="1500" b="0">
                <a:solidFill>
                  <a:srgbClr val="1C222B"/>
                </a:solidFill>
                <a:latin typeface="Helvetica Neue"/>
              </a:rPr>
              <a:t>parameters</a:t>
            </a:r>
          </a:p>
        </p:txBody>
      </p:sp>
      <p:sp>
        <p:nvSpPr>
          <p:cNvPr id="10" name="TextBox 9"/>
          <p:cNvSpPr txBox="1"/>
          <p:nvPr/>
        </p:nvSpPr>
        <p:spPr>
          <a:xfrm>
            <a:off x="5652630" y="2395726"/>
            <a:ext cx="2659303" cy="365760"/>
          </a:xfrm>
          <a:prstGeom prst="rect">
            <a:avLst/>
          </a:prstGeom>
          <a:noFill/>
        </p:spPr>
        <p:txBody>
          <a:bodyPr wrap="square">
            <a:spAutoFit/>
          </a:bodyPr>
          <a:lstStyle/>
          <a:p>
            <a:pPr algn="l">
              <a:lnSpc>
                <a:spcPct val="100000"/>
              </a:lnSpc>
              <a:spcAft>
                <a:spcPts val="600"/>
              </a:spcAft>
            </a:pPr>
            <a:r>
              <a:rPr sz="1500" b="0">
                <a:solidFill>
                  <a:srgbClr val="1C222B"/>
                </a:solidFill>
                <a:latin typeface="Menlo"/>
              </a:rPr>
              <a:t>4,586,449</a:t>
            </a:r>
          </a:p>
        </p:txBody>
      </p:sp>
      <p:sp>
        <p:nvSpPr>
          <p:cNvPr id="11" name="TextBox 10"/>
          <p:cNvSpPr txBox="1"/>
          <p:nvPr/>
        </p:nvSpPr>
        <p:spPr>
          <a:xfrm>
            <a:off x="8311933" y="2395726"/>
            <a:ext cx="3102521" cy="365760"/>
          </a:xfrm>
          <a:prstGeom prst="rect">
            <a:avLst/>
          </a:prstGeom>
          <a:noFill/>
        </p:spPr>
        <p:txBody>
          <a:bodyPr wrap="square">
            <a:spAutoFit/>
          </a:bodyPr>
          <a:lstStyle/>
          <a:p>
            <a:pPr algn="l">
              <a:lnSpc>
                <a:spcPct val="100000"/>
              </a:lnSpc>
              <a:spcAft>
                <a:spcPts val="600"/>
              </a:spcAft>
            </a:pPr>
            <a:r>
              <a:rPr sz="1500" b="0">
                <a:solidFill>
                  <a:srgbClr val="1C222B"/>
                </a:solidFill>
                <a:latin typeface="Menlo"/>
              </a:rPr>
              <a:t>4,654,852</a:t>
            </a:r>
          </a:p>
        </p:txBody>
      </p:sp>
      <p:sp>
        <p:nvSpPr>
          <p:cNvPr id="12" name="TextBox 11"/>
          <p:cNvSpPr txBox="1"/>
          <p:nvPr/>
        </p:nvSpPr>
        <p:spPr>
          <a:xfrm>
            <a:off x="777240" y="2816350"/>
            <a:ext cx="4875390" cy="365760"/>
          </a:xfrm>
          <a:prstGeom prst="rect">
            <a:avLst/>
          </a:prstGeom>
          <a:noFill/>
        </p:spPr>
        <p:txBody>
          <a:bodyPr wrap="square">
            <a:spAutoFit/>
          </a:bodyPr>
          <a:lstStyle/>
          <a:p>
            <a:pPr algn="l">
              <a:lnSpc>
                <a:spcPct val="100000"/>
              </a:lnSpc>
              <a:spcAft>
                <a:spcPts val="600"/>
              </a:spcAft>
            </a:pPr>
            <a:r>
              <a:rPr sz="1500" b="0">
                <a:solidFill>
                  <a:srgbClr val="1C222B"/>
                </a:solidFill>
                <a:latin typeface="Helvetica Neue"/>
              </a:rPr>
              <a:t>compute per image, forward (GFLOPs)</a:t>
            </a:r>
          </a:p>
        </p:txBody>
      </p:sp>
      <p:sp>
        <p:nvSpPr>
          <p:cNvPr id="13" name="TextBox 12"/>
          <p:cNvSpPr txBox="1"/>
          <p:nvPr/>
        </p:nvSpPr>
        <p:spPr>
          <a:xfrm>
            <a:off x="5652630" y="2816350"/>
            <a:ext cx="2659303" cy="365760"/>
          </a:xfrm>
          <a:prstGeom prst="rect">
            <a:avLst/>
          </a:prstGeom>
          <a:noFill/>
        </p:spPr>
        <p:txBody>
          <a:bodyPr wrap="square">
            <a:spAutoFit/>
          </a:bodyPr>
          <a:lstStyle/>
          <a:p>
            <a:pPr algn="l">
              <a:lnSpc>
                <a:spcPct val="100000"/>
              </a:lnSpc>
              <a:spcAft>
                <a:spcPts val="600"/>
              </a:spcAft>
            </a:pPr>
            <a:r>
              <a:rPr sz="1500" b="0">
                <a:solidFill>
                  <a:srgbClr val="1C222B"/>
                </a:solidFill>
                <a:latin typeface="Menlo"/>
              </a:rPr>
              <a:t>0.65</a:t>
            </a:r>
          </a:p>
        </p:txBody>
      </p:sp>
      <p:sp>
        <p:nvSpPr>
          <p:cNvPr id="14" name="TextBox 13"/>
          <p:cNvSpPr txBox="1"/>
          <p:nvPr/>
        </p:nvSpPr>
        <p:spPr>
          <a:xfrm>
            <a:off x="8311933" y="2816350"/>
            <a:ext cx="3102521" cy="365760"/>
          </a:xfrm>
          <a:prstGeom prst="rect">
            <a:avLst/>
          </a:prstGeom>
          <a:noFill/>
        </p:spPr>
        <p:txBody>
          <a:bodyPr wrap="square">
            <a:spAutoFit/>
          </a:bodyPr>
          <a:lstStyle/>
          <a:p>
            <a:pPr algn="l">
              <a:lnSpc>
                <a:spcPct val="100000"/>
              </a:lnSpc>
              <a:spcAft>
                <a:spcPts val="600"/>
              </a:spcAft>
            </a:pPr>
            <a:r>
              <a:rPr sz="1500" b="1">
                <a:solidFill>
                  <a:srgbClr val="C2551E"/>
                </a:solidFill>
                <a:latin typeface="Menlo"/>
              </a:rPr>
              <a:t>1.53</a:t>
            </a:r>
          </a:p>
        </p:txBody>
      </p:sp>
      <p:sp>
        <p:nvSpPr>
          <p:cNvPr id="15" name="TextBox 14"/>
          <p:cNvSpPr txBox="1"/>
          <p:nvPr/>
        </p:nvSpPr>
        <p:spPr>
          <a:xfrm>
            <a:off x="777240" y="3236974"/>
            <a:ext cx="4875390" cy="365760"/>
          </a:xfrm>
          <a:prstGeom prst="rect">
            <a:avLst/>
          </a:prstGeom>
          <a:noFill/>
        </p:spPr>
        <p:txBody>
          <a:bodyPr wrap="square">
            <a:spAutoFit/>
          </a:bodyPr>
          <a:lstStyle/>
          <a:p>
            <a:pPr algn="l">
              <a:lnSpc>
                <a:spcPct val="100000"/>
              </a:lnSpc>
              <a:spcAft>
                <a:spcPts val="600"/>
              </a:spcAft>
            </a:pPr>
            <a:r>
              <a:rPr sz="1500" b="0">
                <a:solidFill>
                  <a:srgbClr val="1C222B"/>
                </a:solidFill>
                <a:latin typeface="Helvetica Neue"/>
              </a:rPr>
              <a:t>seconds per training epoch (average)</a:t>
            </a:r>
          </a:p>
        </p:txBody>
      </p:sp>
      <p:sp>
        <p:nvSpPr>
          <p:cNvPr id="16" name="TextBox 15"/>
          <p:cNvSpPr txBox="1"/>
          <p:nvPr/>
        </p:nvSpPr>
        <p:spPr>
          <a:xfrm>
            <a:off x="5652630" y="3236974"/>
            <a:ext cx="2659303" cy="365760"/>
          </a:xfrm>
          <a:prstGeom prst="rect">
            <a:avLst/>
          </a:prstGeom>
          <a:noFill/>
        </p:spPr>
        <p:txBody>
          <a:bodyPr wrap="square">
            <a:spAutoFit/>
          </a:bodyPr>
          <a:lstStyle/>
          <a:p>
            <a:pPr algn="l">
              <a:lnSpc>
                <a:spcPct val="100000"/>
              </a:lnSpc>
              <a:spcAft>
                <a:spcPts val="600"/>
              </a:spcAft>
            </a:pPr>
            <a:r>
              <a:rPr sz="1500" b="0">
                <a:solidFill>
                  <a:srgbClr val="1C222B"/>
                </a:solidFill>
                <a:latin typeface="Menlo"/>
              </a:rPr>
              <a:t>96</a:t>
            </a:r>
          </a:p>
        </p:txBody>
      </p:sp>
      <p:sp>
        <p:nvSpPr>
          <p:cNvPr id="17" name="TextBox 16"/>
          <p:cNvSpPr txBox="1"/>
          <p:nvPr/>
        </p:nvSpPr>
        <p:spPr>
          <a:xfrm>
            <a:off x="8311933" y="3236974"/>
            <a:ext cx="3102521" cy="365760"/>
          </a:xfrm>
          <a:prstGeom prst="rect">
            <a:avLst/>
          </a:prstGeom>
          <a:noFill/>
        </p:spPr>
        <p:txBody>
          <a:bodyPr wrap="square">
            <a:spAutoFit/>
          </a:bodyPr>
          <a:lstStyle/>
          <a:p>
            <a:pPr algn="l">
              <a:lnSpc>
                <a:spcPct val="100000"/>
              </a:lnSpc>
              <a:spcAft>
                <a:spcPts val="600"/>
              </a:spcAft>
            </a:pPr>
            <a:r>
              <a:rPr sz="1500" b="1">
                <a:solidFill>
                  <a:srgbClr val="C2551E"/>
                </a:solidFill>
                <a:latin typeface="Menlo"/>
              </a:rPr>
              <a:t>414</a:t>
            </a:r>
          </a:p>
        </p:txBody>
      </p:sp>
      <p:sp>
        <p:nvSpPr>
          <p:cNvPr id="18" name="TextBox 17"/>
          <p:cNvSpPr txBox="1"/>
          <p:nvPr/>
        </p:nvSpPr>
        <p:spPr>
          <a:xfrm>
            <a:off x="777240" y="3657598"/>
            <a:ext cx="4875390" cy="365760"/>
          </a:xfrm>
          <a:prstGeom prst="rect">
            <a:avLst/>
          </a:prstGeom>
          <a:noFill/>
        </p:spPr>
        <p:txBody>
          <a:bodyPr wrap="square">
            <a:spAutoFit/>
          </a:bodyPr>
          <a:lstStyle/>
          <a:p>
            <a:pPr algn="l">
              <a:lnSpc>
                <a:spcPct val="100000"/>
              </a:lnSpc>
              <a:spcAft>
                <a:spcPts val="600"/>
              </a:spcAft>
            </a:pPr>
            <a:r>
              <a:rPr sz="1500" b="0">
                <a:solidFill>
                  <a:srgbClr val="1C222B"/>
                </a:solidFill>
                <a:latin typeface="Helvetica Neue"/>
              </a:rPr>
              <a:t>minutes for 20 epochs</a:t>
            </a:r>
          </a:p>
        </p:txBody>
      </p:sp>
      <p:sp>
        <p:nvSpPr>
          <p:cNvPr id="19" name="TextBox 18"/>
          <p:cNvSpPr txBox="1"/>
          <p:nvPr/>
        </p:nvSpPr>
        <p:spPr>
          <a:xfrm>
            <a:off x="5652630" y="3657598"/>
            <a:ext cx="2659303" cy="365760"/>
          </a:xfrm>
          <a:prstGeom prst="rect">
            <a:avLst/>
          </a:prstGeom>
          <a:noFill/>
        </p:spPr>
        <p:txBody>
          <a:bodyPr wrap="square">
            <a:spAutoFit/>
          </a:bodyPr>
          <a:lstStyle/>
          <a:p>
            <a:pPr algn="l">
              <a:lnSpc>
                <a:spcPct val="100000"/>
              </a:lnSpc>
              <a:spcAft>
                <a:spcPts val="600"/>
              </a:spcAft>
            </a:pPr>
            <a:r>
              <a:rPr sz="1500" b="0">
                <a:solidFill>
                  <a:srgbClr val="1C222B"/>
                </a:solidFill>
                <a:latin typeface="Menlo"/>
              </a:rPr>
              <a:t>32</a:t>
            </a:r>
          </a:p>
        </p:txBody>
      </p:sp>
      <p:sp>
        <p:nvSpPr>
          <p:cNvPr id="20" name="TextBox 19"/>
          <p:cNvSpPr txBox="1"/>
          <p:nvPr/>
        </p:nvSpPr>
        <p:spPr>
          <a:xfrm>
            <a:off x="8311933" y="3657598"/>
            <a:ext cx="3102521" cy="365760"/>
          </a:xfrm>
          <a:prstGeom prst="rect">
            <a:avLst/>
          </a:prstGeom>
          <a:noFill/>
        </p:spPr>
        <p:txBody>
          <a:bodyPr wrap="square">
            <a:spAutoFit/>
          </a:bodyPr>
          <a:lstStyle/>
          <a:p>
            <a:pPr algn="l">
              <a:lnSpc>
                <a:spcPct val="100000"/>
              </a:lnSpc>
              <a:spcAft>
                <a:spcPts val="600"/>
              </a:spcAft>
            </a:pPr>
            <a:r>
              <a:rPr sz="1500" b="1">
                <a:solidFill>
                  <a:srgbClr val="C2551E"/>
                </a:solidFill>
                <a:latin typeface="Menlo"/>
              </a:rPr>
              <a:t>138 (projected)</a:t>
            </a:r>
          </a:p>
        </p:txBody>
      </p:sp>
      <p:sp>
        <p:nvSpPr>
          <p:cNvPr id="21" name="TextBox 20"/>
          <p:cNvSpPr txBox="1"/>
          <p:nvPr/>
        </p:nvSpPr>
        <p:spPr>
          <a:xfrm>
            <a:off x="777240" y="5806440"/>
            <a:ext cx="10637215" cy="640080"/>
          </a:xfrm>
          <a:prstGeom prst="rect">
            <a:avLst/>
          </a:prstGeom>
          <a:noFill/>
        </p:spPr>
        <p:txBody>
          <a:bodyPr wrap="square">
            <a:spAutoFit/>
          </a:bodyPr>
          <a:lstStyle/>
          <a:p>
            <a:pPr algn="l">
              <a:lnSpc>
                <a:spcPct val="115000"/>
              </a:lnSpc>
              <a:spcAft>
                <a:spcPts val="600"/>
              </a:spcAft>
            </a:pPr>
            <a:r>
              <a:rPr sz="1400" b="0">
                <a:solidFill>
                  <a:srgbClr val="6B7582"/>
                </a:solidFill>
                <a:latin typeface="Helvetica Neue"/>
              </a:rPr>
              <a:t>GFLOPs: billions of multiplications and additions to process one image once, counted by PyTorch. Every transformer weight is used on all 256 tokens; the U-Net's widest layers only run on 4 x 4 = 16 positions. Attention is also slower per GFLOP than convolution on this Mac's GPU.</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RESULTS</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Training loss: per epoch, and per minute</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ss_compare.png"/>
          <p:cNvPicPr>
            <a:picLocks noChangeAspect="1"/>
          </p:cNvPicPr>
          <p:nvPr/>
        </p:nvPicPr>
        <p:blipFill>
          <a:blip r:embed="rId2"/>
          <a:stretch>
            <a:fillRect/>
          </a:stretch>
        </p:blipFill>
        <p:spPr>
          <a:xfrm>
            <a:off x="1250126" y="1783080"/>
            <a:ext cx="9691442" cy="3566160"/>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Transformer: 7 of 20 epochs so far (training still running), final loss 0.0348. U-Net: 20 epochs, final loss 0.0183. Same data, same loss, same recipe, so the numbers compare directly.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RESULTS</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The transformer's digits, epoch by epoch</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grids2.png"/>
          <p:cNvPicPr>
            <a:picLocks noChangeAspect="1"/>
          </p:cNvPicPr>
          <p:nvPr/>
        </p:nvPicPr>
        <p:blipFill>
          <a:blip r:embed="rId2"/>
          <a:stretch>
            <a:fillRect/>
          </a:stretch>
        </p:blipFill>
        <p:spPr>
          <a:xfrm>
            <a:off x="1404589" y="1783080"/>
            <a:ext cx="9382516" cy="3749039"/>
          </a:xfrm>
          <a:prstGeom prst="rect">
            <a:avLst/>
          </a:prstGeom>
        </p:spPr>
      </p:pic>
      <p:sp>
        <p:nvSpPr>
          <p:cNvPr id="6" name="TextBox 5"/>
          <p:cNvSpPr txBox="1"/>
          <p:nvPr/>
        </p:nvSpPr>
        <p:spPr>
          <a:xfrm>
            <a:off x="777240" y="5897880"/>
            <a:ext cx="10637215" cy="548640"/>
          </a:xfrm>
          <a:prstGeom prst="rect">
            <a:avLst/>
          </a:prstGeom>
          <a:noFill/>
        </p:spPr>
        <p:txBody>
          <a:bodyPr wrap="square">
            <a:spAutoFit/>
          </a:bodyPr>
          <a:lstStyle/>
          <a:p>
            <a:pPr algn="ctr">
              <a:lnSpc>
                <a:spcPct val="100000"/>
              </a:lnSpc>
              <a:spcAft>
                <a:spcPts val="600"/>
              </a:spcAft>
            </a:pPr>
            <a:r>
              <a:rPr sz="1400" b="0">
                <a:solidFill>
                  <a:srgbClr val="6B7582"/>
                </a:solidFill>
                <a:latin typeface="Helvetica Neue"/>
              </a:rPr>
              <a:t>Rows are digits 0-9, same starting noise after every epoch (50-step sampler with guidance w =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9F7"/>
        </a:solidFill>
        <a:effectLst/>
      </p:bgPr>
    </p:bg>
    <p:spTree>
      <p:nvGrpSpPr>
        <p:cNvPr id="1" name=""/>
        <p:cNvGrpSpPr/>
        <p:nvPr/>
      </p:nvGrpSpPr>
      <p:grpSpPr>
        <a:xfrm>
          <a:off x="0" y="0"/>
          <a:ext cx="0" cy="0"/>
          <a:chOff x="0" y="0"/>
          <a:chExt cx="0" cy="0"/>
        </a:xfrm>
      </p:grpSpPr>
      <p:sp>
        <p:nvSpPr>
          <p:cNvPr id="2" name="TextBox 1"/>
          <p:cNvSpPr txBox="1"/>
          <p:nvPr/>
        </p:nvSpPr>
        <p:spPr>
          <a:xfrm>
            <a:off x="777240" y="457200"/>
            <a:ext cx="10637215" cy="320040"/>
          </a:xfrm>
          <a:prstGeom prst="rect">
            <a:avLst/>
          </a:prstGeom>
          <a:noFill/>
        </p:spPr>
        <p:txBody>
          <a:bodyPr wrap="square">
            <a:spAutoFit/>
          </a:bodyPr>
          <a:lstStyle/>
          <a:p>
            <a:pPr algn="l">
              <a:lnSpc>
                <a:spcPct val="100000"/>
              </a:lnSpc>
              <a:spcAft>
                <a:spcPts val="600"/>
              </a:spcAft>
            </a:pPr>
            <a:r>
              <a:rPr sz="1200" b="1">
                <a:solidFill>
                  <a:srgbClr val="C2551E"/>
                </a:solidFill>
                <a:latin typeface="Helvetica Neue"/>
              </a:rPr>
              <a:t>PART 2: RESULTS</a:t>
            </a:r>
          </a:p>
        </p:txBody>
      </p:sp>
      <p:sp>
        <p:nvSpPr>
          <p:cNvPr id="3" name="TextBox 2"/>
          <p:cNvSpPr txBox="1"/>
          <p:nvPr/>
        </p:nvSpPr>
        <p:spPr>
          <a:xfrm>
            <a:off x="777240" y="777240"/>
            <a:ext cx="10637215" cy="731520"/>
          </a:xfrm>
          <a:prstGeom prst="rect">
            <a:avLst/>
          </a:prstGeom>
          <a:noFill/>
        </p:spPr>
        <p:txBody>
          <a:bodyPr wrap="square">
            <a:spAutoFit/>
          </a:bodyPr>
          <a:lstStyle/>
          <a:p>
            <a:pPr algn="l">
              <a:lnSpc>
                <a:spcPct val="100000"/>
              </a:lnSpc>
              <a:spcAft>
                <a:spcPts val="600"/>
              </a:spcAft>
            </a:pPr>
            <a:r>
              <a:rPr sz="2900" b="1">
                <a:solidFill>
                  <a:srgbClr val="1F4E79"/>
                </a:solidFill>
                <a:latin typeface="Helvetica Neue"/>
              </a:rPr>
              <a:t>Same request, same seeds: U-Net vs transformer</a:t>
            </a:r>
          </a:p>
        </p:txBody>
      </p:sp>
      <p:sp>
        <p:nvSpPr>
          <p:cNvPr id="4" name="Rectangle 3"/>
          <p:cNvSpPr/>
          <p:nvPr/>
        </p:nvSpPr>
        <p:spPr>
          <a:xfrm>
            <a:off x="777240" y="1481328"/>
            <a:ext cx="10637215" cy="15240"/>
          </a:xfrm>
          <a:prstGeom prst="rect">
            <a:avLst/>
          </a:prstGeom>
          <a:solidFill>
            <a:srgbClr val="D8D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28800"/>
            <a:ext cx="10637215" cy="4572000"/>
          </a:xfrm>
          <a:prstGeom prst="rect">
            <a:avLst/>
          </a:prstGeom>
          <a:noFill/>
        </p:spPr>
        <p:txBody>
          <a:bodyPr wrap="square">
            <a:spAutoFit/>
          </a:bodyPr>
          <a:lstStyle/>
          <a:p>
            <a:pPr algn="l">
              <a:lnSpc>
                <a:spcPct val="115000"/>
              </a:lnSpc>
              <a:spcAft>
                <a:spcPts val="600"/>
              </a:spcAft>
            </a:pPr>
            <a:r>
              <a:rPr sz="1900" b="1">
                <a:solidFill>
                  <a:srgbClr val="1C222B"/>
                </a:solidFill>
                <a:latin typeface="Helvetica Neue"/>
              </a:rPr>
              <a:t>Not run yet. The transformer's samples comes from:</a:t>
            </a:r>
          </a:p>
          <a:p>
            <a:pPr algn="l">
              <a:lnSpc>
                <a:spcPct val="115000"/>
              </a:lnSpc>
              <a:spcAft>
                <a:spcPts val="600"/>
              </a:spcAft>
            </a:pPr>
            <a:r>
              <a:rPr sz="1500" b="0">
                <a:solidFill>
                  <a:srgbClr val="1C222B"/>
                </a:solidFill>
                <a:latin typeface="Menlo"/>
              </a:rPr>
              <a:t>python sample.py --run part2_transformer --sampler ddpm --guidance 1 --trajectory</a:t>
            </a:r>
          </a:p>
          <a:p>
            <a:pPr algn="l">
              <a:lnSpc>
                <a:spcPct val="115000"/>
              </a:lnSpc>
              <a:spcAft>
                <a:spcPts val="600"/>
              </a:spcAft>
            </a:pPr>
            <a:r>
              <a:rPr sz="1500" b="0">
                <a:solidFill>
                  <a:srgbClr val="6B7582"/>
                </a:solidFill>
                <a:latin typeface="Helvetica Neue"/>
              </a:rPr>
              <a:t>Then rebuild the deck:  python slides/build_slides.py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18</TotalTime>
  <Words>2230</Words>
  <Application>Microsoft Macintosh PowerPoint</Application>
  <PresentationFormat>Widescreen</PresentationFormat>
  <Paragraphs>123</Paragraphs>
  <Slides>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Helvetica 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Weishan Weng</cp:lastModifiedBy>
  <cp:revision>2</cp:revision>
  <dcterms:created xsi:type="dcterms:W3CDTF">2013-01-27T09:14:16Z</dcterms:created>
  <dcterms:modified xsi:type="dcterms:W3CDTF">2026-09-25T21:53:39Z</dcterms:modified>
  <cp:category/>
</cp:coreProperties>
</file>